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media/image11.png" ContentType="image/png"/>
  <Override PartName="/ppt/media/image9.png" ContentType="image/png"/>
  <Override PartName="/ppt/media/image12.png" ContentType="image/png"/>
  <Override PartName="/ppt/media/image7.png" ContentType="image/png"/>
  <Override PartName="/ppt/media/image13.png" ContentType="image/png"/>
  <Override PartName="/ppt/media/image8.png" ContentType="image/png"/>
  <Override PartName="/ppt/media/image6.jpeg" ContentType="image/jpeg"/>
  <Override PartName="/ppt/media/image10.png" ContentType="image/png"/>
  <Override PartName="/ppt/media/image5.png" ContentType="image/png"/>
  <Override PartName="/ppt/media/image22.png" ContentType="image/png"/>
  <Override PartName="/ppt/media/image20.png" ContentType="image/png"/>
  <Override PartName="/ppt/media/image3.png" ContentType="image/png"/>
  <Override PartName="/ppt/media/image4.png" ContentType="image/png"/>
  <Override PartName="/ppt/media/image21.png" ContentType="image/png"/>
  <Override PartName="/ppt/media/image19.png" ContentType="image/png"/>
  <Override PartName="/ppt/media/image1.png" ContentType="image/png"/>
  <Override PartName="/ppt/media/image18.jpeg" ContentType="image/jpe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30275213" cy="42803763"/>
  <p:notesSz cx="9239250" cy="119824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Click to 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move the 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slide</a:t>
            </a:r>
            <a:endParaRPr b="0" lang="en-US" sz="2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</a:t>
            </a:r>
            <a:r>
              <a:rPr b="0" lang="en-US" sz="2000" spc="-1" strike="noStrike">
                <a:latin typeface="Arial"/>
              </a:rPr>
              <a:t>l</a:t>
            </a:r>
            <a:r>
              <a:rPr b="0" lang="en-US" sz="2000" spc="-1" strike="noStrike">
                <a:latin typeface="Arial"/>
              </a:rPr>
              <a:t>i</a:t>
            </a:r>
            <a:r>
              <a:rPr b="0" lang="en-US" sz="2000" spc="-1" strike="noStrike">
                <a:latin typeface="Arial"/>
              </a:rPr>
              <a:t>c</a:t>
            </a:r>
            <a:r>
              <a:rPr b="0" lang="en-US" sz="2000" spc="-1" strike="noStrike">
                <a:latin typeface="Arial"/>
              </a:rPr>
              <a:t>k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t</a:t>
            </a:r>
            <a:r>
              <a:rPr b="0" lang="en-US" sz="2000" spc="-1" strike="noStrike">
                <a:latin typeface="Arial"/>
              </a:rPr>
              <a:t>o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en-US" sz="2000" spc="-1" strike="noStrike">
                <a:latin typeface="Arial"/>
              </a:rPr>
              <a:t>d</a:t>
            </a:r>
            <a:r>
              <a:rPr b="0" lang="en-US" sz="2000" spc="-1" strike="noStrike">
                <a:latin typeface="Arial"/>
              </a:rPr>
              <a:t>i</a:t>
            </a:r>
            <a:r>
              <a:rPr b="0" lang="en-US" sz="2000" spc="-1" strike="noStrike">
                <a:latin typeface="Arial"/>
              </a:rPr>
              <a:t>t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t</a:t>
            </a:r>
            <a:r>
              <a:rPr b="0" lang="en-US" sz="2000" spc="-1" strike="noStrike">
                <a:latin typeface="Arial"/>
              </a:rPr>
              <a:t>h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n</a:t>
            </a:r>
            <a:r>
              <a:rPr b="0" lang="en-US" sz="2000" spc="-1" strike="noStrike">
                <a:latin typeface="Arial"/>
              </a:rPr>
              <a:t>o</a:t>
            </a:r>
            <a:r>
              <a:rPr b="0" lang="en-US" sz="2000" spc="-1" strike="noStrike">
                <a:latin typeface="Arial"/>
              </a:rPr>
              <a:t>t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en-US" sz="2000" spc="-1" strike="noStrike">
                <a:latin typeface="Arial"/>
              </a:rPr>
              <a:t>s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f</a:t>
            </a:r>
            <a:r>
              <a:rPr b="0" lang="en-US" sz="2000" spc="-1" strike="noStrike">
                <a:latin typeface="Arial"/>
              </a:rPr>
              <a:t>o</a:t>
            </a:r>
            <a:r>
              <a:rPr b="0" lang="en-US" sz="2000" spc="-1" strike="noStrike">
                <a:latin typeface="Arial"/>
              </a:rPr>
              <a:t>r</a:t>
            </a:r>
            <a:r>
              <a:rPr b="0" lang="en-US" sz="2000" spc="-1" strike="noStrike">
                <a:latin typeface="Arial"/>
              </a:rPr>
              <a:t>m</a:t>
            </a:r>
            <a:r>
              <a:rPr b="0" lang="en-US" sz="2000" spc="-1" strike="noStrike">
                <a:latin typeface="Arial"/>
              </a:rPr>
              <a:t>a</a:t>
            </a:r>
            <a:r>
              <a:rPr b="0" lang="en-US" sz="2000" spc="-1" strike="noStrike">
                <a:latin typeface="Arial"/>
              </a:rPr>
              <a:t>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2221C503-6EEC-4F5B-9931-57EFF03E7C47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Num" idx="4"/>
          </p:nvPr>
        </p:nvSpPr>
        <p:spPr>
          <a:xfrm>
            <a:off x="5241960" y="11363400"/>
            <a:ext cx="3982680" cy="593280"/>
          </a:xfrm>
          <a:prstGeom prst="rect">
            <a:avLst/>
          </a:prstGeom>
          <a:noFill/>
          <a:ln w="0">
            <a:noFill/>
          </a:ln>
        </p:spPr>
        <p:txBody>
          <a:bodyPr lIns="114840" rIns="114840" tIns="57600" bIns="5760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5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53200F8-365E-45B4-A3DD-93E1FD6ECC81}" type="slidenum">
              <a:rPr b="0" lang="en-US" sz="15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500" spc="-1" strike="noStrike">
              <a:latin typeface="Times New Roman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sldImg"/>
          </p:nvPr>
        </p:nvSpPr>
        <p:spPr>
          <a:xfrm>
            <a:off x="2908440" y="888840"/>
            <a:ext cx="3408120" cy="454464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3"/>
          <p:cNvSpPr>
            <a:spLocks noGrp="1"/>
          </p:cNvSpPr>
          <p:nvPr>
            <p:ph type="body"/>
          </p:nvPr>
        </p:nvSpPr>
        <p:spPr>
          <a:xfrm>
            <a:off x="1257480" y="5732640"/>
            <a:ext cx="6708240" cy="5335200"/>
          </a:xfrm>
          <a:prstGeom prst="rect">
            <a:avLst/>
          </a:prstGeom>
          <a:noFill/>
          <a:ln w="0">
            <a:noFill/>
          </a:ln>
        </p:spPr>
        <p:txBody>
          <a:bodyPr lIns="114840" rIns="114840" tIns="57600" bIns="576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834560" y="2035800"/>
            <a:ext cx="26605800" cy="70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1834560" y="10205640"/>
            <a:ext cx="26605800" cy="244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834560" y="2035800"/>
            <a:ext cx="26605800" cy="70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1834560" y="10205640"/>
            <a:ext cx="26605800" cy="244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834560" y="2035800"/>
            <a:ext cx="26605800" cy="70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1834560" y="10205640"/>
            <a:ext cx="12983400" cy="244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15467400" y="10205640"/>
            <a:ext cx="12983400" cy="244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834560" y="2035800"/>
            <a:ext cx="26605800" cy="70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1834560" y="2035800"/>
            <a:ext cx="26605800" cy="325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834560" y="2035800"/>
            <a:ext cx="26605800" cy="70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1834560" y="10205640"/>
            <a:ext cx="1298340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15467400" y="10205640"/>
            <a:ext cx="12983400" cy="244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1834560" y="22956480"/>
            <a:ext cx="1298340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834560" y="2035800"/>
            <a:ext cx="26605800" cy="70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1834560" y="10205640"/>
            <a:ext cx="12983400" cy="244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15467400" y="10205640"/>
            <a:ext cx="1298340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15467400" y="22956480"/>
            <a:ext cx="1298340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834560" y="2035800"/>
            <a:ext cx="26605800" cy="70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1834560" y="10205640"/>
            <a:ext cx="1298340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15467400" y="10205640"/>
            <a:ext cx="1298340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1834560" y="22956480"/>
            <a:ext cx="2660580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834560" y="2035800"/>
            <a:ext cx="26605800" cy="70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1834560" y="10205640"/>
            <a:ext cx="2660580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1834560" y="22956480"/>
            <a:ext cx="2660580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834560" y="2035800"/>
            <a:ext cx="26605800" cy="70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1834560" y="10205640"/>
            <a:ext cx="1298340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15467400" y="10205640"/>
            <a:ext cx="1298340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1834560" y="22956480"/>
            <a:ext cx="1298340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15467400" y="22956480"/>
            <a:ext cx="1298340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834560" y="2035800"/>
            <a:ext cx="26605800" cy="70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1834560" y="10205640"/>
            <a:ext cx="856692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10830240" y="10205640"/>
            <a:ext cx="856692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19825920" y="10205640"/>
            <a:ext cx="856692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1834560" y="22956480"/>
            <a:ext cx="856692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10830240" y="22956480"/>
            <a:ext cx="856692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19825920" y="22956480"/>
            <a:ext cx="856692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Relationship Id="rId9" Type="http://schemas.openxmlformats.org/officeDocument/2006/relationships/slideLayout" Target="../slideLayouts/slideLayout5.xml"/><Relationship Id="rId10" Type="http://schemas.openxmlformats.org/officeDocument/2006/relationships/slideLayout" Target="../slideLayouts/slideLayout6.xml"/><Relationship Id="rId11" Type="http://schemas.openxmlformats.org/officeDocument/2006/relationships/slideLayout" Target="../slideLayouts/slideLayout7.xml"/><Relationship Id="rId12" Type="http://schemas.openxmlformats.org/officeDocument/2006/relationships/slideLayout" Target="../slideLayouts/slideLayout8.xml"/><Relationship Id="rId13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New picture" descr=""/>
          <p:cNvPicPr/>
          <p:nvPr/>
        </p:nvPicPr>
        <p:blipFill>
          <a:blip r:embed="rId2"/>
          <a:stretch/>
        </p:blipFill>
        <p:spPr>
          <a:xfrm rot="16200000">
            <a:off x="-10022760" y="21522240"/>
            <a:ext cx="13688640" cy="3535200"/>
          </a:xfrm>
          <a:prstGeom prst="rect">
            <a:avLst/>
          </a:prstGeom>
          <a:ln w="0">
            <a:noFill/>
          </a:ln>
        </p:spPr>
      </p:pic>
      <p:pic>
        <p:nvPicPr>
          <p:cNvPr id="1" name="New picture" descr=""/>
          <p:cNvPicPr/>
          <p:nvPr/>
        </p:nvPicPr>
        <p:blipFill>
          <a:blip r:embed="rId3"/>
          <a:stretch/>
        </p:blipFill>
        <p:spPr>
          <a:xfrm rot="5400000">
            <a:off x="26610480" y="21521880"/>
            <a:ext cx="13688640" cy="3535200"/>
          </a:xfrm>
          <a:prstGeom prst="rect">
            <a:avLst/>
          </a:prstGeom>
          <a:ln w="0">
            <a:noFill/>
          </a:ln>
        </p:spPr>
      </p:pic>
      <p:pic>
        <p:nvPicPr>
          <p:cNvPr id="2" name="New picture" descr=""/>
          <p:cNvPicPr/>
          <p:nvPr/>
        </p:nvPicPr>
        <p:blipFill>
          <a:blip r:embed="rId4"/>
          <a:stretch/>
        </p:blipFill>
        <p:spPr>
          <a:xfrm>
            <a:off x="1674000" y="42934320"/>
            <a:ext cx="26927640" cy="1400400"/>
          </a:xfrm>
          <a:prstGeom prst="rect">
            <a:avLst/>
          </a:prstGeom>
          <a:ln w="0">
            <a:noFill/>
          </a:ln>
        </p:spPr>
      </p:pic>
      <p:sp>
        <p:nvSpPr>
          <p:cNvPr id="3" name="New shape"/>
          <p:cNvSpPr/>
          <p:nvPr/>
        </p:nvSpPr>
        <p:spPr>
          <a:xfrm>
            <a:off x="1674000" y="43482600"/>
            <a:ext cx="14780880" cy="12175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600" spc="-1" strike="noStrike">
                <a:solidFill>
                  <a:srgbClr val="808080"/>
                </a:solidFill>
                <a:latin typeface="Times New Roman"/>
                <a:ea typeface="Arial"/>
              </a:rPr>
              <a:t>Template ID: ponderingpeacock  Size: 36x48</a:t>
            </a:r>
            <a:endParaRPr b="0" lang="en-US" sz="4600" spc="-1" strike="noStrike"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834560" y="2035800"/>
            <a:ext cx="26605800" cy="70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C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l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i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c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k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t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o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e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d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i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t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t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h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e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t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i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t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l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e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t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e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x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t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f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o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r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m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a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t</a:t>
            </a:r>
            <a:endParaRPr b="0" lang="en-US" sz="2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834560" y="10205640"/>
            <a:ext cx="26605800" cy="244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35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7690" spc="-1" strike="noStrike">
                <a:solidFill>
                  <a:srgbClr val="000000"/>
                </a:solidFill>
                <a:latin typeface="Times New Roman"/>
              </a:rPr>
              <a:t>Click to edit the outline text format</a:t>
            </a:r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  <a:p>
            <a:pPr lvl="1" marL="864000" indent="-324000">
              <a:spcBef>
                <a:spcPts val="108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830" spc="-1" strike="noStrike">
                <a:solidFill>
                  <a:srgbClr val="000000"/>
                </a:solidFill>
                <a:latin typeface="Times New Roman"/>
              </a:rPr>
              <a:t>Second Outline Level</a:t>
            </a:r>
            <a:endParaRPr b="0" lang="en-US" sz="5830" spc="-1" strike="noStrike">
              <a:solidFill>
                <a:srgbClr val="000000"/>
              </a:solidFill>
              <a:latin typeface="Times New Roman"/>
            </a:endParaRPr>
          </a:p>
          <a:p>
            <a:pPr lvl="2" marL="1296000" indent="-288000">
              <a:spcBef>
                <a:spcPts val="8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670" spc="-1" strike="noStrike">
                <a:solidFill>
                  <a:srgbClr val="000000"/>
                </a:solidFill>
                <a:latin typeface="Times New Roman"/>
              </a:rPr>
              <a:t>Third Outline Level</a:t>
            </a:r>
            <a:endParaRPr b="0" lang="en-US" sz="4670" spc="-1" strike="noStrike">
              <a:solidFill>
                <a:srgbClr val="000000"/>
              </a:solidFill>
              <a:latin typeface="Times New Roman"/>
            </a:endParaRPr>
          </a:p>
          <a:p>
            <a:pPr lvl="3" marL="1728000" indent="-216000">
              <a:spcBef>
                <a:spcPts val="54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670" spc="-1" strike="noStrike">
                <a:solidFill>
                  <a:srgbClr val="000000"/>
                </a:solidFill>
                <a:latin typeface="Times New Roman"/>
              </a:rPr>
              <a:t>Fourth Outline Level</a:t>
            </a:r>
            <a:endParaRPr b="0" lang="en-US" sz="4670" spc="-1" strike="noStrike">
              <a:solidFill>
                <a:srgbClr val="000000"/>
              </a:solidFill>
              <a:latin typeface="Times New Roman"/>
            </a:endParaRPr>
          </a:p>
          <a:p>
            <a:pPr lvl="4" marL="2160000" indent="-216000">
              <a:spcBef>
                <a:spcPts val="26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20" spc="-1" strike="noStrike">
                <a:solidFill>
                  <a:srgbClr val="000000"/>
                </a:solidFill>
                <a:latin typeface="Times New Roman"/>
              </a:rPr>
              <a:t>Fifth Outline Level</a:t>
            </a:r>
            <a:endParaRPr b="0" lang="en-US" sz="1920" spc="-1" strike="noStrike">
              <a:solidFill>
                <a:srgbClr val="000000"/>
              </a:solidFill>
              <a:latin typeface="Times New Roman"/>
            </a:endParaRPr>
          </a:p>
          <a:p>
            <a:pPr lvl="5" marL="2592000" indent="-216000">
              <a:spcBef>
                <a:spcPts val="26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20" spc="-1" strike="noStrike">
                <a:solidFill>
                  <a:srgbClr val="000000"/>
                </a:solidFill>
                <a:latin typeface="Times New Roman"/>
              </a:rPr>
              <a:t>Sixth Outline Level</a:t>
            </a:r>
            <a:endParaRPr b="0" lang="en-US" sz="1920" spc="-1" strike="noStrike">
              <a:solidFill>
                <a:srgbClr val="000000"/>
              </a:solidFill>
              <a:latin typeface="Times New Roman"/>
            </a:endParaRPr>
          </a:p>
          <a:p>
            <a:pPr lvl="6" marL="3024000" indent="-216000">
              <a:spcBef>
                <a:spcPts val="26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20" spc="-1" strike="noStrike">
                <a:solidFill>
                  <a:srgbClr val="000000"/>
                </a:solidFill>
                <a:latin typeface="Times New Roman"/>
              </a:rPr>
              <a:t>Seventh Outline Level</a:t>
            </a:r>
            <a:endParaRPr b="0" lang="en-US" sz="192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mailto:MUGAST@LISE" TargetMode="Externa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jpe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image" Target="../media/image17.png"/><Relationship Id="rId16" Type="http://schemas.openxmlformats.org/officeDocument/2006/relationships/image" Target="../media/image18.jpeg"/><Relationship Id="rId17" Type="http://schemas.openxmlformats.org/officeDocument/2006/relationships/image" Target="../media/image19.png"/><Relationship Id="rId18" Type="http://schemas.openxmlformats.org/officeDocument/2006/relationships/image" Target="../media/image20.png"/><Relationship Id="rId19" Type="http://schemas.openxmlformats.org/officeDocument/2006/relationships/image" Target="../media/image21.png"/><Relationship Id="rId20" Type="http://schemas.openxmlformats.org/officeDocument/2006/relationships/image" Target="../media/image22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d3c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Box 241"/>
          <p:cNvSpPr/>
          <p:nvPr/>
        </p:nvSpPr>
        <p:spPr>
          <a:xfrm>
            <a:off x="818640" y="555840"/>
            <a:ext cx="28798920" cy="5287320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e64b3c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 Placeholder 5"/>
          <p:cNvSpPr/>
          <p:nvPr/>
        </p:nvSpPr>
        <p:spPr>
          <a:xfrm>
            <a:off x="2185560" y="758880"/>
            <a:ext cx="25269840" cy="211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6600" spc="-1" strike="noStrike">
                <a:solidFill>
                  <a:srgbClr val="ffffff"/>
                </a:solidFill>
                <a:latin typeface="Quattrocento Sans"/>
                <a:ea typeface="Arial"/>
              </a:rPr>
              <a:t>Study the Neutron Shell Structure of </a:t>
            </a:r>
            <a:r>
              <a:rPr b="1" lang="en-US" sz="6600" spc="-1" strike="noStrike" baseline="33000">
                <a:solidFill>
                  <a:srgbClr val="ffffff"/>
                </a:solidFill>
                <a:latin typeface="Quattrocento Sans"/>
                <a:ea typeface="Arial"/>
              </a:rPr>
              <a:t>68</a:t>
            </a:r>
            <a:r>
              <a:rPr b="1" lang="en-US" sz="6600" spc="-1" strike="noStrike">
                <a:solidFill>
                  <a:srgbClr val="ffffff"/>
                </a:solidFill>
                <a:latin typeface="Quattrocento Sans"/>
                <a:ea typeface="Arial"/>
              </a:rPr>
              <a:t>Ni </a:t>
            </a:r>
            <a:endParaRPr b="0" lang="en-US" sz="6600" spc="-1" strike="noStrike">
              <a:latin typeface="Quattrocento Sans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6600" spc="-1" strike="noStrike">
                <a:solidFill>
                  <a:srgbClr val="ffffff"/>
                </a:solidFill>
                <a:latin typeface="Quattrocento Sans"/>
                <a:ea typeface="Arial"/>
              </a:rPr>
              <a:t>via Missing Mass Spectroscopy</a:t>
            </a:r>
            <a:endParaRPr b="0" lang="en-US" sz="6600" spc="-1" strike="noStrike">
              <a:latin typeface="Quattrocento Sans"/>
            </a:endParaRPr>
          </a:p>
        </p:txBody>
      </p:sp>
      <p:sp>
        <p:nvSpPr>
          <p:cNvPr id="50" name="Text Placeholder 5"/>
          <p:cNvSpPr/>
          <p:nvPr/>
        </p:nvSpPr>
        <p:spPr>
          <a:xfrm>
            <a:off x="2414160" y="2871360"/>
            <a:ext cx="25041240" cy="41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spcBef>
                <a:spcPts val="839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Quattrocento Sans"/>
                <a:ea typeface="Arial"/>
              </a:rPr>
              <a:t> </a:t>
            </a:r>
            <a:r>
              <a:rPr b="0" lang="en-US" sz="3600" spc="-1" strike="noStrike">
                <a:solidFill>
                  <a:srgbClr val="ffffff"/>
                </a:solidFill>
                <a:latin typeface="Quattrocento Sans"/>
                <a:ea typeface="Arial"/>
              </a:rPr>
              <a:t>Ö.Aktas</a:t>
            </a:r>
            <a:r>
              <a:rPr b="0" lang="en-US" sz="3600" spc="-1" strike="noStrike" baseline="33000">
                <a:solidFill>
                  <a:srgbClr val="ffffff"/>
                </a:solidFill>
                <a:latin typeface="Quattrocento Sans"/>
                <a:ea typeface="Arial"/>
              </a:rPr>
              <a:t>1</a:t>
            </a:r>
            <a:r>
              <a:rPr b="0" lang="en-US" sz="3600" spc="-1" strike="noStrike">
                <a:solidFill>
                  <a:srgbClr val="ffffff"/>
                </a:solidFill>
                <a:latin typeface="Quattrocento Sans"/>
                <a:ea typeface="Arial"/>
              </a:rPr>
              <a:t>, </a:t>
            </a:r>
            <a:r>
              <a:rPr b="0" lang="en-US" sz="3200" spc="-1" strike="noStrike">
                <a:solidFill>
                  <a:srgbClr val="ffffff"/>
                </a:solidFill>
                <a:latin typeface="Quattrocento Sans"/>
                <a:ea typeface="Arial"/>
              </a:rPr>
              <a:t>S. Koyama</a:t>
            </a:r>
            <a:r>
              <a:rPr b="0" lang="en-US" sz="3200" spc="-1" strike="noStrike" baseline="33000">
                <a:solidFill>
                  <a:srgbClr val="ffffff"/>
                </a:solidFill>
                <a:latin typeface="Quattrocento Sans"/>
                <a:ea typeface="Arial"/>
              </a:rPr>
              <a:t>1</a:t>
            </a:r>
            <a:r>
              <a:rPr b="0" lang="en-US" sz="3200" spc="-1" strike="noStrike">
                <a:solidFill>
                  <a:srgbClr val="ffffff"/>
                </a:solidFill>
                <a:latin typeface="Quattrocento Sans"/>
                <a:ea typeface="Arial"/>
              </a:rPr>
              <a:t>, O. Sorlin</a:t>
            </a:r>
            <a:r>
              <a:rPr b="0" lang="en-US" sz="3200" spc="-1" strike="noStrike" baseline="33000">
                <a:solidFill>
                  <a:srgbClr val="ffffff"/>
                </a:solidFill>
                <a:latin typeface="Quattrocento Sans"/>
                <a:ea typeface="Arial"/>
              </a:rPr>
              <a:t>1</a:t>
            </a:r>
            <a:r>
              <a:rPr b="0" lang="en-US" sz="3200" spc="-1" strike="noStrike">
                <a:solidFill>
                  <a:srgbClr val="ffffff"/>
                </a:solidFill>
                <a:latin typeface="Quattrocento Sans"/>
                <a:ea typeface="Arial"/>
              </a:rPr>
              <a:t>,M. Assié</a:t>
            </a:r>
            <a:r>
              <a:rPr b="0" lang="en-US" sz="3200" spc="-1" strike="noStrike" baseline="33000">
                <a:solidFill>
                  <a:srgbClr val="ffffff"/>
                </a:solidFill>
                <a:latin typeface="Quattrocento Sans"/>
                <a:ea typeface="Arial"/>
              </a:rPr>
              <a:t>2</a:t>
            </a:r>
            <a:r>
              <a:rPr b="0" lang="en-US" sz="3200" spc="-1" strike="noStrike">
                <a:solidFill>
                  <a:srgbClr val="ffffff"/>
                </a:solidFill>
                <a:latin typeface="Quattrocento Sans"/>
                <a:ea typeface="Arial"/>
              </a:rPr>
              <a:t>, V. Girard-Alcindor</a:t>
            </a:r>
            <a:r>
              <a:rPr b="0" lang="en-US" sz="3200" spc="-1" strike="noStrike" baseline="33000">
                <a:solidFill>
                  <a:srgbClr val="ffffff"/>
                </a:solidFill>
                <a:latin typeface="Quattrocento Sans"/>
                <a:ea typeface="Arial"/>
              </a:rPr>
              <a:t>2</a:t>
            </a:r>
            <a:r>
              <a:rPr b="0" lang="en-US" sz="3200" spc="-1" strike="noStrike">
                <a:solidFill>
                  <a:srgbClr val="ffffff"/>
                </a:solidFill>
                <a:latin typeface="Quattrocento Sans"/>
                <a:ea typeface="Arial"/>
              </a:rPr>
              <a:t>, H. Jacob</a:t>
            </a:r>
            <a:r>
              <a:rPr b="0" lang="en-US" sz="3200" spc="-1" strike="noStrike" baseline="33000">
                <a:solidFill>
                  <a:srgbClr val="ffffff"/>
                </a:solidFill>
                <a:latin typeface="Quattrocento Sans"/>
                <a:ea typeface="Arial"/>
              </a:rPr>
              <a:t>2</a:t>
            </a:r>
            <a:r>
              <a:rPr b="0" lang="en-US" sz="3200" spc="-1" strike="noStrike">
                <a:solidFill>
                  <a:srgbClr val="ffffff"/>
                </a:solidFill>
                <a:latin typeface="Quattrocento Sans"/>
                <a:ea typeface="Arial"/>
              </a:rPr>
              <a:t>, Q. Delignac</a:t>
            </a:r>
            <a:r>
              <a:rPr b="0" lang="en-US" sz="3200" spc="-1" strike="noStrike" baseline="33000">
                <a:solidFill>
                  <a:srgbClr val="ffffff"/>
                </a:solidFill>
                <a:latin typeface="Quattrocento Sans"/>
                <a:ea typeface="Arial"/>
              </a:rPr>
              <a:t>3</a:t>
            </a:r>
            <a:r>
              <a:rPr b="0" lang="en-US" sz="3200" spc="-1" strike="noStrike">
                <a:solidFill>
                  <a:srgbClr val="ffffff"/>
                </a:solidFill>
                <a:latin typeface="Quattrocento Sans"/>
                <a:ea typeface="Arial"/>
              </a:rPr>
              <a:t>,</a:t>
            </a:r>
            <a:endParaRPr b="0" lang="en-US" sz="3200" spc="-1" strike="noStrike">
              <a:latin typeface="Quattrocento Sans"/>
            </a:endParaRPr>
          </a:p>
          <a:p>
            <a:pPr algn="ctr">
              <a:lnSpc>
                <a:spcPct val="100000"/>
              </a:lnSpc>
              <a:spcBef>
                <a:spcPts val="839"/>
              </a:spcBef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ffffff"/>
                </a:solidFill>
                <a:latin typeface="Quattrocento Sans"/>
                <a:ea typeface="Arial"/>
              </a:rPr>
              <a:t>and  </a:t>
            </a:r>
            <a:r>
              <a:rPr b="0" lang="en-US" sz="3600" spc="-1" strike="noStrike">
                <a:solidFill>
                  <a:srgbClr val="ffffff"/>
                </a:solidFill>
                <a:latin typeface="Quattrocento Sans"/>
                <a:ea typeface="Arial"/>
                <a:hlinkClick r:id="rId1"/>
              </a:rPr>
              <a:t>MUGAST@LISE</a:t>
            </a:r>
            <a:r>
              <a:rPr b="0" lang="en-US" sz="3600" spc="-1" strike="noStrike">
                <a:solidFill>
                  <a:srgbClr val="ffffff"/>
                </a:solidFill>
                <a:latin typeface="Quattrocento Sans"/>
                <a:ea typeface="Arial"/>
              </a:rPr>
              <a:t> Collaboration</a:t>
            </a:r>
            <a:endParaRPr b="0" lang="en-US" sz="3600" spc="-1" strike="noStrike">
              <a:latin typeface="Quattrocento Sans"/>
            </a:endParaRPr>
          </a:p>
          <a:p>
            <a:pPr algn="ctr">
              <a:lnSpc>
                <a:spcPct val="100000"/>
              </a:lnSpc>
              <a:spcBef>
                <a:spcPts val="839"/>
              </a:spcBef>
              <a:buNone/>
              <a:tabLst>
                <a:tab algn="l" pos="0"/>
              </a:tabLst>
            </a:pPr>
            <a:r>
              <a:rPr b="0" lang="en-US" sz="3200" spc="-1" strike="noStrike" baseline="33000">
                <a:solidFill>
                  <a:srgbClr val="ffffff"/>
                </a:solidFill>
                <a:latin typeface="Quattrocento Sans"/>
                <a:ea typeface="Arial"/>
              </a:rPr>
              <a:t>1</a:t>
            </a:r>
            <a:r>
              <a:rPr b="0" lang="en-US" sz="3200" spc="-1" strike="noStrike">
                <a:solidFill>
                  <a:srgbClr val="ffffff"/>
                </a:solidFill>
                <a:latin typeface="Quattrocento Sans"/>
                <a:ea typeface="Arial"/>
              </a:rPr>
              <a:t>GANIL CEA/DRF-CNRS/IN2P3, B.P. 55027, 14076 Caen, France, </a:t>
            </a:r>
            <a:endParaRPr b="0" lang="en-US" sz="3200" spc="-1" strike="noStrike">
              <a:latin typeface="Quattrocento Sans"/>
            </a:endParaRPr>
          </a:p>
          <a:p>
            <a:pPr algn="ctr">
              <a:lnSpc>
                <a:spcPct val="100000"/>
              </a:lnSpc>
              <a:spcBef>
                <a:spcPts val="839"/>
              </a:spcBef>
              <a:buNone/>
              <a:tabLst>
                <a:tab algn="l" pos="0"/>
              </a:tabLst>
            </a:pPr>
            <a:r>
              <a:rPr b="0" lang="en-US" sz="3200" spc="-1" strike="noStrike" baseline="33000">
                <a:solidFill>
                  <a:srgbClr val="ffffff"/>
                </a:solidFill>
                <a:latin typeface="Quattrocento Sans"/>
                <a:ea typeface="Arial"/>
              </a:rPr>
              <a:t>2</a:t>
            </a:r>
            <a:r>
              <a:rPr b="0" lang="en-US" sz="3200" spc="-1" strike="noStrike">
                <a:solidFill>
                  <a:srgbClr val="ffffff"/>
                </a:solidFill>
                <a:latin typeface="Quattrocento Sans"/>
                <a:ea typeface="Arial"/>
              </a:rPr>
              <a:t> IJCLab Université Paris- Saclay, CNRS/IN2P3 91406 Orsay, France,</a:t>
            </a:r>
            <a:endParaRPr b="0" lang="en-US" sz="3200" spc="-1" strike="noStrike">
              <a:latin typeface="Quattrocento Sans"/>
            </a:endParaRPr>
          </a:p>
          <a:p>
            <a:pPr algn="ctr">
              <a:lnSpc>
                <a:spcPct val="100000"/>
              </a:lnSpc>
              <a:spcBef>
                <a:spcPts val="839"/>
              </a:spcBef>
              <a:buNone/>
              <a:tabLst>
                <a:tab algn="l" pos="0"/>
              </a:tabLst>
            </a:pPr>
            <a:r>
              <a:rPr b="0" lang="en-US" sz="3200" spc="-1" strike="noStrike" baseline="33000">
                <a:solidFill>
                  <a:srgbClr val="ffffff"/>
                </a:solidFill>
                <a:latin typeface="Quattrocento Sans"/>
                <a:ea typeface="Arial"/>
              </a:rPr>
              <a:t>3 </a:t>
            </a:r>
            <a:r>
              <a:rPr b="0" lang="en-US" sz="3200" spc="-1" strike="noStrike">
                <a:solidFill>
                  <a:srgbClr val="ffffff"/>
                </a:solidFill>
                <a:latin typeface="Quattrocento Sans"/>
                <a:ea typeface="Arial"/>
              </a:rPr>
              <a:t>LP2I Laboratoire de Physique des 2 infinis 33170 Bordeaux, France </a:t>
            </a:r>
            <a:endParaRPr b="0" lang="en-US" sz="3200" spc="-1" strike="noStrike">
              <a:latin typeface="Quattrocento Sans"/>
            </a:endParaRPr>
          </a:p>
          <a:p>
            <a:pPr algn="ctr">
              <a:lnSpc>
                <a:spcPct val="100000"/>
              </a:lnSpc>
              <a:spcBef>
                <a:spcPts val="839"/>
              </a:spcBef>
              <a:buNone/>
              <a:tabLst>
                <a:tab algn="l" pos="0"/>
              </a:tabLst>
            </a:pPr>
            <a:endParaRPr b="0" lang="en-US" sz="3200" spc="-1" strike="noStrike">
              <a:latin typeface="Quattrocento Sans"/>
            </a:endParaRPr>
          </a:p>
          <a:p>
            <a:pPr algn="ctr">
              <a:lnSpc>
                <a:spcPct val="100000"/>
              </a:lnSpc>
              <a:spcBef>
                <a:spcPts val="839"/>
              </a:spcBef>
              <a:buNone/>
              <a:tabLst>
                <a:tab algn="l" pos="0"/>
              </a:tabLst>
            </a:pPr>
            <a:endParaRPr b="0" lang="en-US" sz="3200" spc="-1" strike="noStrike">
              <a:latin typeface="Quattrocento Sans"/>
            </a:endParaRPr>
          </a:p>
        </p:txBody>
      </p:sp>
      <p:sp>
        <p:nvSpPr>
          <p:cNvPr id="51" name="Rectangle 74"/>
          <p:cNvSpPr/>
          <p:nvPr/>
        </p:nvSpPr>
        <p:spPr>
          <a:xfrm>
            <a:off x="813960" y="6300360"/>
            <a:ext cx="28803600" cy="9151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" name="TextBox 19"/>
          <p:cNvSpPr/>
          <p:nvPr/>
        </p:nvSpPr>
        <p:spPr>
          <a:xfrm>
            <a:off x="1042560" y="6650280"/>
            <a:ext cx="11201400" cy="22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 algn="just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The motivation is to investigate magicity at N=40, shell gap at N=50, and SO splittings of </a:t>
            </a:r>
            <a:r>
              <a:rPr b="0" i="1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pfg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 shells in </a:t>
            </a:r>
            <a:r>
              <a:rPr b="0" lang="en-US" sz="3600" spc="-1" strike="noStrike" baseline="33000">
                <a:solidFill>
                  <a:srgbClr val="000000"/>
                </a:solidFill>
                <a:latin typeface="Quattrocento Sans"/>
                <a:ea typeface="ＭＳ Ｐゴシック"/>
              </a:rPr>
              <a:t>68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Ni using neutron adding and removal reactions in inverse kinematics.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53" name="Rectangle 10"/>
          <p:cNvSpPr/>
          <p:nvPr/>
        </p:nvSpPr>
        <p:spPr>
          <a:xfrm>
            <a:off x="813960" y="5843160"/>
            <a:ext cx="28803600" cy="6840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3684a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05920" rIns="205920" tIns="54720" bIns="5148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Quattrocento"/>
                <a:ea typeface="Arial"/>
              </a:rPr>
              <a:t>Introduction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54" name="Rectangle 87"/>
          <p:cNvSpPr/>
          <p:nvPr/>
        </p:nvSpPr>
        <p:spPr>
          <a:xfrm>
            <a:off x="813960" y="16365960"/>
            <a:ext cx="28803600" cy="124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5" name="Rectangle 90"/>
          <p:cNvSpPr/>
          <p:nvPr/>
        </p:nvSpPr>
        <p:spPr>
          <a:xfrm>
            <a:off x="813960" y="40818960"/>
            <a:ext cx="13716000" cy="137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6" name="TextBox 19"/>
          <p:cNvSpPr/>
          <p:nvPr/>
        </p:nvSpPr>
        <p:spPr>
          <a:xfrm>
            <a:off x="824760" y="41047560"/>
            <a:ext cx="13019400" cy="6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 algn="just">
              <a:lnSpc>
                <a:spcPct val="110000"/>
              </a:lnSpc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[1] S. Koyama, e843_21 exp proposal,2021</a:t>
            </a:r>
            <a:r>
              <a:rPr b="0" lang="en-US" sz="32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57" name="Rectangle 10"/>
          <p:cNvSpPr/>
          <p:nvPr/>
        </p:nvSpPr>
        <p:spPr>
          <a:xfrm>
            <a:off x="813960" y="40185720"/>
            <a:ext cx="13716000" cy="633240"/>
          </a:xfrm>
          <a:prstGeom prst="snipRoundRect">
            <a:avLst>
              <a:gd name="adj1" fmla="val 0"/>
              <a:gd name="adj2" fmla="val 46622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05920" rIns="205920" tIns="54720" bIns="5148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Quattrocento"/>
                <a:ea typeface="Arial"/>
              </a:rPr>
              <a:t>References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58" name="" descr=""/>
          <p:cNvPicPr/>
          <p:nvPr/>
        </p:nvPicPr>
        <p:blipFill>
          <a:blip r:embed="rId2"/>
          <a:stretch/>
        </p:blipFill>
        <p:spPr>
          <a:xfrm>
            <a:off x="1565280" y="9462240"/>
            <a:ext cx="9307080" cy="5434200"/>
          </a:xfrm>
          <a:prstGeom prst="rect">
            <a:avLst/>
          </a:prstGeom>
          <a:ln w="0">
            <a:noFill/>
          </a:ln>
        </p:spPr>
      </p:pic>
      <p:sp>
        <p:nvSpPr>
          <p:cNvPr id="59" name=""/>
          <p:cNvSpPr txBox="1"/>
          <p:nvPr/>
        </p:nvSpPr>
        <p:spPr>
          <a:xfrm>
            <a:off x="1956960" y="14749920"/>
            <a:ext cx="9372600" cy="858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2600" spc="-1" strike="noStrike">
                <a:solidFill>
                  <a:srgbClr val="000000"/>
                </a:solidFill>
                <a:latin typeface="Quattrocento Sans"/>
              </a:rPr>
              <a:t>Fig</a:t>
            </a:r>
            <a:r>
              <a:rPr b="0" i="1" lang="en-US" sz="2600" spc="-1" strike="noStrike">
                <a:solidFill>
                  <a:srgbClr val="000000"/>
                </a:solidFill>
                <a:latin typeface="Quattrocento Sans"/>
              </a:rPr>
              <a:t>ur</a:t>
            </a:r>
            <a:r>
              <a:rPr b="0" i="1" lang="en-US" sz="2600" spc="-1" strike="noStrike">
                <a:solidFill>
                  <a:srgbClr val="000000"/>
                </a:solidFill>
                <a:latin typeface="Quattrocento Sans"/>
              </a:rPr>
              <a:t>e </a:t>
            </a:r>
            <a:r>
              <a:rPr b="0" i="1" lang="en-US" sz="2600" spc="-1" strike="noStrike">
                <a:solidFill>
                  <a:srgbClr val="000000"/>
                </a:solidFill>
                <a:latin typeface="Quattrocento Sans"/>
              </a:rPr>
              <a:t>1: </a:t>
            </a:r>
            <a:r>
              <a:rPr b="0" i="1" lang="en-US" sz="2600" spc="-1" strike="noStrike">
                <a:solidFill>
                  <a:srgbClr val="000000"/>
                </a:solidFill>
                <a:latin typeface="Quattrocento Sans"/>
              </a:rPr>
              <a:t>Oc</a:t>
            </a:r>
            <a:r>
              <a:rPr b="0" i="1" lang="en-US" sz="2600" spc="-1" strike="noStrike">
                <a:solidFill>
                  <a:srgbClr val="000000"/>
                </a:solidFill>
                <a:latin typeface="Quattrocento Sans"/>
              </a:rPr>
              <a:t>cu</a:t>
            </a:r>
            <a:r>
              <a:rPr b="0" i="1" lang="en-US" sz="2600" spc="-1" strike="noStrike">
                <a:solidFill>
                  <a:srgbClr val="000000"/>
                </a:solidFill>
                <a:latin typeface="Quattrocento Sans"/>
              </a:rPr>
              <a:t>pa</a:t>
            </a:r>
            <a:r>
              <a:rPr b="0" i="1" lang="en-US" sz="2600" spc="-1" strike="noStrike">
                <a:solidFill>
                  <a:srgbClr val="000000"/>
                </a:solidFill>
                <a:latin typeface="Quattrocento Sans"/>
              </a:rPr>
              <a:t>nc</a:t>
            </a:r>
            <a:r>
              <a:rPr b="0" i="1" lang="en-US" sz="2600" spc="-1" strike="noStrike">
                <a:solidFill>
                  <a:srgbClr val="000000"/>
                </a:solidFill>
                <a:latin typeface="Quattrocento Sans"/>
              </a:rPr>
              <a:t>y </a:t>
            </a:r>
            <a:r>
              <a:rPr b="0" i="1" lang="en-US" sz="2600" spc="-1" strike="noStrike">
                <a:solidFill>
                  <a:srgbClr val="000000"/>
                </a:solidFill>
                <a:latin typeface="Quattrocento Sans"/>
              </a:rPr>
              <a:t>an</a:t>
            </a:r>
            <a:r>
              <a:rPr b="0" i="1" lang="en-US" sz="2600" spc="-1" strike="noStrike">
                <a:solidFill>
                  <a:srgbClr val="000000"/>
                </a:solidFill>
                <a:latin typeface="Quattrocento Sans"/>
              </a:rPr>
              <a:t>d </a:t>
            </a:r>
            <a:r>
              <a:rPr b="0" i="1" lang="en-US" sz="2600" spc="-1" strike="noStrike">
                <a:solidFill>
                  <a:srgbClr val="000000"/>
                </a:solidFill>
                <a:latin typeface="Quattrocento Sans"/>
              </a:rPr>
              <a:t>Va</a:t>
            </a:r>
            <a:r>
              <a:rPr b="0" i="1" lang="en-US" sz="2600" spc="-1" strike="noStrike">
                <a:solidFill>
                  <a:srgbClr val="000000"/>
                </a:solidFill>
                <a:latin typeface="Quattrocento Sans"/>
              </a:rPr>
              <a:t>ca</a:t>
            </a:r>
            <a:r>
              <a:rPr b="0" i="1" lang="en-US" sz="2600" spc="-1" strike="noStrike">
                <a:solidFill>
                  <a:srgbClr val="000000"/>
                </a:solidFill>
                <a:latin typeface="Quattrocento Sans"/>
              </a:rPr>
              <a:t>nc</a:t>
            </a:r>
            <a:r>
              <a:rPr b="0" i="1" lang="en-US" sz="2600" spc="-1" strike="noStrike">
                <a:solidFill>
                  <a:srgbClr val="000000"/>
                </a:solidFill>
                <a:latin typeface="Quattrocento Sans"/>
              </a:rPr>
              <a:t>y </a:t>
            </a:r>
            <a:r>
              <a:rPr b="0" i="1" lang="en-US" sz="2600" spc="-1" strike="noStrike">
                <a:solidFill>
                  <a:srgbClr val="000000"/>
                </a:solidFill>
                <a:latin typeface="Quattrocento Sans"/>
              </a:rPr>
              <a:t>for </a:t>
            </a:r>
            <a:r>
              <a:rPr b="0" i="1" lang="en-US" sz="2600" spc="-1" strike="noStrike">
                <a:solidFill>
                  <a:srgbClr val="000000"/>
                </a:solidFill>
                <a:latin typeface="Quattrocento Sans"/>
              </a:rPr>
              <a:t>N</a:t>
            </a:r>
            <a:r>
              <a:rPr b="0" i="1" lang="en-US" sz="2600" spc="-1" strike="noStrike">
                <a:solidFill>
                  <a:srgbClr val="000000"/>
                </a:solidFill>
                <a:latin typeface="Quattrocento Sans"/>
              </a:rPr>
              <a:t>=4</a:t>
            </a:r>
            <a:r>
              <a:rPr b="0" i="1" lang="en-US" sz="2600" spc="-1" strike="noStrike">
                <a:solidFill>
                  <a:srgbClr val="000000"/>
                </a:solidFill>
                <a:latin typeface="Quattrocento Sans"/>
              </a:rPr>
              <a:t>0 </a:t>
            </a:r>
            <a:r>
              <a:rPr b="0" i="1" lang="en-US" sz="2600" spc="-1" strike="noStrike">
                <a:solidFill>
                  <a:srgbClr val="000000"/>
                </a:solidFill>
                <a:latin typeface="Quattrocento Sans"/>
              </a:rPr>
              <a:t>nu</a:t>
            </a:r>
            <a:r>
              <a:rPr b="0" i="1" lang="en-US" sz="2600" spc="-1" strike="noStrike">
                <a:solidFill>
                  <a:srgbClr val="000000"/>
                </a:solidFill>
                <a:latin typeface="Quattrocento Sans"/>
              </a:rPr>
              <a:t>cle</a:t>
            </a:r>
            <a:r>
              <a:rPr b="0" i="1" lang="en-US" sz="2600" spc="-1" strike="noStrike">
                <a:solidFill>
                  <a:srgbClr val="000000"/>
                </a:solidFill>
                <a:latin typeface="Quattrocento Sans"/>
              </a:rPr>
              <a:t>i </a:t>
            </a:r>
            <a:r>
              <a:rPr b="0" i="1" lang="en-US" sz="2600" spc="-1" strike="noStrike">
                <a:solidFill>
                  <a:srgbClr val="000000"/>
                </a:solidFill>
                <a:latin typeface="Quattrocento Sans"/>
              </a:rPr>
              <a:t>[1]</a:t>
            </a:r>
            <a:endParaRPr b="0" i="1" lang="en-US" sz="2600" spc="-1" strike="noStrike">
              <a:solidFill>
                <a:srgbClr val="000000"/>
              </a:solidFill>
              <a:latin typeface="Quattrocento Sans"/>
            </a:endParaRPr>
          </a:p>
        </p:txBody>
      </p:sp>
      <p:sp>
        <p:nvSpPr>
          <p:cNvPr id="60" name="Rectangle 8"/>
          <p:cNvSpPr/>
          <p:nvPr/>
        </p:nvSpPr>
        <p:spPr>
          <a:xfrm>
            <a:off x="813960" y="29730960"/>
            <a:ext cx="28803600" cy="10324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1" name="TextBox 3"/>
          <p:cNvSpPr/>
          <p:nvPr/>
        </p:nvSpPr>
        <p:spPr>
          <a:xfrm>
            <a:off x="1326240" y="29808720"/>
            <a:ext cx="27834120" cy="67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 algn="just">
              <a:lnSpc>
                <a:spcPct val="110000"/>
              </a:lnSpc>
              <a:buNone/>
            </a:pPr>
            <a:r>
              <a:rPr b="0" lang="en-US" sz="3600" spc="-1" strike="noStrike" u="sng">
                <a:solidFill>
                  <a:srgbClr val="000000"/>
                </a:solidFill>
                <a:uFillTx/>
                <a:latin typeface="Quattrocento Sans"/>
                <a:ea typeface="ＭＳ Ｐゴシック"/>
              </a:rPr>
              <a:t>The preliminary results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 from May 2023 for Kinematics and excitation energies (Ex) are shown from missing mass. </a:t>
            </a:r>
            <a:endParaRPr b="0" lang="en-US" sz="3600" spc="-1" strike="noStrike">
              <a:latin typeface="Quattrocento Sans"/>
            </a:endParaRPr>
          </a:p>
        </p:txBody>
      </p:sp>
      <p:sp>
        <p:nvSpPr>
          <p:cNvPr id="62" name="Rectangle 9"/>
          <p:cNvSpPr/>
          <p:nvPr/>
        </p:nvSpPr>
        <p:spPr>
          <a:xfrm>
            <a:off x="813960" y="28854360"/>
            <a:ext cx="28803600" cy="8766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3684a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05920" rIns="205920" tIns="54720" bIns="5148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Quattrocento"/>
                <a:ea typeface="Arial"/>
              </a:rPr>
              <a:t>Results &amp; Conclusion</a:t>
            </a:r>
            <a:endParaRPr b="0" lang="en-US" sz="3600" spc="-1" strike="noStrike">
              <a:latin typeface="Arial"/>
            </a:endParaRPr>
          </a:p>
        </p:txBody>
      </p:sp>
      <p:grpSp>
        <p:nvGrpSpPr>
          <p:cNvPr id="63" name=""/>
          <p:cNvGrpSpPr/>
          <p:nvPr/>
        </p:nvGrpSpPr>
        <p:grpSpPr>
          <a:xfrm>
            <a:off x="922680" y="16649280"/>
            <a:ext cx="28703880" cy="23406120"/>
            <a:chOff x="922680" y="16649280"/>
            <a:chExt cx="28703880" cy="23406120"/>
          </a:xfrm>
        </p:grpSpPr>
        <p:sp>
          <p:nvSpPr>
            <p:cNvPr id="64" name=""/>
            <p:cNvSpPr txBox="1"/>
            <p:nvPr/>
          </p:nvSpPr>
          <p:spPr>
            <a:xfrm>
              <a:off x="1280160" y="16649280"/>
              <a:ext cx="10771560" cy="67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3600" spc="-1" strike="noStrike" baseline="33000">
                  <a:solidFill>
                    <a:srgbClr val="000000"/>
                  </a:solidFill>
                  <a:latin typeface="Quattrocento Sans"/>
                </a:rPr>
                <a:t>7</a:t>
              </a:r>
              <a:r>
                <a:rPr b="0" lang="en-US" sz="3600" spc="-1" strike="noStrike" baseline="33000">
                  <a:solidFill>
                    <a:srgbClr val="000000"/>
                  </a:solidFill>
                  <a:latin typeface="Quattrocento Sans"/>
                </a:rPr>
                <a:t>0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Z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n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(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6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2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M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V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)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+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 baseline="33000">
                  <a:solidFill>
                    <a:srgbClr val="000000"/>
                  </a:solidFill>
                  <a:latin typeface="Quattrocento Sans"/>
                </a:rPr>
                <a:t>9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B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(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5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0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0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μ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m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)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→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 baseline="33000">
                  <a:solidFill>
                    <a:srgbClr val="000000"/>
                  </a:solidFill>
                  <a:latin typeface="Quattrocento Sans"/>
                </a:rPr>
                <a:t>6</a:t>
              </a:r>
              <a:r>
                <a:rPr b="0" lang="en-US" sz="3600" spc="-1" strike="noStrike" baseline="33000">
                  <a:solidFill>
                    <a:srgbClr val="000000"/>
                  </a:solidFill>
                  <a:latin typeface="Quattrocento Sans"/>
                </a:rPr>
                <a:t>8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N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i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(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@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L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I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S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)</a:t>
              </a:r>
              <a:endParaRPr b="0" lang="en-US" sz="3600" spc="-1" strike="noStrike">
                <a:solidFill>
                  <a:srgbClr val="000000"/>
                </a:solidFill>
                <a:latin typeface="Quattrocento Sans"/>
              </a:endParaRPr>
            </a:p>
          </p:txBody>
        </p:sp>
        <p:grpSp>
          <p:nvGrpSpPr>
            <p:cNvPr id="65" name=""/>
            <p:cNvGrpSpPr/>
            <p:nvPr/>
          </p:nvGrpSpPr>
          <p:grpSpPr>
            <a:xfrm>
              <a:off x="1377360" y="16990200"/>
              <a:ext cx="8983800" cy="5350320"/>
              <a:chOff x="1377360" y="16990200"/>
              <a:chExt cx="8983800" cy="5350320"/>
            </a:xfrm>
          </p:grpSpPr>
          <p:sp>
            <p:nvSpPr>
              <p:cNvPr id="66" name=""/>
              <p:cNvSpPr txBox="1"/>
              <p:nvPr/>
            </p:nvSpPr>
            <p:spPr>
              <a:xfrm>
                <a:off x="9340200" y="18200880"/>
                <a:ext cx="1020960" cy="12085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pPr algn="ctr">
                  <a:buNone/>
                </a:pPr>
                <a:r>
                  <a:rPr b="0" lang="en-US" sz="3200" spc="-1" strike="noStrike" baseline="33000">
                    <a:solidFill>
                      <a:srgbClr val="000000"/>
                    </a:solidFill>
                    <a:latin typeface="Arial"/>
                  </a:rPr>
                  <a:t>69</a:t>
                </a:r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</a:rPr>
                  <a:t>Ni </a:t>
                </a:r>
                <a:r>
                  <a:rPr b="0" lang="en-US" sz="3200" spc="-1" strike="noStrike" baseline="33000">
                    <a:solidFill>
                      <a:srgbClr val="000000"/>
                    </a:solidFill>
                    <a:latin typeface="Arial"/>
                  </a:rPr>
                  <a:t>67</a:t>
                </a:r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</a:rPr>
                  <a:t>Ni</a:t>
                </a:r>
                <a:endParaRPr b="0" lang="en-US" sz="32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7" name=""/>
              <p:cNvSpPr/>
              <p:nvPr/>
            </p:nvSpPr>
            <p:spPr>
              <a:xfrm>
                <a:off x="7881840" y="18053640"/>
                <a:ext cx="1312560" cy="1324080"/>
              </a:xfrm>
              <a:prstGeom prst="ellipse">
                <a:avLst/>
              </a:prstGeom>
              <a:noFill/>
              <a:ln cap="rnd" w="38160">
                <a:solidFill>
                  <a:srgbClr val="000000"/>
                </a:solidFill>
                <a:prstDash val="dash"/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8" name=""/>
              <p:cNvSpPr/>
              <p:nvPr/>
            </p:nvSpPr>
            <p:spPr>
              <a:xfrm>
                <a:off x="8173800" y="18053640"/>
                <a:ext cx="1312200" cy="1324080"/>
              </a:xfrm>
              <a:prstGeom prst="ellipse">
                <a:avLst/>
              </a:prstGeom>
              <a:noFill/>
              <a:ln w="38160">
                <a:solidFill>
                  <a:srgbClr val="000000"/>
                </a:solidFill>
                <a:prstDash val="lgDashDotDot"/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9" name=""/>
              <p:cNvSpPr/>
              <p:nvPr/>
            </p:nvSpPr>
            <p:spPr>
              <a:xfrm>
                <a:off x="8028000" y="17906760"/>
                <a:ext cx="1312200" cy="1323720"/>
              </a:xfrm>
              <a:prstGeom prst="ellipse">
                <a:avLst/>
              </a:prstGeom>
              <a:noFill/>
              <a:ln cap="rnd" w="38160">
                <a:solidFill>
                  <a:srgbClr val="000000"/>
                </a:solidFill>
                <a:prstDash val="dash"/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0" name=""/>
              <p:cNvSpPr/>
              <p:nvPr/>
            </p:nvSpPr>
            <p:spPr>
              <a:xfrm>
                <a:off x="8173800" y="18200880"/>
                <a:ext cx="1312560" cy="1324080"/>
              </a:xfrm>
              <a:prstGeom prst="ellipse">
                <a:avLst/>
              </a:prstGeom>
              <a:noFill/>
              <a:ln w="38160">
                <a:solidFill>
                  <a:srgbClr val="000000"/>
                </a:solidFill>
                <a:prstDash val="dash"/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cxnSp>
            <p:nvCxnSpPr>
              <p:cNvPr id="71" name=""/>
              <p:cNvCxnSpPr/>
              <p:nvPr/>
            </p:nvCxnSpPr>
            <p:spPr>
              <a:xfrm flipV="1">
                <a:off x="5402880" y="20102040"/>
                <a:ext cx="1094040" cy="371880"/>
              </a:xfrm>
              <a:prstGeom prst="straightConnector1">
                <a:avLst/>
              </a:prstGeom>
              <a:ln w="38160">
                <a:solidFill>
                  <a:srgbClr val="000000"/>
                </a:solidFill>
                <a:round/>
              </a:ln>
            </p:spPr>
          </p:cxnSp>
          <p:cxnSp>
            <p:nvCxnSpPr>
              <p:cNvPr id="72" name=""/>
              <p:cNvCxnSpPr/>
              <p:nvPr/>
            </p:nvCxnSpPr>
            <p:spPr>
              <a:xfrm flipH="1" flipV="1">
                <a:off x="6496560" y="20102040"/>
                <a:ext cx="860760" cy="336600"/>
              </a:xfrm>
              <a:prstGeom prst="straightConnector1">
                <a:avLst/>
              </a:prstGeom>
              <a:ln w="38160">
                <a:solidFill>
                  <a:srgbClr val="000000"/>
                </a:solidFill>
                <a:round/>
                <a:headEnd len="med" type="triangle" w="med"/>
              </a:ln>
            </p:spPr>
          </p:cxnSp>
          <p:sp>
            <p:nvSpPr>
              <p:cNvPr id="73" name=""/>
              <p:cNvSpPr/>
              <p:nvPr/>
            </p:nvSpPr>
            <p:spPr>
              <a:xfrm flipH="1" flipV="1">
                <a:off x="4673880" y="18708480"/>
                <a:ext cx="1749960" cy="147240"/>
              </a:xfrm>
              <a:prstGeom prst="line">
                <a:avLst/>
              </a:prstGeom>
              <a:ln w="38160">
                <a:solidFill>
                  <a:srgbClr val="000000"/>
                </a:solidFill>
                <a:round/>
                <a:head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4" name=""/>
              <p:cNvSpPr/>
              <p:nvPr/>
            </p:nvSpPr>
            <p:spPr>
              <a:xfrm flipV="1">
                <a:off x="6423840" y="18708480"/>
                <a:ext cx="1749960" cy="147240"/>
              </a:xfrm>
              <a:prstGeom prst="line">
                <a:avLst/>
              </a:prstGeom>
              <a:ln w="38160">
                <a:solidFill>
                  <a:srgbClr val="00000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</p:sp>
          <p:pic>
            <p:nvPicPr>
              <p:cNvPr id="75" name="" descr=""/>
              <p:cNvPicPr/>
              <p:nvPr/>
            </p:nvPicPr>
            <p:blipFill>
              <a:blip r:embed="rId3"/>
              <a:srcRect l="0" t="0" r="8804" b="0"/>
              <a:stretch/>
            </p:blipFill>
            <p:spPr>
              <a:xfrm>
                <a:off x="6132240" y="18855720"/>
                <a:ext cx="729000" cy="124632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76" name=""/>
              <p:cNvSpPr txBox="1"/>
              <p:nvPr/>
            </p:nvSpPr>
            <p:spPr>
              <a:xfrm>
                <a:off x="3652920" y="18414360"/>
                <a:ext cx="874800" cy="54288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3200" spc="-1" strike="noStrike" baseline="33000">
                    <a:solidFill>
                      <a:srgbClr val="000000"/>
                    </a:solidFill>
                    <a:latin typeface="Arial"/>
                  </a:rPr>
                  <a:t>68</a:t>
                </a:r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</a:rPr>
                  <a:t>Ni</a:t>
                </a:r>
                <a:endParaRPr b="0" lang="en-US" sz="32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7" name=""/>
              <p:cNvSpPr txBox="1"/>
              <p:nvPr/>
            </p:nvSpPr>
            <p:spPr>
              <a:xfrm>
                <a:off x="7736040" y="20473920"/>
                <a:ext cx="1312560" cy="11142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3600" spc="-1" strike="noStrike">
                    <a:latin typeface="Arial"/>
                  </a:rPr>
                  <a:t>(</a:t>
                </a:r>
                <a:r>
                  <a:rPr b="0" lang="en-US" sz="3600" spc="-1" strike="noStrike">
                    <a:latin typeface="Arial"/>
                  </a:rPr>
                  <a:t>E</a:t>
                </a:r>
                <a:r>
                  <a:rPr b="0" lang="en-US" sz="3600" spc="-1" strike="noStrike">
                    <a:latin typeface="Arial"/>
                  </a:rPr>
                  <a:t>4</a:t>
                </a:r>
                <a:r>
                  <a:rPr b="0" lang="en-US" sz="3600" spc="-1" strike="noStrike">
                    <a:latin typeface="Arial"/>
                  </a:rPr>
                  <a:t>,</a:t>
                </a:r>
                <a:r>
                  <a:rPr b="0" lang="en-US" sz="3600" spc="-1" strike="noStrike">
                    <a:latin typeface="Arial"/>
                  </a:rPr>
                  <a:t>p</a:t>
                </a:r>
                <a:r>
                  <a:rPr b="0" lang="en-US" sz="3600" spc="-1" strike="noStrike">
                    <a:latin typeface="Arial"/>
                  </a:rPr>
                  <a:t>4</a:t>
                </a:r>
                <a:r>
                  <a:rPr b="0" lang="en-US" sz="3600" spc="-1" strike="noStrike">
                    <a:latin typeface="Arial"/>
                  </a:rPr>
                  <a:t>)</a:t>
                </a:r>
                <a:endParaRPr b="0" lang="en-US" sz="3600" spc="-1" strike="noStrike">
                  <a:latin typeface="Arial"/>
                </a:endParaRPr>
              </a:p>
            </p:txBody>
          </p:sp>
          <p:sp>
            <p:nvSpPr>
              <p:cNvPr id="78" name=""/>
              <p:cNvSpPr txBox="1"/>
              <p:nvPr/>
            </p:nvSpPr>
            <p:spPr>
              <a:xfrm>
                <a:off x="4819680" y="20620800"/>
                <a:ext cx="874800" cy="14479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3200" spc="-1" strike="noStrike">
                    <a:latin typeface="Arial"/>
                  </a:rPr>
                  <a:t>(m1,0</a:t>
                </a:r>
                <a:r>
                  <a:rPr b="0" lang="en-US" sz="3200" spc="-1" strike="noStrike">
                    <a:latin typeface="Arial"/>
                  </a:rPr>
                  <a:t>)</a:t>
                </a:r>
                <a:endParaRPr b="0" lang="en-US" sz="3200" spc="-1" strike="noStrike">
                  <a:latin typeface="Arial"/>
                </a:endParaRPr>
              </a:p>
            </p:txBody>
          </p:sp>
          <p:sp>
            <p:nvSpPr>
              <p:cNvPr id="79" name=""/>
              <p:cNvSpPr txBox="1"/>
              <p:nvPr/>
            </p:nvSpPr>
            <p:spPr>
              <a:xfrm>
                <a:off x="8173800" y="19644840"/>
                <a:ext cx="1312200" cy="11142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3600" spc="-1" strike="noStrike">
                    <a:latin typeface="Arial"/>
                  </a:rPr>
                  <a:t>(</a:t>
                </a:r>
                <a:r>
                  <a:rPr b="0" lang="en-US" sz="3600" spc="-1" strike="noStrike">
                    <a:latin typeface="Arial"/>
                  </a:rPr>
                  <a:t>E</a:t>
                </a:r>
                <a:r>
                  <a:rPr b="0" lang="en-US" sz="3600" spc="-1" strike="noStrike">
                    <a:latin typeface="Arial"/>
                  </a:rPr>
                  <a:t>3</a:t>
                </a:r>
                <a:r>
                  <a:rPr b="0" lang="en-US" sz="3600" spc="-1" strike="noStrike">
                    <a:latin typeface="Arial"/>
                  </a:rPr>
                  <a:t>,</a:t>
                </a:r>
                <a:r>
                  <a:rPr b="0" lang="en-US" sz="3600" spc="-1" strike="noStrike">
                    <a:latin typeface="Arial"/>
                  </a:rPr>
                  <a:t>p</a:t>
                </a:r>
                <a:r>
                  <a:rPr b="0" lang="en-US" sz="3600" spc="-1" strike="noStrike">
                    <a:latin typeface="Arial"/>
                  </a:rPr>
                  <a:t>3</a:t>
                </a:r>
                <a:r>
                  <a:rPr b="0" lang="en-US" sz="3600" spc="-1" strike="noStrike">
                    <a:latin typeface="Arial"/>
                  </a:rPr>
                  <a:t>)</a:t>
                </a:r>
                <a:endParaRPr b="0" lang="en-US" sz="3600" spc="-1" strike="noStrike">
                  <a:latin typeface="Arial"/>
                </a:endParaRPr>
              </a:p>
            </p:txBody>
          </p:sp>
          <p:sp>
            <p:nvSpPr>
              <p:cNvPr id="80" name=""/>
              <p:cNvSpPr/>
              <p:nvPr/>
            </p:nvSpPr>
            <p:spPr>
              <a:xfrm flipH="1" flipV="1">
                <a:off x="8173800" y="17693280"/>
                <a:ext cx="291600" cy="360360"/>
              </a:xfrm>
              <a:prstGeom prst="line">
                <a:avLst/>
              </a:prstGeom>
              <a:ln w="0">
                <a:solidFill>
                  <a:srgbClr val="000000"/>
                </a:solidFill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</p:sp>
          <p:cxnSp>
            <p:nvCxnSpPr>
              <p:cNvPr id="81" name=""/>
              <p:cNvCxnSpPr>
                <a:stCxn id="70" idx="5"/>
              </p:cNvCxnSpPr>
              <p:nvPr/>
            </p:nvCxnSpPr>
            <p:spPr>
              <a:xfrm>
                <a:off x="9294120" y="19331280"/>
                <a:ext cx="331920" cy="349560"/>
              </a:xfrm>
              <a:prstGeom prst="straightConnector1">
                <a:avLst/>
              </a:prstGeom>
              <a:ln w="0">
                <a:solidFill>
                  <a:srgbClr val="000000"/>
                </a:solidFill>
                <a:tailEnd len="med" type="triangle" w="med"/>
              </a:ln>
            </p:spPr>
          </p:cxnSp>
          <p:cxnSp>
            <p:nvCxnSpPr>
              <p:cNvPr id="82" name=""/>
              <p:cNvCxnSpPr>
                <a:stCxn id="70" idx="3"/>
              </p:cNvCxnSpPr>
              <p:nvPr/>
            </p:nvCxnSpPr>
            <p:spPr>
              <a:xfrm flipH="1">
                <a:off x="8113320" y="19331280"/>
                <a:ext cx="253080" cy="390240"/>
              </a:xfrm>
              <a:prstGeom prst="straightConnector1">
                <a:avLst/>
              </a:prstGeom>
              <a:ln w="0">
                <a:solidFill>
                  <a:srgbClr val="000000"/>
                </a:solidFill>
                <a:tailEnd len="med" type="triangle" w="med"/>
              </a:ln>
            </p:spPr>
          </p:cxnSp>
          <p:sp>
            <p:nvSpPr>
              <p:cNvPr id="83" name=""/>
              <p:cNvSpPr txBox="1"/>
              <p:nvPr/>
            </p:nvSpPr>
            <p:spPr>
              <a:xfrm>
                <a:off x="8028000" y="16990200"/>
                <a:ext cx="583200" cy="97884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2800" spc="-1" strike="noStrike">
                    <a:solidFill>
                      <a:srgbClr val="b4b400"/>
                    </a:solidFill>
                    <a:latin typeface="Chandas"/>
                    <a:ea typeface="Arial"/>
                  </a:rPr>
                  <a:t>γ</a:t>
                </a:r>
                <a:endParaRPr b="0" lang="en-US" sz="2800" spc="-1" strike="noStrike">
                  <a:solidFill>
                    <a:srgbClr val="b4b400"/>
                  </a:solidFill>
                  <a:latin typeface="Chandas"/>
                </a:endParaRPr>
              </a:p>
            </p:txBody>
          </p:sp>
          <p:sp>
            <p:nvSpPr>
              <p:cNvPr id="84" name=""/>
              <p:cNvSpPr txBox="1"/>
              <p:nvPr/>
            </p:nvSpPr>
            <p:spPr>
              <a:xfrm>
                <a:off x="9194400" y="17056440"/>
                <a:ext cx="583560" cy="97884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2800" spc="-1" strike="noStrike">
                    <a:solidFill>
                      <a:srgbClr val="b4b400"/>
                    </a:solidFill>
                    <a:latin typeface="Chandas"/>
                    <a:ea typeface="Arial"/>
                  </a:rPr>
                  <a:t>γ</a:t>
                </a:r>
                <a:endParaRPr b="0" lang="en-US" sz="2800" spc="-1" strike="noStrike">
                  <a:solidFill>
                    <a:srgbClr val="b4b400"/>
                  </a:solidFill>
                  <a:latin typeface="Chandas"/>
                </a:endParaRPr>
              </a:p>
            </p:txBody>
          </p:sp>
          <p:sp>
            <p:nvSpPr>
              <p:cNvPr id="85" name=""/>
              <p:cNvSpPr txBox="1"/>
              <p:nvPr/>
            </p:nvSpPr>
            <p:spPr>
              <a:xfrm>
                <a:off x="9631800" y="19263240"/>
                <a:ext cx="583560" cy="97884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2800" spc="-1" strike="noStrike">
                    <a:solidFill>
                      <a:srgbClr val="b4b400"/>
                    </a:solidFill>
                    <a:latin typeface="Chandas"/>
                    <a:ea typeface="Arial"/>
                  </a:rPr>
                  <a:t>γ</a:t>
                </a:r>
                <a:endParaRPr b="0" lang="en-US" sz="2800" spc="-1" strike="noStrike">
                  <a:solidFill>
                    <a:srgbClr val="b4b400"/>
                  </a:solidFill>
                  <a:latin typeface="Chandas"/>
                </a:endParaRPr>
              </a:p>
            </p:txBody>
          </p:sp>
          <p:sp>
            <p:nvSpPr>
              <p:cNvPr id="86" name=""/>
              <p:cNvSpPr txBox="1"/>
              <p:nvPr/>
            </p:nvSpPr>
            <p:spPr>
              <a:xfrm>
                <a:off x="7815600" y="19196640"/>
                <a:ext cx="583560" cy="11037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3200" spc="-1" strike="noStrike">
                    <a:solidFill>
                      <a:srgbClr val="b4b400"/>
                    </a:solidFill>
                    <a:latin typeface="Chandas"/>
                    <a:ea typeface="Arial"/>
                  </a:rPr>
                  <a:t>γ</a:t>
                </a:r>
                <a:endParaRPr b="0" lang="en-US" sz="3200" spc="-1" strike="noStrike">
                  <a:solidFill>
                    <a:srgbClr val="b4b400"/>
                  </a:solidFill>
                  <a:latin typeface="Chandas"/>
                </a:endParaRPr>
              </a:p>
            </p:txBody>
          </p:sp>
          <p:sp>
            <p:nvSpPr>
              <p:cNvPr id="87" name=""/>
              <p:cNvSpPr txBox="1"/>
              <p:nvPr/>
            </p:nvSpPr>
            <p:spPr>
              <a:xfrm>
                <a:off x="3557160" y="20635200"/>
                <a:ext cx="3292200" cy="17053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2600" spc="-1" strike="noStrike">
                    <a:solidFill>
                      <a:srgbClr val="000000"/>
                    </a:solidFill>
                    <a:latin typeface="Quattrocento Sans"/>
                  </a:rPr>
                  <a:t>Targets:</a:t>
                </a:r>
                <a:endParaRPr b="0" lang="en-US" sz="2600" spc="-1" strike="noStrike">
                  <a:solidFill>
                    <a:srgbClr val="000000"/>
                  </a:solidFill>
                  <a:latin typeface="Quattrocento Sans"/>
                </a:endParaRPr>
              </a:p>
              <a:p>
                <a:r>
                  <a:rPr b="0" lang="en-US" sz="2600" spc="-1" strike="noStrike">
                    <a:solidFill>
                      <a:srgbClr val="000000"/>
                    </a:solidFill>
                    <a:latin typeface="Quattrocento Sans"/>
                  </a:rPr>
                  <a:t>CD</a:t>
                </a:r>
                <a:r>
                  <a:rPr b="0" lang="en-US" sz="2600" spc="-1" strike="noStrike" baseline="-8000">
                    <a:solidFill>
                      <a:srgbClr val="000000"/>
                    </a:solidFill>
                    <a:latin typeface="Quattrocento Sans"/>
                  </a:rPr>
                  <a:t>2</a:t>
                </a:r>
                <a:r>
                  <a:rPr b="0" lang="en-US" sz="2600" spc="-1" strike="noStrike">
                    <a:solidFill>
                      <a:srgbClr val="000000"/>
                    </a:solidFill>
                    <a:latin typeface="Quattrocento Sans"/>
                  </a:rPr>
                  <a:t> (0.5 mg / </a:t>
                </a:r>
                <a:r>
                  <a:rPr b="0" lang="en-US" sz="2600" spc="-1" strike="noStrike">
                    <a:solidFill>
                      <a:srgbClr val="000000"/>
                    </a:solidFill>
                    <a:latin typeface="Quattrocento Sans"/>
                  </a:rPr>
                  <a:t>cm</a:t>
                </a:r>
                <a:r>
                  <a:rPr b="0" lang="en-US" sz="2600" spc="-1" strike="noStrike" baseline="33000">
                    <a:solidFill>
                      <a:srgbClr val="000000"/>
                    </a:solidFill>
                    <a:latin typeface="Quattrocento Sans"/>
                  </a:rPr>
                  <a:t>2</a:t>
                </a:r>
                <a:r>
                  <a:rPr b="0" lang="en-US" sz="2600" spc="-1" strike="noStrike">
                    <a:solidFill>
                      <a:srgbClr val="000000"/>
                    </a:solidFill>
                    <a:latin typeface="Quattrocento Sans"/>
                  </a:rPr>
                  <a:t>)</a:t>
                </a:r>
                <a:endParaRPr b="0" lang="en-US" sz="2600" spc="-1" strike="noStrike">
                  <a:solidFill>
                    <a:srgbClr val="000000"/>
                  </a:solidFill>
                  <a:latin typeface="Quattrocento Sans"/>
                </a:endParaRPr>
              </a:p>
              <a:p>
                <a:r>
                  <a:rPr b="0" lang="en-US" sz="2600" spc="-1" strike="noStrike">
                    <a:solidFill>
                      <a:srgbClr val="000000"/>
                    </a:solidFill>
                    <a:latin typeface="Quattrocento Sans"/>
                  </a:rPr>
                  <a:t>CH</a:t>
                </a:r>
                <a:r>
                  <a:rPr b="0" lang="en-US" sz="2600" spc="-1" strike="noStrike" baseline="-8000">
                    <a:solidFill>
                      <a:srgbClr val="000000"/>
                    </a:solidFill>
                    <a:latin typeface="Quattrocento Sans"/>
                  </a:rPr>
                  <a:t>2</a:t>
                </a:r>
                <a:r>
                  <a:rPr b="0" lang="en-US" sz="2600" spc="-1" strike="noStrike">
                    <a:solidFill>
                      <a:srgbClr val="000000"/>
                    </a:solidFill>
                    <a:latin typeface="Quattrocento Sans"/>
                  </a:rPr>
                  <a:t> (5 mg / </a:t>
                </a:r>
                <a:r>
                  <a:rPr b="0" lang="en-US" sz="2600" spc="-1" strike="noStrike">
                    <a:solidFill>
                      <a:srgbClr val="000000"/>
                    </a:solidFill>
                    <a:latin typeface="Quattrocento Sans"/>
                  </a:rPr>
                  <a:t>cm</a:t>
                </a:r>
                <a:r>
                  <a:rPr b="0" lang="en-US" sz="2600" spc="-1" strike="noStrike" baseline="33000">
                    <a:solidFill>
                      <a:srgbClr val="000000"/>
                    </a:solidFill>
                    <a:latin typeface="Quattrocento Sans"/>
                  </a:rPr>
                  <a:t>2</a:t>
                </a:r>
                <a:r>
                  <a:rPr b="0" lang="en-US" sz="2600" spc="-1" strike="noStrike">
                    <a:solidFill>
                      <a:srgbClr val="000000"/>
                    </a:solidFill>
                    <a:latin typeface="Quattrocento Sans"/>
                  </a:rPr>
                  <a:t>)</a:t>
                </a:r>
                <a:endParaRPr b="0" lang="en-US" sz="2600" spc="-1" strike="noStrike">
                  <a:solidFill>
                    <a:srgbClr val="000000"/>
                  </a:solidFill>
                  <a:latin typeface="Quattrocento Sans"/>
                </a:endParaRPr>
              </a:p>
            </p:txBody>
          </p:sp>
          <p:sp>
            <p:nvSpPr>
              <p:cNvPr id="88" name=""/>
              <p:cNvSpPr txBox="1"/>
              <p:nvPr/>
            </p:nvSpPr>
            <p:spPr>
              <a:xfrm>
                <a:off x="1377360" y="19140120"/>
                <a:ext cx="4623480" cy="21549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2800" spc="-1" strike="noStrike">
                    <a:solidFill>
                      <a:srgbClr val="000000"/>
                    </a:solidFill>
                    <a:latin typeface="Quattrocento Sans"/>
                  </a:rPr>
                  <a:t>Beam @ LISE:</a:t>
                </a:r>
                <a:endParaRPr b="0" lang="en-US" sz="2800" spc="-1" strike="noStrike">
                  <a:solidFill>
                    <a:srgbClr val="000000"/>
                  </a:solidFill>
                  <a:latin typeface="Quattrocento Sans"/>
                </a:endParaRPr>
              </a:p>
              <a:p>
                <a:r>
                  <a:rPr b="0" lang="en-US" sz="2800" spc="-1" strike="noStrike">
                    <a:solidFill>
                      <a:srgbClr val="000000"/>
                    </a:solidFill>
                    <a:latin typeface="Quattrocento Sans"/>
                  </a:rPr>
                  <a:t>5x10</a:t>
                </a:r>
                <a:r>
                  <a:rPr b="0" lang="en-US" sz="2800" spc="-1" strike="noStrike" baseline="33000">
                    <a:solidFill>
                      <a:srgbClr val="000000"/>
                    </a:solidFill>
                    <a:latin typeface="Quattrocento Sans"/>
                  </a:rPr>
                  <a:t>4</a:t>
                </a:r>
                <a:r>
                  <a:rPr b="0" lang="en-US" sz="2800" spc="-1" strike="noStrike">
                    <a:solidFill>
                      <a:srgbClr val="000000"/>
                    </a:solidFill>
                    <a:latin typeface="Quattrocento Sans"/>
                  </a:rPr>
                  <a:t> pps ,~18 </a:t>
                </a:r>
                <a:r>
                  <a:rPr b="0" lang="en-US" sz="2800" spc="-1" strike="noStrike">
                    <a:solidFill>
                      <a:srgbClr val="000000"/>
                    </a:solidFill>
                    <a:latin typeface="Quattrocento Sans"/>
                  </a:rPr>
                  <a:t>MeV/u</a:t>
                </a:r>
                <a:endParaRPr b="0" lang="en-US" sz="2800" spc="-1" strike="noStrike">
                  <a:solidFill>
                    <a:srgbClr val="000000"/>
                  </a:solidFill>
                  <a:latin typeface="Quattrocento Sans"/>
                </a:endParaRPr>
              </a:p>
              <a:p>
                <a:r>
                  <a:rPr b="0" lang="en-US" sz="2800" spc="-1" strike="noStrike">
                    <a:solidFill>
                      <a:srgbClr val="000000"/>
                    </a:solidFill>
                    <a:latin typeface="Quattrocento Sans"/>
                  </a:rPr>
                  <a:t>2x10</a:t>
                </a:r>
                <a:r>
                  <a:rPr b="0" lang="en-US" sz="2800" spc="-1" strike="noStrike" baseline="33000">
                    <a:solidFill>
                      <a:srgbClr val="000000"/>
                    </a:solidFill>
                    <a:latin typeface="Quattrocento Sans"/>
                  </a:rPr>
                  <a:t>5</a:t>
                </a:r>
                <a:r>
                  <a:rPr b="0" lang="en-US" sz="2800" spc="-1" strike="noStrike">
                    <a:solidFill>
                      <a:srgbClr val="000000"/>
                    </a:solidFill>
                    <a:latin typeface="Quattrocento Sans"/>
                  </a:rPr>
                  <a:t> pps, ~38 </a:t>
                </a:r>
                <a:r>
                  <a:rPr b="0" lang="en-US" sz="2800" spc="-1" strike="noStrike">
                    <a:solidFill>
                      <a:srgbClr val="000000"/>
                    </a:solidFill>
                    <a:latin typeface="Quattrocento Sans"/>
                  </a:rPr>
                  <a:t>MeV/u</a:t>
                </a:r>
                <a:endParaRPr b="0" lang="en-US" sz="2800" spc="-1" strike="noStrike">
                  <a:solidFill>
                    <a:srgbClr val="000000"/>
                  </a:solidFill>
                  <a:latin typeface="Quattrocento Sans"/>
                </a:endParaRPr>
              </a:p>
            </p:txBody>
          </p:sp>
          <p:sp>
            <p:nvSpPr>
              <p:cNvPr id="89" name=""/>
              <p:cNvSpPr txBox="1"/>
              <p:nvPr/>
            </p:nvSpPr>
            <p:spPr>
              <a:xfrm>
                <a:off x="6904440" y="20640600"/>
                <a:ext cx="2916720" cy="12427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2600" spc="-1" strike="noStrike">
                    <a:solidFill>
                      <a:srgbClr val="000000"/>
                    </a:solidFill>
                    <a:latin typeface="Quattrocento Sans"/>
                  </a:rPr>
                  <a:t>Mis</a:t>
                </a:r>
                <a:r>
                  <a:rPr b="0" lang="en-US" sz="2600" spc="-1" strike="noStrike">
                    <a:solidFill>
                      <a:srgbClr val="000000"/>
                    </a:solidFill>
                    <a:latin typeface="Quattrocento Sans"/>
                  </a:rPr>
                  <a:t>sin</a:t>
                </a:r>
                <a:r>
                  <a:rPr b="0" lang="en-US" sz="2600" spc="-1" strike="noStrike">
                    <a:solidFill>
                      <a:srgbClr val="000000"/>
                    </a:solidFill>
                    <a:latin typeface="Quattrocento Sans"/>
                  </a:rPr>
                  <a:t>g </a:t>
                </a:r>
                <a:r>
                  <a:rPr b="0" lang="en-US" sz="2600" spc="-1" strike="noStrike">
                    <a:solidFill>
                      <a:srgbClr val="000000"/>
                    </a:solidFill>
                    <a:latin typeface="Quattrocento Sans"/>
                  </a:rPr>
                  <a:t>ma</a:t>
                </a:r>
                <a:r>
                  <a:rPr b="0" lang="en-US" sz="2600" spc="-1" strike="noStrike">
                    <a:solidFill>
                      <a:srgbClr val="000000"/>
                    </a:solidFill>
                    <a:latin typeface="Quattrocento Sans"/>
                  </a:rPr>
                  <a:t>ss:</a:t>
                </a:r>
                <a:endParaRPr b="0" lang="en-US" sz="2600" spc="-1" strike="noStrike">
                  <a:solidFill>
                    <a:srgbClr val="000000"/>
                  </a:solidFill>
                  <a:latin typeface="Quattrocento Sans"/>
                </a:endParaRPr>
              </a:p>
              <a:p>
                <a:r>
                  <a:rPr b="0" lang="en-US" sz="2600" spc="-1" strike="noStrike">
                    <a:solidFill>
                      <a:srgbClr val="000000"/>
                    </a:solidFill>
                    <a:latin typeface="Quattrocento Sans"/>
                  </a:rPr>
                  <a:t>Pro</a:t>
                </a:r>
                <a:r>
                  <a:rPr b="0" lang="en-US" sz="2600" spc="-1" strike="noStrike">
                    <a:solidFill>
                      <a:srgbClr val="000000"/>
                    </a:solidFill>
                    <a:latin typeface="Quattrocento Sans"/>
                  </a:rPr>
                  <a:t>ton</a:t>
                </a:r>
                <a:r>
                  <a:rPr b="0" lang="en-US" sz="2600" spc="-1" strike="noStrike">
                    <a:solidFill>
                      <a:srgbClr val="000000"/>
                    </a:solidFill>
                    <a:latin typeface="Quattrocento Sans"/>
                  </a:rPr>
                  <a:t>,</a:t>
                </a:r>
                <a:endParaRPr b="0" lang="en-US" sz="2600" spc="-1" strike="noStrike">
                  <a:solidFill>
                    <a:srgbClr val="000000"/>
                  </a:solidFill>
                  <a:latin typeface="Quattrocento Sans"/>
                </a:endParaRPr>
              </a:p>
              <a:p>
                <a:r>
                  <a:rPr b="0" lang="en-US" sz="2600" spc="-1" strike="noStrike">
                    <a:solidFill>
                      <a:srgbClr val="000000"/>
                    </a:solidFill>
                    <a:latin typeface="Quattrocento Sans"/>
                  </a:rPr>
                  <a:t>de</a:t>
                </a:r>
                <a:r>
                  <a:rPr b="0" lang="en-US" sz="2600" spc="-1" strike="noStrike">
                    <a:solidFill>
                      <a:srgbClr val="000000"/>
                    </a:solidFill>
                    <a:latin typeface="Quattrocento Sans"/>
                  </a:rPr>
                  <a:t>ute</a:t>
                </a:r>
                <a:r>
                  <a:rPr b="0" lang="en-US" sz="2600" spc="-1" strike="noStrike">
                    <a:solidFill>
                      <a:srgbClr val="000000"/>
                    </a:solidFill>
                    <a:latin typeface="Quattrocento Sans"/>
                  </a:rPr>
                  <a:t>ron</a:t>
                </a:r>
                <a:r>
                  <a:rPr b="0" lang="en-US" sz="2600" spc="-1" strike="noStrike">
                    <a:solidFill>
                      <a:srgbClr val="000000"/>
                    </a:solidFill>
                    <a:latin typeface="Quattrocento Sans"/>
                  </a:rPr>
                  <a:t>, </a:t>
                </a:r>
                <a:r>
                  <a:rPr b="0" lang="en-US" sz="2600" spc="-1" strike="noStrike">
                    <a:solidFill>
                      <a:srgbClr val="000000"/>
                    </a:solidFill>
                    <a:latin typeface="Quattrocento Sans"/>
                  </a:rPr>
                  <a:t>trit</a:t>
                </a:r>
                <a:r>
                  <a:rPr b="0" lang="en-US" sz="2600" spc="-1" strike="noStrike">
                    <a:solidFill>
                      <a:srgbClr val="000000"/>
                    </a:solidFill>
                    <a:latin typeface="Quattrocento Sans"/>
                  </a:rPr>
                  <a:t>on</a:t>
                </a:r>
                <a:endParaRPr b="0" lang="en-US" sz="2600" spc="-1" strike="noStrike">
                  <a:solidFill>
                    <a:srgbClr val="000000"/>
                  </a:solidFill>
                  <a:latin typeface="Quattrocento Sans"/>
                </a:endParaRPr>
              </a:p>
            </p:txBody>
          </p:sp>
          <p:sp>
            <p:nvSpPr>
              <p:cNvPr id="90" name=""/>
              <p:cNvSpPr/>
              <p:nvPr/>
            </p:nvSpPr>
            <p:spPr>
              <a:xfrm flipV="1">
                <a:off x="9194400" y="17780040"/>
                <a:ext cx="315360" cy="273600"/>
              </a:xfrm>
              <a:prstGeom prst="line">
                <a:avLst/>
              </a:prstGeom>
              <a:ln w="0">
                <a:solidFill>
                  <a:srgbClr val="000000"/>
                </a:solidFill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pic>
          <p:nvPicPr>
            <p:cNvPr id="91" name="" descr=""/>
            <p:cNvPicPr/>
            <p:nvPr/>
          </p:nvPicPr>
          <p:blipFill>
            <a:blip r:embed="rId4"/>
            <a:srcRect l="0" t="8202" r="0" b="0"/>
            <a:stretch/>
          </p:blipFill>
          <p:spPr>
            <a:xfrm>
              <a:off x="7680960" y="25448400"/>
              <a:ext cx="5001840" cy="32004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2" name=""/>
            <p:cNvSpPr/>
            <p:nvPr/>
          </p:nvSpPr>
          <p:spPr>
            <a:xfrm flipH="1">
              <a:off x="9281160" y="22895280"/>
              <a:ext cx="5715000" cy="731520"/>
            </a:xfrm>
            <a:prstGeom prst="line">
              <a:avLst/>
            </a:prstGeom>
            <a:ln cap="rnd" w="7632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" name=""/>
            <p:cNvSpPr/>
            <p:nvPr/>
          </p:nvSpPr>
          <p:spPr>
            <a:xfrm>
              <a:off x="4263840" y="23626800"/>
              <a:ext cx="5017320" cy="523440"/>
            </a:xfrm>
            <a:custGeom>
              <a:avLst/>
              <a:gdLst/>
              <a:ahLst/>
              <a:rect l="0" t="0" r="r" b="b"/>
              <a:pathLst>
                <a:path fill="none" w="13937" h="1454">
                  <a:moveTo>
                    <a:pt x="13937" y="0"/>
                  </a:moveTo>
                  <a:lnTo>
                    <a:pt x="6952" y="635"/>
                  </a:lnTo>
                  <a:lnTo>
                    <a:pt x="0" y="1454"/>
                  </a:lnTo>
                </a:path>
              </a:pathLst>
            </a:custGeom>
            <a:ln cap="rnd" w="76320">
              <a:solidFill>
                <a:srgbClr val="0000ff"/>
              </a:solidFill>
              <a:round/>
              <a:headEnd len="med" type="triangle" w="med"/>
            </a:ln>
          </p:spPr>
        </p:sp>
        <p:grpSp>
          <p:nvGrpSpPr>
            <p:cNvPr id="94" name=""/>
            <p:cNvGrpSpPr/>
            <p:nvPr/>
          </p:nvGrpSpPr>
          <p:grpSpPr>
            <a:xfrm>
              <a:off x="4186440" y="18369360"/>
              <a:ext cx="21214800" cy="8915040"/>
              <a:chOff x="4186440" y="18369360"/>
              <a:chExt cx="21214800" cy="8915040"/>
            </a:xfrm>
          </p:grpSpPr>
          <p:pic>
            <p:nvPicPr>
              <p:cNvPr id="95" name="" descr=""/>
              <p:cNvPicPr/>
              <p:nvPr/>
            </p:nvPicPr>
            <p:blipFill>
              <a:blip r:embed="rId5"/>
              <a:srcRect l="5490" t="11353" r="20777" b="18184"/>
              <a:stretch/>
            </p:blipFill>
            <p:spPr>
              <a:xfrm>
                <a:off x="8823960" y="18369360"/>
                <a:ext cx="16577280" cy="891504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96" name=""/>
              <p:cNvSpPr/>
              <p:nvPr/>
            </p:nvSpPr>
            <p:spPr>
              <a:xfrm flipV="1">
                <a:off x="16139160" y="22026600"/>
                <a:ext cx="6400800" cy="786240"/>
              </a:xfrm>
              <a:prstGeom prst="line">
                <a:avLst/>
              </a:prstGeom>
              <a:ln w="76320">
                <a:solidFill>
                  <a:srgbClr val="00ff00"/>
                </a:solidFill>
                <a:prstDash val="sysDot"/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7" name=""/>
              <p:cNvSpPr txBox="1"/>
              <p:nvPr/>
            </p:nvSpPr>
            <p:spPr>
              <a:xfrm rot="21161400">
                <a:off x="4218840" y="24168600"/>
                <a:ext cx="1371600" cy="60228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3600" spc="-1" strike="noStrike" baseline="33000">
                    <a:solidFill>
                      <a:srgbClr val="0000ff"/>
                    </a:solidFill>
                    <a:latin typeface="Arial"/>
                  </a:rPr>
                  <a:t>6</a:t>
                </a:r>
                <a:r>
                  <a:rPr b="0" lang="en-US" sz="3600" spc="-1" strike="noStrike" baseline="33000">
                    <a:solidFill>
                      <a:srgbClr val="0000ff"/>
                    </a:solidFill>
                    <a:latin typeface="Arial"/>
                  </a:rPr>
                  <a:t>8</a:t>
                </a:r>
                <a:r>
                  <a:rPr b="0" lang="en-US" sz="3600" spc="-1" strike="noStrike">
                    <a:solidFill>
                      <a:srgbClr val="0000ff"/>
                    </a:solidFill>
                    <a:latin typeface="Arial"/>
                  </a:rPr>
                  <a:t>N</a:t>
                </a:r>
                <a:r>
                  <a:rPr b="0" lang="en-US" sz="3600" spc="-1" strike="noStrike">
                    <a:solidFill>
                      <a:srgbClr val="0000ff"/>
                    </a:solidFill>
                    <a:latin typeface="Arial"/>
                  </a:rPr>
                  <a:t>i</a:t>
                </a:r>
                <a:endParaRPr b="0" lang="en-US" sz="3600" spc="-1" strike="noStrike">
                  <a:solidFill>
                    <a:srgbClr val="0000ff"/>
                  </a:solidFill>
                  <a:latin typeface="Arial"/>
                </a:endParaRPr>
              </a:p>
            </p:txBody>
          </p:sp>
          <p:sp>
            <p:nvSpPr>
              <p:cNvPr id="98" name=""/>
              <p:cNvSpPr/>
              <p:nvPr/>
            </p:nvSpPr>
            <p:spPr>
              <a:xfrm flipV="1">
                <a:off x="16139160" y="22026600"/>
                <a:ext cx="6400800" cy="786240"/>
              </a:xfrm>
              <a:prstGeom prst="line">
                <a:avLst/>
              </a:prstGeom>
              <a:ln w="38160">
                <a:solidFill>
                  <a:srgbClr val="00ff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pic>
          <p:nvPicPr>
            <p:cNvPr id="99" name="" descr=""/>
            <p:cNvPicPr/>
            <p:nvPr/>
          </p:nvPicPr>
          <p:blipFill>
            <a:blip r:embed="rId6"/>
            <a:stretch/>
          </p:blipFill>
          <p:spPr>
            <a:xfrm>
              <a:off x="24176880" y="21488400"/>
              <a:ext cx="5440680" cy="35571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0" name="" descr=""/>
            <p:cNvPicPr/>
            <p:nvPr/>
          </p:nvPicPr>
          <p:blipFill>
            <a:blip r:embed="rId7"/>
            <a:stretch/>
          </p:blipFill>
          <p:spPr>
            <a:xfrm>
              <a:off x="1271160" y="25143480"/>
              <a:ext cx="6181200" cy="33526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01" name=""/>
            <p:cNvSpPr txBox="1"/>
            <p:nvPr/>
          </p:nvSpPr>
          <p:spPr>
            <a:xfrm>
              <a:off x="1508760" y="22019400"/>
              <a:ext cx="5934600" cy="23950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>
                <a:buNone/>
              </a:pPr>
              <a:r>
                <a:rPr b="1" lang="en-US" sz="2600" spc="-1" strike="noStrike">
                  <a:solidFill>
                    <a:srgbClr val="0072e4"/>
                  </a:solidFill>
                  <a:latin typeface="Quattrocento Sans"/>
                </a:rPr>
                <a:t>CATS1 </a:t>
              </a:r>
              <a:r>
                <a:rPr b="1" lang="en-US" sz="2600" spc="-1" strike="noStrike">
                  <a:solidFill>
                    <a:srgbClr val="0072e4"/>
                  </a:solidFill>
                  <a:latin typeface="Quattrocento Sans"/>
                </a:rPr>
                <a:t>&amp;2  </a:t>
              </a:r>
              <a:endParaRPr b="0" lang="en-US" sz="2600" spc="-1" strike="noStrike">
                <a:solidFill>
                  <a:srgbClr val="000000"/>
                </a:solidFill>
                <a:latin typeface="Quattrocento Sans"/>
              </a:endParaRPr>
            </a:p>
            <a:p>
              <a:pPr marL="216000" indent="-216000">
                <a:buClr>
                  <a:srgbClr val="000000"/>
                </a:buClr>
                <a:buSzPct val="45000"/>
                <a:buFont typeface="Wingdings" charset="2"/>
                <a:buChar char=""/>
              </a:pP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Second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ary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beam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E=10-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50 MeV </a:t>
              </a:r>
              <a:endParaRPr b="0" lang="en-US" sz="2600" spc="-1" strike="noStrike">
                <a:solidFill>
                  <a:srgbClr val="000000"/>
                </a:solidFill>
                <a:latin typeface="Quattrocento Sans"/>
              </a:endParaRPr>
            </a:p>
            <a:p>
              <a:pPr marL="216000" indent="-216000">
                <a:buClr>
                  <a:srgbClr val="000000"/>
                </a:buClr>
                <a:buSzPct val="45000"/>
                <a:buFont typeface="Wingdings" charset="2"/>
                <a:buChar char=""/>
              </a:pP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reconst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ructed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position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on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target</a:t>
              </a:r>
              <a:endParaRPr b="0" lang="en-US" sz="2600" spc="-1" strike="noStrike">
                <a:solidFill>
                  <a:srgbClr val="000000"/>
                </a:solidFill>
                <a:latin typeface="Quattrocento Sans"/>
              </a:endParaRPr>
            </a:p>
            <a:p>
              <a:pPr marL="216000" indent="-216000">
                <a:buClr>
                  <a:srgbClr val="000000"/>
                </a:buClr>
                <a:buSzPct val="45000"/>
                <a:buFont typeface="Wingdings" charset="2"/>
                <a:buChar char=""/>
              </a:pP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Time of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flight</a:t>
              </a:r>
              <a:endParaRPr b="0" lang="en-US" sz="2600" spc="-1" strike="noStrike">
                <a:solidFill>
                  <a:srgbClr val="000000"/>
                </a:solidFill>
                <a:latin typeface="Quattrocento Sans"/>
              </a:endParaRPr>
            </a:p>
          </p:txBody>
        </p:sp>
        <p:sp>
          <p:nvSpPr>
            <p:cNvPr id="102" name=""/>
            <p:cNvSpPr txBox="1"/>
            <p:nvPr/>
          </p:nvSpPr>
          <p:spPr>
            <a:xfrm>
              <a:off x="14301360" y="25274160"/>
              <a:ext cx="3434760" cy="251496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763b00"/>
              </a:solidFill>
            </a:ln>
          </p:spPr>
          <p:txBody>
            <a:bodyPr lIns="90000" rIns="90000" tIns="45000" bIns="45000" anchor="t">
              <a:noAutofit/>
            </a:bodyPr>
            <a:p>
              <a:pPr>
                <a:lnSpc>
                  <a:spcPct val="115000"/>
                </a:lnSpc>
                <a:spcBef>
                  <a:spcPts val="283"/>
                </a:spcBef>
                <a:spcAft>
                  <a:spcPts val="283"/>
                </a:spcAft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For (d,t) &amp;(p,d)</a:t>
              </a:r>
              <a:endParaRPr b="0" lang="en-US" sz="2600" spc="-1" strike="noStrike">
                <a:solidFill>
                  <a:srgbClr val="000000"/>
                </a:solidFill>
                <a:latin typeface="Quattrocento Sans"/>
                <a:ea typeface="Noto Sans CJK SC"/>
              </a:endParaRPr>
            </a:p>
            <a:p>
              <a:pPr>
                <a:lnSpc>
                  <a:spcPct val="115000"/>
                </a:lnSpc>
                <a:spcBef>
                  <a:spcPts val="283"/>
                </a:spcBef>
                <a:spcAft>
                  <a:spcPts val="283"/>
                </a:spcAft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4 DSSSDs &amp; CsI </a:t>
              </a:r>
              <a:endParaRPr b="0" lang="en-US" sz="2600" spc="-1" strike="noStrike">
                <a:solidFill>
                  <a:srgbClr val="000000"/>
                </a:solidFill>
                <a:latin typeface="Quattrocento Sans"/>
                <a:ea typeface="Noto Sans CJK SC"/>
              </a:endParaRPr>
            </a:p>
            <a:p>
              <a:pPr>
                <a:lnSpc>
                  <a:spcPct val="115000"/>
                </a:lnSpc>
                <a:spcBef>
                  <a:spcPts val="283"/>
                </a:spcBef>
                <a:spcAft>
                  <a:spcPts val="283"/>
                </a:spcAft>
                <a:buNone/>
              </a:pPr>
              <a:r>
                <a:rPr b="1" lang="en-US" sz="2600" spc="-1" strike="noStrike">
                  <a:solidFill>
                    <a:srgbClr val="9e4f00"/>
                  </a:solidFill>
                  <a:latin typeface="Quattrocento Sans"/>
                </a:rPr>
                <a:t>MUST2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 @ 5</a:t>
              </a:r>
              <a:r>
                <a:rPr b="0" lang="en-US" sz="2600" spc="-1" strike="noStrike" baseline="33000">
                  <a:solidFill>
                    <a:srgbClr val="000000"/>
                  </a:solidFill>
                  <a:latin typeface="Quattrocento Sans"/>
                </a:rPr>
                <a:t>o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 – 40</a:t>
              </a:r>
              <a:r>
                <a:rPr b="0" lang="en-US" sz="2600" spc="-1" strike="noStrike" baseline="33000">
                  <a:solidFill>
                    <a:srgbClr val="000000"/>
                  </a:solidFill>
                  <a:latin typeface="Quattrocento Sans"/>
                </a:rPr>
                <a:t>o</a:t>
              </a:r>
              <a:endParaRPr b="0" lang="en-US" sz="2600" spc="-1" strike="noStrike">
                <a:solidFill>
                  <a:srgbClr val="000000"/>
                </a:solidFill>
                <a:latin typeface="Quattrocento Sans"/>
                <a:ea typeface="Noto Sans CJK SC"/>
              </a:endParaRPr>
            </a:p>
            <a:p>
              <a:pPr>
                <a:lnSpc>
                  <a:spcPct val="115000"/>
                </a:lnSpc>
                <a:spcBef>
                  <a:spcPts val="283"/>
                </a:spcBef>
                <a:spcAft>
                  <a:spcPts val="283"/>
                </a:spcAft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80% acceptance</a:t>
              </a:r>
              <a:endParaRPr b="0" lang="en-US" sz="2600" spc="-1" strike="noStrike">
                <a:solidFill>
                  <a:srgbClr val="000000"/>
                </a:solidFill>
                <a:latin typeface="Quattrocento Sans"/>
                <a:ea typeface="Noto Sans CJK SC"/>
              </a:endParaRPr>
            </a:p>
          </p:txBody>
        </p:sp>
        <p:sp>
          <p:nvSpPr>
            <p:cNvPr id="103" name=""/>
            <p:cNvSpPr txBox="1"/>
            <p:nvPr/>
          </p:nvSpPr>
          <p:spPr>
            <a:xfrm>
              <a:off x="14758560" y="18369360"/>
              <a:ext cx="4114800" cy="24429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>
                <a:lnSpc>
                  <a:spcPct val="115000"/>
                </a:lnSpc>
                <a:spcBef>
                  <a:spcPts val="283"/>
                </a:spcBef>
                <a:spcAft>
                  <a:spcPts val="283"/>
                </a:spcAft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For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(d,p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) </a:t>
              </a:r>
              <a:endParaRPr b="0" lang="en-US" sz="2600" spc="-1" strike="noStrike">
                <a:solidFill>
                  <a:srgbClr val="000000"/>
                </a:solidFill>
                <a:latin typeface="Quattrocento Sans"/>
                <a:ea typeface="Noto Sans CJK SC"/>
              </a:endParaRPr>
            </a:p>
            <a:p>
              <a:pPr>
                <a:lnSpc>
                  <a:spcPct val="115000"/>
                </a:lnSpc>
                <a:spcBef>
                  <a:spcPts val="283"/>
                </a:spcBef>
                <a:spcAft>
                  <a:spcPts val="283"/>
                </a:spcAft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5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trap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ezoi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dal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DSS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SDs </a:t>
              </a:r>
              <a:r>
                <a:rPr b="1" lang="en-US" sz="2600" spc="-1" strike="noStrike">
                  <a:solidFill>
                    <a:srgbClr val="000000"/>
                  </a:solidFill>
                  <a:latin typeface="Quattrocento Sans"/>
                </a:rPr>
                <a:t>MU</a:t>
              </a:r>
              <a:r>
                <a:rPr b="1" lang="en-US" sz="2600" spc="-1" strike="noStrike">
                  <a:solidFill>
                    <a:srgbClr val="000000"/>
                  </a:solidFill>
                  <a:latin typeface="Quattrocento Sans"/>
                </a:rPr>
                <a:t>GA</a:t>
              </a:r>
              <a:r>
                <a:rPr b="1" lang="en-US" sz="2600" spc="-1" strike="noStrike">
                  <a:solidFill>
                    <a:srgbClr val="000000"/>
                  </a:solidFill>
                  <a:latin typeface="Quattrocento Sans"/>
                </a:rPr>
                <a:t>ST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@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110</a:t>
              </a:r>
              <a:r>
                <a:rPr b="0" lang="en-US" sz="2600" spc="-1" strike="noStrike" baseline="33000">
                  <a:solidFill>
                    <a:srgbClr val="000000"/>
                  </a:solidFill>
                  <a:latin typeface="Quattrocento Sans"/>
                </a:rPr>
                <a:t>o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-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170</a:t>
              </a:r>
              <a:r>
                <a:rPr b="0" lang="en-US" sz="2600" spc="-1" strike="noStrike" baseline="33000">
                  <a:solidFill>
                    <a:srgbClr val="000000"/>
                  </a:solidFill>
                  <a:latin typeface="Quattrocento Sans"/>
                </a:rPr>
                <a:t>o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, </a:t>
              </a:r>
              <a:endParaRPr b="0" lang="en-US" sz="2600" spc="-1" strike="noStrike">
                <a:solidFill>
                  <a:srgbClr val="000000"/>
                </a:solidFill>
                <a:latin typeface="Quattrocento Sans"/>
                <a:ea typeface="Noto Sans CJK SC"/>
              </a:endParaRPr>
            </a:p>
            <a:p>
              <a:pPr>
                <a:lnSpc>
                  <a:spcPct val="115000"/>
                </a:lnSpc>
                <a:spcBef>
                  <a:spcPts val="283"/>
                </a:spcBef>
                <a:spcAft>
                  <a:spcPts val="283"/>
                </a:spcAft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60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%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acc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ept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anc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endParaRPr b="0" lang="en-US" sz="2600" spc="-1" strike="noStrike">
                <a:solidFill>
                  <a:srgbClr val="000000"/>
                </a:solidFill>
                <a:latin typeface="Quattrocento Sans"/>
                <a:ea typeface="Noto Sans CJK SC"/>
              </a:endParaRPr>
            </a:p>
          </p:txBody>
        </p:sp>
        <p:sp>
          <p:nvSpPr>
            <p:cNvPr id="104" name=""/>
            <p:cNvSpPr txBox="1"/>
            <p:nvPr/>
          </p:nvSpPr>
          <p:spPr>
            <a:xfrm>
              <a:off x="22997160" y="25045560"/>
              <a:ext cx="6629400" cy="35474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marL="216000" indent="-216000">
                <a:lnSpc>
                  <a:spcPct val="100000"/>
                </a:lnSpc>
                <a:buClr>
                  <a:srgbClr val="000000"/>
                </a:buClr>
                <a:buSzPct val="45000"/>
                <a:buFont typeface="Wingdings" charset="2"/>
                <a:buChar char=""/>
              </a:pPr>
              <a:r>
                <a:rPr b="1" lang="en-US" sz="2600" spc="-1" strike="noStrike">
                  <a:solidFill>
                    <a:srgbClr val="e47200"/>
                  </a:solidFill>
                  <a:latin typeface="Quattrocento Sans"/>
                </a:rPr>
                <a:t>Z</a:t>
              </a:r>
              <a:r>
                <a:rPr b="1" lang="en-US" sz="2600" spc="-1" strike="noStrike">
                  <a:solidFill>
                    <a:srgbClr val="e47200"/>
                  </a:solidFill>
                  <a:latin typeface="Quattrocento Sans"/>
                </a:rPr>
                <a:t>D</a:t>
              </a:r>
              <a:r>
                <a:rPr b="1" lang="en-US" sz="2600" spc="-1" strike="noStrike">
                  <a:solidFill>
                    <a:srgbClr val="e47200"/>
                  </a:solidFill>
                  <a:latin typeface="Quattrocento Sans"/>
                </a:rPr>
                <a:t>D</a:t>
              </a:r>
              <a:r>
                <a:rPr b="0" lang="en-US" sz="2600" spc="-1" strike="noStrike">
                  <a:solidFill>
                    <a:srgbClr val="e47200"/>
                  </a:solidFill>
                  <a:latin typeface="Quattrocento Sans"/>
                </a:rPr>
                <a:t>:</a:t>
              </a:r>
              <a:endParaRPr b="0" lang="en-US" sz="2600" spc="-1" strike="noStrike">
                <a:solidFill>
                  <a:srgbClr val="000000"/>
                </a:solidFill>
                <a:latin typeface="Quattrocento Sans"/>
              </a:endParaRPr>
            </a:p>
            <a:p>
              <a:pPr marL="216000" indent="-216000">
                <a:lnSpc>
                  <a:spcPct val="100000"/>
                </a:lnSpc>
                <a:buClr>
                  <a:srgbClr val="000000"/>
                </a:buClr>
                <a:buSzPct val="45000"/>
                <a:buFont typeface="Wingdings" charset="2"/>
                <a:buChar char=""/>
              </a:pP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Dr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ift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C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h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a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m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b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er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s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(</a:t>
              </a:r>
              <a:r>
                <a:rPr b="1" lang="en-US" sz="2600" spc="-1" strike="noStrike">
                  <a:solidFill>
                    <a:srgbClr val="000000"/>
                  </a:solidFill>
                  <a:latin typeface="Quattrocento Sans"/>
                </a:rPr>
                <a:t>D</a:t>
              </a:r>
              <a:r>
                <a:rPr b="1" lang="en-US" sz="2600" spc="-1" strike="noStrike">
                  <a:solidFill>
                    <a:srgbClr val="000000"/>
                  </a:solidFill>
                  <a:latin typeface="Quattrocento Sans"/>
                </a:rPr>
                <a:t>C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)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fo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r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X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Y 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m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as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ur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m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nt</a:t>
              </a:r>
              <a:endParaRPr b="0" lang="en-US" sz="2600" spc="-1" strike="noStrike">
                <a:solidFill>
                  <a:srgbClr val="000000"/>
                </a:solidFill>
                <a:latin typeface="Quattrocento Sans"/>
              </a:endParaRPr>
            </a:p>
            <a:p>
              <a:pPr marL="216000" indent="-216000">
                <a:lnSpc>
                  <a:spcPct val="100000"/>
                </a:lnSpc>
                <a:buClr>
                  <a:srgbClr val="000000"/>
                </a:buClr>
                <a:buSzPct val="45000"/>
                <a:buFont typeface="Wingdings" charset="2"/>
                <a:buChar char=""/>
              </a:pP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5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til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te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d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fo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ils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io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ni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zi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n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g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ch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a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m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b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er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s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(</a:t>
              </a:r>
              <a:r>
                <a:rPr b="1" lang="en-US" sz="2600" spc="-1" strike="noStrike">
                  <a:solidFill>
                    <a:srgbClr val="009e4f"/>
                  </a:solidFill>
                  <a:latin typeface="Quattrocento Sans"/>
                </a:rPr>
                <a:t>I</a:t>
              </a:r>
              <a:r>
                <a:rPr b="1" lang="en-US" sz="2600" spc="-1" strike="noStrike">
                  <a:solidFill>
                    <a:srgbClr val="009e4f"/>
                  </a:solidFill>
                  <a:latin typeface="Quattrocento Sans"/>
                </a:rPr>
                <a:t>C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)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fo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r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Δ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E </a:t>
              </a:r>
              <a:endParaRPr b="0" lang="en-US" sz="2600" spc="-1" strike="noStrike">
                <a:solidFill>
                  <a:srgbClr val="000000"/>
                </a:solidFill>
                <a:latin typeface="Quattrocento Sans"/>
              </a:endParaRPr>
            </a:p>
            <a:p>
              <a:pPr marL="216000" indent="-216000">
                <a:lnSpc>
                  <a:spcPct val="100000"/>
                </a:lnSpc>
                <a:buClr>
                  <a:srgbClr val="000000"/>
                </a:buClr>
                <a:buSzPct val="45000"/>
                <a:buFont typeface="Wingdings" charset="2"/>
                <a:buChar char=""/>
              </a:pP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5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Pl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as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ti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c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Sc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in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til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la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to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rs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(</a:t>
              </a:r>
              <a:r>
                <a:rPr b="1" lang="en-US" sz="2600" spc="-1" strike="noStrike">
                  <a:solidFill>
                    <a:srgbClr val="00caca"/>
                  </a:solidFill>
                  <a:latin typeface="Quattrocento Sans"/>
                  <a:ea typeface="Arial"/>
                </a:rPr>
                <a:t>P</a:t>
              </a:r>
              <a:r>
                <a:rPr b="1" lang="en-US" sz="2600" spc="-1" strike="noStrike">
                  <a:solidFill>
                    <a:srgbClr val="00caca"/>
                  </a:solidFill>
                  <a:latin typeface="Quattrocento Sans"/>
                  <a:ea typeface="Arial"/>
                </a:rPr>
                <a:t>L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)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fo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r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E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n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er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g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y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a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n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d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cl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e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a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n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u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p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th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e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re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ac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ti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o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n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re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si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d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u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e.</a:t>
              </a:r>
              <a:endParaRPr b="0" lang="en-US" sz="2600" spc="-1" strike="noStrike">
                <a:solidFill>
                  <a:srgbClr val="000000"/>
                </a:solidFill>
                <a:latin typeface="Quattrocento Sans"/>
              </a:endParaRPr>
            </a:p>
            <a:p>
              <a:pPr marL="216000" indent="-216000">
                <a:lnSpc>
                  <a:spcPct val="100000"/>
                </a:lnSpc>
                <a:buClr>
                  <a:srgbClr val="000000"/>
                </a:buClr>
                <a:buSzPct val="45000"/>
                <a:buFont typeface="Wingdings" charset="2"/>
                <a:buChar char=""/>
              </a:pP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1 </a:t>
              </a:r>
              <a:r>
                <a:rPr b="1" lang="en-US" sz="2600" spc="-1" strike="noStrike">
                  <a:solidFill>
                    <a:srgbClr val="ebc62d"/>
                  </a:solidFill>
                  <a:latin typeface="Quattrocento Sans"/>
                  <a:ea typeface="Arial"/>
                </a:rPr>
                <a:t>E</a:t>
              </a:r>
              <a:r>
                <a:rPr b="1" lang="en-US" sz="2600" spc="-1" strike="noStrike">
                  <a:solidFill>
                    <a:srgbClr val="ebc62d"/>
                  </a:solidFill>
                  <a:latin typeface="Quattrocento Sans"/>
                  <a:ea typeface="Arial"/>
                </a:rPr>
                <a:t>x</a:t>
              </a:r>
              <a:r>
                <a:rPr b="1" lang="en-US" sz="2600" spc="-1" strike="noStrike">
                  <a:solidFill>
                    <a:srgbClr val="ebc62d"/>
                  </a:solidFill>
                  <a:latin typeface="Quattrocento Sans"/>
                  <a:ea typeface="Arial"/>
                </a:rPr>
                <a:t>o</a:t>
              </a:r>
              <a:r>
                <a:rPr b="1" lang="en-US" sz="2600" spc="-1" strike="noStrike">
                  <a:solidFill>
                    <a:srgbClr val="ebc62d"/>
                  </a:solidFill>
                  <a:latin typeface="Quattrocento Sans"/>
                  <a:ea typeface="Arial"/>
                </a:rPr>
                <a:t>g</a:t>
              </a:r>
              <a:r>
                <a:rPr b="1" lang="en-US" sz="2600" spc="-1" strike="noStrike">
                  <a:solidFill>
                    <a:srgbClr val="ebc62d"/>
                  </a:solidFill>
                  <a:latin typeface="Quattrocento Sans"/>
                  <a:ea typeface="Arial"/>
                </a:rPr>
                <a:t>a</a:t>
              </a:r>
              <a:r>
                <a:rPr b="1" lang="en-US" sz="2600" spc="-1" strike="noStrike">
                  <a:solidFill>
                    <a:srgbClr val="ebc62d"/>
                  </a:solidFill>
                  <a:latin typeface="Quattrocento Sans"/>
                  <a:ea typeface="Arial"/>
                </a:rPr>
                <a:t>m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Cl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ov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er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(H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p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G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e)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fo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r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th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e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is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o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m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er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s</a:t>
              </a:r>
              <a:endParaRPr b="0" lang="en-US" sz="2600" spc="-1" strike="noStrike">
                <a:solidFill>
                  <a:srgbClr val="000000"/>
                </a:solidFill>
                <a:latin typeface="Quattrocento Sans"/>
              </a:endParaRPr>
            </a:p>
          </p:txBody>
        </p:sp>
        <p:sp>
          <p:nvSpPr>
            <p:cNvPr id="105" name=""/>
            <p:cNvSpPr txBox="1"/>
            <p:nvPr/>
          </p:nvSpPr>
          <p:spPr>
            <a:xfrm>
              <a:off x="26645760" y="22302360"/>
              <a:ext cx="251460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67Ni isomer 13.3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  <a:ea typeface="Arial"/>
                </a:rPr>
                <a:t>μ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  <a:ea typeface="Arial"/>
                </a:rPr>
                <a:t>s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6" name=""/>
            <p:cNvSpPr/>
            <p:nvPr/>
          </p:nvSpPr>
          <p:spPr>
            <a:xfrm flipH="1">
              <a:off x="17044560" y="23855400"/>
              <a:ext cx="466200" cy="1418760"/>
            </a:xfrm>
            <a:prstGeom prst="line">
              <a:avLst/>
            </a:prstGeom>
            <a:ln w="19080">
              <a:solidFill>
                <a:srgbClr val="9e4f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"/>
            <p:cNvSpPr/>
            <p:nvPr/>
          </p:nvSpPr>
          <p:spPr>
            <a:xfrm flipH="1">
              <a:off x="4275360" y="23977440"/>
              <a:ext cx="1348200" cy="172800"/>
            </a:xfrm>
            <a:prstGeom prst="line">
              <a:avLst/>
            </a:prstGeom>
            <a:ln cap="rnd" w="76320">
              <a:solidFill>
                <a:srgbClr val="0000ff"/>
              </a:solidFill>
              <a:round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 flipH="1">
              <a:off x="6540840" y="23855400"/>
              <a:ext cx="225720" cy="9000"/>
            </a:xfrm>
            <a:prstGeom prst="line">
              <a:avLst/>
            </a:prstGeom>
            <a:ln w="7632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 flipH="1">
              <a:off x="8826480" y="23618160"/>
              <a:ext cx="457200" cy="45720"/>
            </a:xfrm>
            <a:prstGeom prst="line">
              <a:avLst/>
            </a:prstGeom>
            <a:ln cap="rnd" w="7632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" name=""/>
            <p:cNvSpPr txBox="1"/>
            <p:nvPr/>
          </p:nvSpPr>
          <p:spPr>
            <a:xfrm>
              <a:off x="15901560" y="20473560"/>
              <a:ext cx="2057400" cy="828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1" lang="en-US" sz="2600" spc="-1" strike="noStrike">
                  <a:solidFill>
                    <a:srgbClr val="ff0000"/>
                  </a:solidFill>
                  <a:latin typeface="Arial"/>
                </a:rPr>
                <a:t>Target:</a:t>
              </a:r>
              <a:endParaRPr b="0" lang="en-US" sz="2600" spc="-1" strike="noStrike">
                <a:solidFill>
                  <a:srgbClr val="ff0000"/>
                </a:solidFill>
                <a:latin typeface="Arial"/>
              </a:endParaRPr>
            </a:p>
            <a:p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CD</a:t>
              </a:r>
              <a:r>
                <a:rPr b="0" lang="en-US" sz="2600" spc="-1" strike="noStrike" baseline="-8000">
                  <a:solidFill>
                    <a:srgbClr val="000000"/>
                  </a:solidFill>
                  <a:latin typeface="Arial"/>
                </a:rPr>
                <a:t>2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, CH</a:t>
              </a:r>
              <a:r>
                <a:rPr b="0" lang="en-US" sz="2600" spc="-1" strike="noStrike" baseline="-8000">
                  <a:solidFill>
                    <a:srgbClr val="000000"/>
                  </a:solidFill>
                  <a:latin typeface="Arial"/>
                </a:rPr>
                <a:t>2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endParaRPr b="0" lang="en-US" sz="2600" spc="-1" strike="noStrike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111" name=""/>
            <p:cNvSpPr txBox="1"/>
            <p:nvPr/>
          </p:nvSpPr>
          <p:spPr>
            <a:xfrm>
              <a:off x="11786760" y="16815960"/>
              <a:ext cx="4343400" cy="16268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spcBef>
                  <a:spcPts val="283"/>
                </a:spcBef>
                <a:spcAft>
                  <a:spcPts val="283"/>
                </a:spcAft>
                <a:buNone/>
              </a:pPr>
              <a:r>
                <a:rPr b="1" lang="en-US" sz="2600" spc="-1" strike="noStrike">
                  <a:solidFill>
                    <a:srgbClr val="ca00ca"/>
                  </a:solidFill>
                  <a:latin typeface="Quattrocento Sans"/>
                </a:rPr>
                <a:t>E</a:t>
              </a:r>
              <a:r>
                <a:rPr b="1" lang="en-US" sz="2600" spc="-1" strike="noStrike">
                  <a:solidFill>
                    <a:srgbClr val="ca00ca"/>
                  </a:solidFill>
                  <a:latin typeface="Quattrocento Sans"/>
                </a:rPr>
                <a:t>X</a:t>
              </a:r>
              <a:r>
                <a:rPr b="1" lang="en-US" sz="2600" spc="-1" strike="noStrike">
                  <a:solidFill>
                    <a:srgbClr val="ca00ca"/>
                  </a:solidFill>
                  <a:latin typeface="Quattrocento Sans"/>
                </a:rPr>
                <a:t>O</a:t>
              </a:r>
              <a:r>
                <a:rPr b="1" lang="en-US" sz="2600" spc="-1" strike="noStrike">
                  <a:solidFill>
                    <a:srgbClr val="ca00ca"/>
                  </a:solidFill>
                  <a:latin typeface="Quattrocento Sans"/>
                </a:rPr>
                <a:t>G</a:t>
              </a:r>
              <a:r>
                <a:rPr b="1" lang="en-US" sz="2600" spc="-1" strike="noStrike">
                  <a:solidFill>
                    <a:srgbClr val="ca00ca"/>
                  </a:solidFill>
                  <a:latin typeface="Quattrocento Sans"/>
                </a:rPr>
                <a:t>A</a:t>
              </a:r>
              <a:r>
                <a:rPr b="1" lang="en-US" sz="2600" spc="-1" strike="noStrike">
                  <a:solidFill>
                    <a:srgbClr val="ca00ca"/>
                  </a:solidFill>
                  <a:latin typeface="Quattrocento Sans"/>
                </a:rPr>
                <a:t>M</a:t>
              </a:r>
              <a:r>
                <a:rPr b="1" lang="en-US" sz="2600" spc="-1" strike="noStrike">
                  <a:solidFill>
                    <a:srgbClr val="ca00ca"/>
                  </a:solidFill>
                  <a:latin typeface="Quattrocento Sans"/>
                </a:rPr>
                <a:t>2</a:t>
              </a:r>
              <a:r>
                <a:rPr b="1" lang="en-US" sz="2600" spc="-1" strike="noStrike">
                  <a:solidFill>
                    <a:srgbClr val="ca00ca"/>
                  </a:solidFill>
                  <a:latin typeface="Quattrocento Sans"/>
                </a:rPr>
                <a:t>:</a:t>
              </a:r>
              <a:endParaRPr b="0" lang="en-US" sz="2600" spc="-1" strike="noStrike">
                <a:solidFill>
                  <a:srgbClr val="000000"/>
                </a:solidFill>
                <a:latin typeface="Quattrocento Sans"/>
                <a:ea typeface="Noto Sans CJK SC"/>
              </a:endParaRPr>
            </a:p>
            <a:p>
              <a:pPr>
                <a:lnSpc>
                  <a:spcPct val="100000"/>
                </a:lnSpc>
                <a:spcBef>
                  <a:spcPts val="283"/>
                </a:spcBef>
                <a:spcAft>
                  <a:spcPts val="283"/>
                </a:spcAft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1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2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H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p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G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C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l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o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v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r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s</a:t>
              </a:r>
              <a:endParaRPr b="0" lang="en-US" sz="2600" spc="-1" strike="noStrike">
                <a:solidFill>
                  <a:srgbClr val="000000"/>
                </a:solidFill>
                <a:latin typeface="Quattrocento Sans"/>
                <a:ea typeface="Noto Sans CJK SC"/>
              </a:endParaRPr>
            </a:p>
            <a:p>
              <a:pPr>
                <a:lnSpc>
                  <a:spcPct val="100000"/>
                </a:lnSpc>
                <a:spcBef>
                  <a:spcPts val="283"/>
                </a:spcBef>
                <a:spcAft>
                  <a:spcPts val="283"/>
                </a:spcAft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I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n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b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a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m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  <a:ea typeface="Arial"/>
                </a:rPr>
                <a:t>γ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m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a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s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u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r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m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n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rocento Sans"/>
                </a:rPr>
                <a:t>t</a:t>
              </a:r>
              <a:endParaRPr b="0" lang="en-US" sz="2600" spc="-1" strike="noStrike">
                <a:solidFill>
                  <a:srgbClr val="000000"/>
                </a:solidFill>
                <a:latin typeface="Quattrocento Sans"/>
                <a:ea typeface="Noto Sans CJK SC"/>
              </a:endParaRPr>
            </a:p>
          </p:txBody>
        </p:sp>
        <p:sp>
          <p:nvSpPr>
            <p:cNvPr id="112" name=""/>
            <p:cNvSpPr/>
            <p:nvPr/>
          </p:nvSpPr>
          <p:spPr>
            <a:xfrm flipV="1">
              <a:off x="16047720" y="21301920"/>
              <a:ext cx="320040" cy="1577160"/>
            </a:xfrm>
            <a:prstGeom prst="line">
              <a:avLst/>
            </a:prstGeom>
            <a:ln w="1908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22082760" y="23619600"/>
              <a:ext cx="1600200" cy="1378800"/>
            </a:xfrm>
            <a:prstGeom prst="line">
              <a:avLst/>
            </a:prstGeom>
            <a:ln w="29160">
              <a:solidFill>
                <a:srgbClr val="fe7f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" name=""/>
            <p:cNvSpPr/>
            <p:nvPr/>
          </p:nvSpPr>
          <p:spPr>
            <a:xfrm flipV="1">
              <a:off x="15672960" y="20244960"/>
              <a:ext cx="228600" cy="1828800"/>
            </a:xfrm>
            <a:prstGeom prst="line">
              <a:avLst/>
            </a:prstGeom>
            <a:ln w="29160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5" name=""/>
            <p:cNvSpPr txBox="1"/>
            <p:nvPr/>
          </p:nvSpPr>
          <p:spPr>
            <a:xfrm>
              <a:off x="1508760" y="36035280"/>
              <a:ext cx="13021200" cy="38149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endParaRPr b="0" lang="en-US" sz="3600" spc="-1" strike="noStrike">
                <a:solidFill>
                  <a:srgbClr val="000000"/>
                </a:solidFill>
                <a:latin typeface="Quattrocento Sans"/>
              </a:endParaRPr>
            </a:p>
            <a:p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(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a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)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K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i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n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m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a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t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i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c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c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u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r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v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f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o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r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 baseline="33000">
                  <a:solidFill>
                    <a:srgbClr val="000000"/>
                  </a:solidFill>
                  <a:latin typeface="Quattrocento Sans"/>
                </a:rPr>
                <a:t>6</a:t>
              </a:r>
              <a:r>
                <a:rPr b="0" lang="en-US" sz="3600" spc="-1" strike="noStrike" baseline="33000">
                  <a:solidFill>
                    <a:srgbClr val="000000"/>
                  </a:solidFill>
                  <a:latin typeface="Quattrocento Sans"/>
                </a:rPr>
                <a:t>8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N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i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(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d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,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p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)</a:t>
              </a:r>
              <a:r>
                <a:rPr b="0" lang="en-US" sz="3600" spc="-1" strike="noStrike" baseline="33000">
                  <a:solidFill>
                    <a:srgbClr val="000000"/>
                  </a:solidFill>
                  <a:latin typeface="Quattrocento Sans"/>
                </a:rPr>
                <a:t>6</a:t>
              </a:r>
              <a:r>
                <a:rPr b="0" lang="en-US" sz="3600" spc="-1" strike="noStrike" baseline="33000">
                  <a:solidFill>
                    <a:srgbClr val="000000"/>
                  </a:solidFill>
                  <a:latin typeface="Quattrocento Sans"/>
                </a:rPr>
                <a:t>9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N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i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r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a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c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t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i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o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n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.</a:t>
              </a:r>
              <a:endParaRPr b="0" lang="en-US" sz="3600" spc="-1" strike="noStrike">
                <a:solidFill>
                  <a:srgbClr val="000000"/>
                </a:solidFill>
                <a:latin typeface="Quattrocento Sans"/>
              </a:endParaRPr>
            </a:p>
            <a:p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(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b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)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x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s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p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c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t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r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u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m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d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i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s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p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l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a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y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s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s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o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m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s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t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a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t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s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o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n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t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o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p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o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f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d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u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t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r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o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n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b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r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a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k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u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p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a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b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o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v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S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n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,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w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h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i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c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h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w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i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l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l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b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s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u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b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t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r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a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c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t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d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l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a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t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r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.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R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o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u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g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h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s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u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p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p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r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s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s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i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o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n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o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f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C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a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r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b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o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n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-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i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n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d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u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c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d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r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a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c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t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i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o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n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h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a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s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b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n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a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p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p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l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i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d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.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 </a:t>
              </a:r>
              <a:endParaRPr b="0" lang="en-US" sz="3600" spc="-1" strike="noStrike">
                <a:solidFill>
                  <a:srgbClr val="000000"/>
                </a:solidFill>
                <a:latin typeface="Quattrocento Sans"/>
              </a:endParaRPr>
            </a:p>
          </p:txBody>
        </p:sp>
        <p:sp>
          <p:nvSpPr>
            <p:cNvPr id="116" name=""/>
            <p:cNvSpPr txBox="1"/>
            <p:nvPr/>
          </p:nvSpPr>
          <p:spPr>
            <a:xfrm>
              <a:off x="15444360" y="36690480"/>
              <a:ext cx="13944600" cy="33649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(a)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Ex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sp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ec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tru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m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wit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h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th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ro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ug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h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ca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rb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on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co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m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po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ne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nt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su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btr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ac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tio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n,i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ns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ert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de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ut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er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on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ga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te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d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g-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ra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y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sp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ec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tru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m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sh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ow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s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th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at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2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ex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cit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ed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st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at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es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ar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po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pu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lat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ed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.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Fu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rth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er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an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aly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sis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wil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l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op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ti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mi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ze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Ca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rb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on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su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btr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ac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tio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</a:rPr>
                <a:t>n. </a:t>
              </a:r>
              <a:endParaRPr b="0" lang="en-US" sz="3600" spc="-1" strike="noStrike">
                <a:solidFill>
                  <a:srgbClr val="000000"/>
                </a:solidFill>
                <a:latin typeface="Quattrocento Sans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(b)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Ki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ne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m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ati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cs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of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th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e </a:t>
              </a:r>
              <a:r>
                <a:rPr b="0" lang="en-US" sz="3600" spc="-1" strike="noStrike" baseline="33000">
                  <a:solidFill>
                    <a:srgbClr val="000000"/>
                  </a:solidFill>
                  <a:latin typeface="Quattrocento Sans"/>
                  <a:ea typeface="utkal"/>
                </a:rPr>
                <a:t>68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N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i(p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,d)</a:t>
              </a:r>
              <a:r>
                <a:rPr b="0" lang="en-US" sz="3600" spc="-1" strike="noStrike" baseline="33000">
                  <a:solidFill>
                    <a:srgbClr val="000000"/>
                  </a:solidFill>
                  <a:latin typeface="Quattrocento Sans"/>
                  <a:ea typeface="utkal"/>
                </a:rPr>
                <a:t>67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N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i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re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ac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tio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n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wit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h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cal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cul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at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ed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cu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rv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e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for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th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e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g.s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.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in 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re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rocento Sans"/>
                  <a:ea typeface="utkal"/>
                </a:rPr>
                <a:t>d.</a:t>
              </a:r>
              <a:endParaRPr b="0" lang="en-US" sz="3600" spc="-1" strike="noStrike">
                <a:solidFill>
                  <a:srgbClr val="000000"/>
                </a:solidFill>
                <a:latin typeface="Quattrocento Sans"/>
              </a:endParaRPr>
            </a:p>
          </p:txBody>
        </p:sp>
        <p:pic>
          <p:nvPicPr>
            <p:cNvPr id="117" name="" descr=""/>
            <p:cNvPicPr/>
            <p:nvPr/>
          </p:nvPicPr>
          <p:blipFill>
            <a:blip r:embed="rId8"/>
            <a:stretch/>
          </p:blipFill>
          <p:spPr>
            <a:xfrm>
              <a:off x="23951880" y="16769160"/>
              <a:ext cx="5437080" cy="34758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18" name="" descr=""/>
            <p:cNvPicPr/>
            <p:nvPr/>
          </p:nvPicPr>
          <p:blipFill>
            <a:blip r:embed="rId9"/>
            <a:stretch/>
          </p:blipFill>
          <p:spPr>
            <a:xfrm>
              <a:off x="18550800" y="16741080"/>
              <a:ext cx="5440680" cy="34747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19" name="" descr=""/>
            <p:cNvPicPr/>
            <p:nvPr/>
          </p:nvPicPr>
          <p:blipFill>
            <a:blip r:embed="rId10"/>
            <a:srcRect l="0" t="6475" r="9094" b="0"/>
            <a:stretch/>
          </p:blipFill>
          <p:spPr>
            <a:xfrm>
              <a:off x="15672960" y="32031720"/>
              <a:ext cx="6857640" cy="45100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20" name="" descr=""/>
            <p:cNvPicPr/>
            <p:nvPr/>
          </p:nvPicPr>
          <p:blipFill>
            <a:blip r:embed="rId11"/>
            <a:stretch/>
          </p:blipFill>
          <p:spPr>
            <a:xfrm>
              <a:off x="18873360" y="31042440"/>
              <a:ext cx="4114800" cy="26305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1" name=""/>
            <p:cNvSpPr txBox="1"/>
            <p:nvPr/>
          </p:nvSpPr>
          <p:spPr>
            <a:xfrm>
              <a:off x="21571200" y="30531960"/>
              <a:ext cx="3173760" cy="6220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4000" spc="-1" strike="noStrike" baseline="33000">
                  <a:solidFill>
                    <a:srgbClr val="ff0000"/>
                  </a:solidFill>
                  <a:latin typeface="Quatarotta Sans"/>
                </a:rPr>
                <a:t>68</a:t>
              </a:r>
              <a:r>
                <a:rPr b="0" lang="en-US" sz="4000" spc="-1" strike="noStrike">
                  <a:solidFill>
                    <a:srgbClr val="ff0000"/>
                  </a:solidFill>
                  <a:latin typeface="Quatarotta Sans"/>
                </a:rPr>
                <a:t>N</a:t>
              </a:r>
              <a:r>
                <a:rPr b="0" lang="en-US" sz="4000" spc="-1" strike="noStrike">
                  <a:solidFill>
                    <a:srgbClr val="ff0000"/>
                  </a:solidFill>
                  <a:latin typeface="Quatarotta Sans"/>
                </a:rPr>
                <a:t>i(p</a:t>
              </a:r>
              <a:r>
                <a:rPr b="0" lang="en-US" sz="4000" spc="-1" strike="noStrike">
                  <a:solidFill>
                    <a:srgbClr val="ff0000"/>
                  </a:solidFill>
                  <a:latin typeface="Quatarotta Sans"/>
                </a:rPr>
                <a:t>,d)</a:t>
              </a:r>
              <a:r>
                <a:rPr b="0" lang="en-US" sz="4000" spc="-1" strike="noStrike" baseline="33000">
                  <a:solidFill>
                    <a:srgbClr val="ff0000"/>
                  </a:solidFill>
                  <a:latin typeface="Quatarotta Sans"/>
                </a:rPr>
                <a:t>67</a:t>
              </a:r>
              <a:r>
                <a:rPr b="0" lang="en-US" sz="4000" spc="-1" strike="noStrike">
                  <a:solidFill>
                    <a:srgbClr val="ff0000"/>
                  </a:solidFill>
                  <a:latin typeface="Quatarotta Sans"/>
                </a:rPr>
                <a:t>N</a:t>
              </a:r>
              <a:r>
                <a:rPr b="0" lang="en-US" sz="4000" spc="-1" strike="noStrike">
                  <a:solidFill>
                    <a:srgbClr val="ff0000"/>
                  </a:solidFill>
                  <a:latin typeface="Quatarotta Sans"/>
                </a:rPr>
                <a:t>i</a:t>
              </a:r>
              <a:endParaRPr b="0" lang="en-US" sz="4000" spc="-1" strike="noStrike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122" name=""/>
            <p:cNvSpPr txBox="1"/>
            <p:nvPr/>
          </p:nvSpPr>
          <p:spPr>
            <a:xfrm>
              <a:off x="16587360" y="32275080"/>
              <a:ext cx="685800" cy="5428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3200" spc="-1" strike="noStrike">
                  <a:solidFill>
                    <a:srgbClr val="000000"/>
                  </a:solidFill>
                  <a:latin typeface="Arial"/>
                </a:rPr>
                <a:t>(a)</a:t>
              </a:r>
              <a:endParaRPr b="0" lang="en-US" sz="3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23" name="" descr=""/>
            <p:cNvPicPr/>
            <p:nvPr/>
          </p:nvPicPr>
          <p:blipFill>
            <a:blip r:embed="rId12"/>
            <a:srcRect l="0" t="6489" r="6809" b="0"/>
            <a:stretch/>
          </p:blipFill>
          <p:spPr>
            <a:xfrm>
              <a:off x="22759560" y="32031720"/>
              <a:ext cx="6849000" cy="43938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"/>
            <p:cNvSpPr txBox="1"/>
            <p:nvPr/>
          </p:nvSpPr>
          <p:spPr>
            <a:xfrm>
              <a:off x="23902560" y="32275080"/>
              <a:ext cx="685800" cy="5428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3200" spc="-1" strike="noStrike">
                  <a:solidFill>
                    <a:srgbClr val="000000"/>
                  </a:solidFill>
                  <a:latin typeface="Arial"/>
                </a:rPr>
                <a:t>(</a:t>
              </a:r>
              <a:r>
                <a:rPr b="0" lang="en-US" sz="3200" spc="-1" strike="noStrike">
                  <a:solidFill>
                    <a:srgbClr val="000000"/>
                  </a:solidFill>
                  <a:latin typeface="Arial"/>
                </a:rPr>
                <a:t>b</a:t>
              </a:r>
              <a:r>
                <a:rPr b="0" lang="en-US" sz="3200" spc="-1" strike="noStrike">
                  <a:solidFill>
                    <a:srgbClr val="000000"/>
                  </a:solidFill>
                  <a:latin typeface="Arial"/>
                </a:rPr>
                <a:t>)</a:t>
              </a:r>
              <a:endParaRPr b="0" lang="en-US" sz="3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5" name=""/>
            <p:cNvSpPr txBox="1"/>
            <p:nvPr/>
          </p:nvSpPr>
          <p:spPr>
            <a:xfrm>
              <a:off x="6783840" y="30531960"/>
              <a:ext cx="3173760" cy="6220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4000" spc="-1" strike="noStrike" baseline="33000">
                  <a:solidFill>
                    <a:srgbClr val="ff0000"/>
                  </a:solidFill>
                  <a:latin typeface="Quatarotta Sans"/>
                </a:rPr>
                <a:t>68</a:t>
              </a:r>
              <a:r>
                <a:rPr b="0" lang="en-US" sz="4000" spc="-1" strike="noStrike">
                  <a:solidFill>
                    <a:srgbClr val="ff0000"/>
                  </a:solidFill>
                  <a:latin typeface="Quatarotta Sans"/>
                </a:rPr>
                <a:t>Ni(</a:t>
              </a:r>
              <a:r>
                <a:rPr b="0" lang="en-US" sz="4000" spc="-1" strike="noStrike">
                  <a:solidFill>
                    <a:srgbClr val="ff0000"/>
                  </a:solidFill>
                  <a:latin typeface="Quatarotta Sans"/>
                </a:rPr>
                <a:t>d,p)</a:t>
              </a:r>
              <a:r>
                <a:rPr b="0" lang="en-US" sz="4000" spc="-1" strike="noStrike" baseline="33000">
                  <a:solidFill>
                    <a:srgbClr val="ff0000"/>
                  </a:solidFill>
                  <a:latin typeface="Quatarotta Sans"/>
                </a:rPr>
                <a:t>69</a:t>
              </a:r>
              <a:r>
                <a:rPr b="0" lang="en-US" sz="4000" spc="-1" strike="noStrike">
                  <a:solidFill>
                    <a:srgbClr val="ff0000"/>
                  </a:solidFill>
                  <a:latin typeface="Quatarotta Sans"/>
                </a:rPr>
                <a:t>Ni</a:t>
              </a:r>
              <a:endParaRPr b="0" lang="en-US" sz="4000" spc="-1" strike="noStrike">
                <a:solidFill>
                  <a:srgbClr val="ff0000"/>
                </a:solidFill>
                <a:latin typeface="Arial"/>
              </a:endParaRPr>
            </a:p>
          </p:txBody>
        </p:sp>
        <p:pic>
          <p:nvPicPr>
            <p:cNvPr id="126" name="" descr=""/>
            <p:cNvPicPr/>
            <p:nvPr/>
          </p:nvPicPr>
          <p:blipFill>
            <a:blip r:embed="rId13"/>
            <a:srcRect l="0" t="2253" r="4117" b="0"/>
            <a:stretch/>
          </p:blipFill>
          <p:spPr>
            <a:xfrm>
              <a:off x="17736120" y="25274160"/>
              <a:ext cx="5261040" cy="3429000"/>
            </a:xfrm>
            <a:prstGeom prst="rect">
              <a:avLst/>
            </a:prstGeom>
            <a:ln w="0">
              <a:solidFill>
                <a:srgbClr val="763b00"/>
              </a:solidFill>
            </a:ln>
          </p:spPr>
        </p:pic>
        <p:sp>
          <p:nvSpPr>
            <p:cNvPr id="127" name=""/>
            <p:cNvSpPr/>
            <p:nvPr/>
          </p:nvSpPr>
          <p:spPr>
            <a:xfrm>
              <a:off x="17510760" y="23850720"/>
              <a:ext cx="448200" cy="1423440"/>
            </a:xfrm>
            <a:prstGeom prst="line">
              <a:avLst/>
            </a:prstGeom>
            <a:ln w="19080">
              <a:solidFill>
                <a:srgbClr val="9e4f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28" name=""/>
            <p:cNvGrpSpPr/>
            <p:nvPr/>
          </p:nvGrpSpPr>
          <p:grpSpPr>
            <a:xfrm>
              <a:off x="922680" y="31866480"/>
              <a:ext cx="7206480" cy="4609080"/>
              <a:chOff x="922680" y="31866480"/>
              <a:chExt cx="7206480" cy="4609080"/>
            </a:xfrm>
          </p:grpSpPr>
          <p:pic>
            <p:nvPicPr>
              <p:cNvPr id="129" name="" descr=""/>
              <p:cNvPicPr/>
              <p:nvPr/>
            </p:nvPicPr>
            <p:blipFill>
              <a:blip r:embed="rId14"/>
              <a:srcRect l="0" t="7208" r="7251" b="0"/>
              <a:stretch/>
            </p:blipFill>
            <p:spPr>
              <a:xfrm>
                <a:off x="922680" y="31866480"/>
                <a:ext cx="7206480" cy="460908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130" name=""/>
              <p:cNvSpPr txBox="1"/>
              <p:nvPr/>
            </p:nvSpPr>
            <p:spPr>
              <a:xfrm>
                <a:off x="6986160" y="32132160"/>
                <a:ext cx="685800" cy="54288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</a:rPr>
                  <a:t>(a)</a:t>
                </a:r>
                <a:endParaRPr b="0" lang="en-US" sz="32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1" name=""/>
              <p:cNvSpPr/>
              <p:nvPr/>
            </p:nvSpPr>
            <p:spPr>
              <a:xfrm rot="2583000">
                <a:off x="3314160" y="33233760"/>
                <a:ext cx="200520" cy="2012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5400" y="0"/>
                    </a:moveTo>
                    <a:lnTo>
                      <a:pt x="5400" y="16200"/>
                    </a:lnTo>
                    <a:lnTo>
                      <a:pt x="0" y="16200"/>
                    </a:lnTo>
                    <a:lnTo>
                      <a:pt x="10800" y="21600"/>
                    </a:lnTo>
                    <a:lnTo>
                      <a:pt x="21600" y="16200"/>
                    </a:lnTo>
                    <a:lnTo>
                      <a:pt x="16200" y="16200"/>
                    </a:lnTo>
                    <a:lnTo>
                      <a:pt x="16200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2" name=""/>
              <p:cNvSpPr/>
              <p:nvPr/>
            </p:nvSpPr>
            <p:spPr>
              <a:xfrm rot="1682400">
                <a:off x="4730760" y="33987240"/>
                <a:ext cx="200520" cy="2012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5400" y="0"/>
                    </a:moveTo>
                    <a:lnTo>
                      <a:pt x="5400" y="16200"/>
                    </a:lnTo>
                    <a:lnTo>
                      <a:pt x="0" y="16200"/>
                    </a:lnTo>
                    <a:lnTo>
                      <a:pt x="10800" y="21600"/>
                    </a:lnTo>
                    <a:lnTo>
                      <a:pt x="21600" y="16200"/>
                    </a:lnTo>
                    <a:lnTo>
                      <a:pt x="16200" y="16200"/>
                    </a:lnTo>
                    <a:lnTo>
                      <a:pt x="16200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3" name=""/>
              <p:cNvSpPr/>
              <p:nvPr/>
            </p:nvSpPr>
            <p:spPr>
              <a:xfrm rot="785400">
                <a:off x="6106320" y="34364880"/>
                <a:ext cx="200520" cy="199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5400" y="0"/>
                    </a:moveTo>
                    <a:lnTo>
                      <a:pt x="5400" y="16200"/>
                    </a:lnTo>
                    <a:lnTo>
                      <a:pt x="0" y="16200"/>
                    </a:lnTo>
                    <a:lnTo>
                      <a:pt x="10800" y="21600"/>
                    </a:lnTo>
                    <a:lnTo>
                      <a:pt x="21600" y="16200"/>
                    </a:lnTo>
                    <a:lnTo>
                      <a:pt x="16200" y="16200"/>
                    </a:lnTo>
                    <a:lnTo>
                      <a:pt x="16200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4" name=""/>
              <p:cNvSpPr txBox="1"/>
              <p:nvPr/>
            </p:nvSpPr>
            <p:spPr>
              <a:xfrm>
                <a:off x="6986160" y="33732360"/>
                <a:ext cx="914400" cy="4593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2600" spc="-1" strike="noStrike">
                    <a:solidFill>
                      <a:srgbClr val="000000"/>
                    </a:solidFill>
                    <a:latin typeface="Arial"/>
                  </a:rPr>
                  <a:t>g.s.</a:t>
                </a:r>
                <a:endParaRPr b="0" lang="en-US" sz="26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5" name=""/>
              <p:cNvSpPr txBox="1"/>
              <p:nvPr/>
            </p:nvSpPr>
            <p:spPr>
              <a:xfrm>
                <a:off x="6300360" y="34418160"/>
                <a:ext cx="1600200" cy="4593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2600" spc="-1" strike="noStrike">
                    <a:solidFill>
                      <a:srgbClr val="000000"/>
                    </a:solidFill>
                    <a:latin typeface="Arial"/>
                  </a:rPr>
                  <a:t>2.7 MeV</a:t>
                </a:r>
                <a:endParaRPr b="0" lang="en-US" sz="26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pic>
          <p:nvPicPr>
            <p:cNvPr id="136" name="" descr=""/>
            <p:cNvPicPr/>
            <p:nvPr/>
          </p:nvPicPr>
          <p:blipFill>
            <a:blip r:embed="rId15"/>
            <a:srcRect l="0" t="9207" r="8909" b="0"/>
            <a:stretch/>
          </p:blipFill>
          <p:spPr>
            <a:xfrm>
              <a:off x="8259840" y="32036040"/>
              <a:ext cx="6851520" cy="44395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37" name=""/>
            <p:cNvSpPr txBox="1"/>
            <p:nvPr/>
          </p:nvSpPr>
          <p:spPr>
            <a:xfrm>
              <a:off x="14072760" y="32275080"/>
              <a:ext cx="685800" cy="5428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3200" spc="-1" strike="noStrike">
                  <a:solidFill>
                    <a:srgbClr val="000000"/>
                  </a:solidFill>
                  <a:latin typeface="Arial"/>
                </a:rPr>
                <a:t>(b)</a:t>
              </a:r>
              <a:endParaRPr b="0" lang="en-US" sz="3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8" name=""/>
          <p:cNvGrpSpPr/>
          <p:nvPr/>
        </p:nvGrpSpPr>
        <p:grpSpPr>
          <a:xfrm>
            <a:off x="12472560" y="6527160"/>
            <a:ext cx="11934360" cy="7462080"/>
            <a:chOff x="12472560" y="6527160"/>
            <a:chExt cx="11934360" cy="7462080"/>
          </a:xfrm>
        </p:grpSpPr>
        <p:grpSp>
          <p:nvGrpSpPr>
            <p:cNvPr id="139" name=""/>
            <p:cNvGrpSpPr/>
            <p:nvPr/>
          </p:nvGrpSpPr>
          <p:grpSpPr>
            <a:xfrm>
              <a:off x="12472560" y="6527160"/>
              <a:ext cx="5257800" cy="5716800"/>
              <a:chOff x="12472560" y="6527160"/>
              <a:chExt cx="5257800" cy="5716800"/>
            </a:xfrm>
          </p:grpSpPr>
          <p:sp>
            <p:nvSpPr>
              <p:cNvPr id="140" name=""/>
              <p:cNvSpPr/>
              <p:nvPr/>
            </p:nvSpPr>
            <p:spPr>
              <a:xfrm>
                <a:off x="14259240" y="11540160"/>
                <a:ext cx="2095560" cy="0"/>
              </a:xfrm>
              <a:prstGeom prst="line">
                <a:avLst/>
              </a:prstGeom>
              <a:ln w="381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41" name=""/>
              <p:cNvSpPr/>
              <p:nvPr/>
            </p:nvSpPr>
            <p:spPr>
              <a:xfrm>
                <a:off x="14259240" y="6789960"/>
                <a:ext cx="2095920" cy="0"/>
              </a:xfrm>
              <a:prstGeom prst="line">
                <a:avLst/>
              </a:prstGeom>
              <a:ln w="381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42" name=""/>
              <p:cNvSpPr/>
              <p:nvPr/>
            </p:nvSpPr>
            <p:spPr>
              <a:xfrm>
                <a:off x="14157000" y="9600840"/>
                <a:ext cx="2166840" cy="0"/>
              </a:xfrm>
              <a:prstGeom prst="line">
                <a:avLst/>
              </a:prstGeom>
              <a:ln w="381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43" name=""/>
              <p:cNvSpPr/>
              <p:nvPr/>
            </p:nvSpPr>
            <p:spPr>
              <a:xfrm>
                <a:off x="14114160" y="8729280"/>
                <a:ext cx="2252520" cy="0"/>
              </a:xfrm>
              <a:prstGeom prst="line">
                <a:avLst/>
              </a:prstGeom>
              <a:ln w="7632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44" name=""/>
              <p:cNvSpPr txBox="1"/>
              <p:nvPr/>
            </p:nvSpPr>
            <p:spPr>
              <a:xfrm>
                <a:off x="16354800" y="11355480"/>
                <a:ext cx="838440" cy="54288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</a:rPr>
                  <a:t>0.0</a:t>
                </a:r>
                <a:endParaRPr b="0" lang="en-US" sz="32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5" name=""/>
              <p:cNvSpPr txBox="1"/>
              <p:nvPr/>
            </p:nvSpPr>
            <p:spPr>
              <a:xfrm>
                <a:off x="16354800" y="9444600"/>
                <a:ext cx="1146960" cy="995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</a:rPr>
                  <a:t>697</a:t>
                </a:r>
                <a:endParaRPr b="0" lang="en-US" sz="32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6" name=""/>
              <p:cNvSpPr txBox="1"/>
              <p:nvPr/>
            </p:nvSpPr>
            <p:spPr>
              <a:xfrm>
                <a:off x="16354800" y="8517240"/>
                <a:ext cx="1256040" cy="8715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</a:rPr>
                  <a:t>1007</a:t>
                </a:r>
                <a:endParaRPr b="0" lang="en-US" sz="32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7" name=""/>
              <p:cNvSpPr txBox="1"/>
              <p:nvPr/>
            </p:nvSpPr>
            <p:spPr>
              <a:xfrm>
                <a:off x="16354800" y="6561360"/>
                <a:ext cx="1375560" cy="995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</a:rPr>
                  <a:t>1710</a:t>
                </a:r>
                <a:endParaRPr b="0" lang="en-US" sz="32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8" name=""/>
              <p:cNvSpPr txBox="1"/>
              <p:nvPr/>
            </p:nvSpPr>
            <p:spPr>
              <a:xfrm>
                <a:off x="13420800" y="11311560"/>
                <a:ext cx="838440" cy="54288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pPr algn="r">
                  <a:buNone/>
                </a:pPr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</a:rPr>
                  <a:t>1/2</a:t>
                </a:r>
                <a:r>
                  <a:rPr b="0" lang="en-US" sz="3200" spc="-1" strike="noStrike" baseline="33000">
                    <a:solidFill>
                      <a:srgbClr val="000000"/>
                    </a:solidFill>
                    <a:latin typeface="Arial"/>
                  </a:rPr>
                  <a:t>-</a:t>
                </a:r>
                <a:endParaRPr b="0" lang="en-US" sz="32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9" name=""/>
              <p:cNvSpPr txBox="1"/>
              <p:nvPr/>
            </p:nvSpPr>
            <p:spPr>
              <a:xfrm>
                <a:off x="13158360" y="9332640"/>
                <a:ext cx="963360" cy="995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pPr algn="r">
                  <a:buNone/>
                </a:pPr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</a:rPr>
                  <a:t>5/2</a:t>
                </a:r>
                <a:r>
                  <a:rPr b="0" lang="en-US" sz="3200" spc="-1" strike="noStrike" baseline="33000">
                    <a:solidFill>
                      <a:srgbClr val="000000"/>
                    </a:solidFill>
                    <a:latin typeface="Arial"/>
                  </a:rPr>
                  <a:t>-</a:t>
                </a:r>
                <a:endParaRPr b="0" lang="en-US" sz="32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0" name=""/>
              <p:cNvSpPr txBox="1"/>
              <p:nvPr/>
            </p:nvSpPr>
            <p:spPr>
              <a:xfrm>
                <a:off x="12472560" y="8244720"/>
                <a:ext cx="1663560" cy="127188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pPr algn="r">
                  <a:buNone/>
                </a:pPr>
                <a:r>
                  <a:rPr b="0" lang="en-US" sz="3200" spc="-1" strike="noStrike">
                    <a:solidFill>
                      <a:srgbClr val="ff0000"/>
                    </a:solidFill>
                    <a:latin typeface="Arial"/>
                  </a:rPr>
                  <a:t>13.3 </a:t>
                </a:r>
                <a:r>
                  <a:rPr b="0" lang="en-US" sz="3200" spc="-1" strike="noStrike">
                    <a:solidFill>
                      <a:srgbClr val="ff0000"/>
                    </a:solidFill>
                    <a:latin typeface="Arial"/>
                    <a:ea typeface="Arial"/>
                  </a:rPr>
                  <a:t>μ</a:t>
                </a:r>
                <a:r>
                  <a:rPr b="0" lang="en-US" sz="3200" spc="-1" strike="noStrike">
                    <a:solidFill>
                      <a:srgbClr val="ff0000"/>
                    </a:solidFill>
                    <a:latin typeface="Arial"/>
                    <a:ea typeface="Arial"/>
                  </a:rPr>
                  <a:t>s</a:t>
                </a:r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 </a:t>
                </a:r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</a:rPr>
                  <a:t>9/2</a:t>
                </a:r>
                <a:r>
                  <a:rPr b="0" lang="en-US" sz="3200" spc="-1" strike="noStrike" baseline="33000">
                    <a:solidFill>
                      <a:srgbClr val="000000"/>
                    </a:solidFill>
                    <a:latin typeface="Arial"/>
                  </a:rPr>
                  <a:t>+</a:t>
                </a:r>
                <a:endParaRPr b="0" lang="en-US" sz="32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1" name=""/>
              <p:cNvSpPr/>
              <p:nvPr/>
            </p:nvSpPr>
            <p:spPr>
              <a:xfrm rot="54600">
                <a:off x="15007680" y="9601560"/>
                <a:ext cx="1467360" cy="1931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5400" y="0"/>
                    </a:moveTo>
                    <a:lnTo>
                      <a:pt x="5400" y="16200"/>
                    </a:lnTo>
                    <a:lnTo>
                      <a:pt x="0" y="16200"/>
                    </a:lnTo>
                    <a:lnTo>
                      <a:pt x="10800" y="21600"/>
                    </a:lnTo>
                    <a:lnTo>
                      <a:pt x="21600" y="16200"/>
                    </a:lnTo>
                    <a:lnTo>
                      <a:pt x="16200" y="16200"/>
                    </a:lnTo>
                    <a:lnTo>
                      <a:pt x="16200" y="0"/>
                    </a:lnTo>
                    <a:close/>
                  </a:path>
                </a:pathLst>
              </a:custGeom>
              <a:solidFill>
                <a:srgbClr val="d0d0d0"/>
              </a:solidFill>
              <a:ln w="0">
                <a:solidFill>
                  <a:srgbClr val="e8e8e8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Arial"/>
                  </a:rPr>
                  <a:t>697</a:t>
                </a: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2" name=""/>
              <p:cNvSpPr/>
              <p:nvPr/>
            </p:nvSpPr>
            <p:spPr>
              <a:xfrm>
                <a:off x="15108120" y="8727480"/>
                <a:ext cx="1236960" cy="8661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4489" y="0"/>
                    </a:moveTo>
                    <a:lnTo>
                      <a:pt x="4489" y="12758"/>
                    </a:lnTo>
                    <a:lnTo>
                      <a:pt x="0" y="12758"/>
                    </a:lnTo>
                    <a:lnTo>
                      <a:pt x="10800" y="21600"/>
                    </a:lnTo>
                    <a:lnTo>
                      <a:pt x="21600" y="12758"/>
                    </a:lnTo>
                    <a:lnTo>
                      <a:pt x="17111" y="12758"/>
                    </a:lnTo>
                    <a:lnTo>
                      <a:pt x="17111" y="0"/>
                    </a:lnTo>
                    <a:close/>
                  </a:path>
                </a:pathLst>
              </a:custGeom>
              <a:solidFill>
                <a:srgbClr val="d0d0d0"/>
              </a:solidFill>
              <a:ln w="0">
                <a:solidFill>
                  <a:srgbClr val="e8e8e8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buNone/>
                </a:pPr>
                <a:r>
                  <a:rPr b="0" lang="en-US" sz="2400" spc="-1" strike="noStrike">
                    <a:latin typeface="Arial"/>
                  </a:rPr>
                  <a:t>313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153" name=""/>
              <p:cNvSpPr txBox="1"/>
              <p:nvPr/>
            </p:nvSpPr>
            <p:spPr>
              <a:xfrm>
                <a:off x="13320360" y="6527160"/>
                <a:ext cx="949680" cy="8712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pPr algn="r">
                  <a:buNone/>
                </a:pPr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</a:rPr>
                  <a:t>3/2</a:t>
                </a:r>
                <a:r>
                  <a:rPr b="0" lang="en-US" sz="3200" spc="-1" strike="noStrike" baseline="33000">
                    <a:solidFill>
                      <a:srgbClr val="000000"/>
                    </a:solidFill>
                    <a:latin typeface="Arial"/>
                  </a:rPr>
                  <a:t>-</a:t>
                </a:r>
                <a:endParaRPr b="0" lang="en-US" sz="32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4" name=""/>
              <p:cNvSpPr/>
              <p:nvPr/>
            </p:nvSpPr>
            <p:spPr>
              <a:xfrm rot="16200000">
                <a:off x="12292920" y="8705880"/>
                <a:ext cx="4715640" cy="9147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4855"/>
                    </a:moveTo>
                    <a:lnTo>
                      <a:pt x="3997" y="4855"/>
                    </a:lnTo>
                    <a:lnTo>
                      <a:pt x="3997" y="0"/>
                    </a:lnTo>
                    <a:lnTo>
                      <a:pt x="0" y="10800"/>
                    </a:lnTo>
                    <a:lnTo>
                      <a:pt x="3997" y="21600"/>
                    </a:lnTo>
                    <a:lnTo>
                      <a:pt x="3997" y="16745"/>
                    </a:lnTo>
                    <a:lnTo>
                      <a:pt x="21600" y="16745"/>
                    </a:lnTo>
                    <a:close/>
                  </a:path>
                </a:pathLst>
              </a:custGeom>
              <a:solidFill>
                <a:srgbClr val="d0d0d0"/>
              </a:solidFill>
              <a:ln w="0">
                <a:solidFill>
                  <a:srgbClr val="e8e8e8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buNone/>
                </a:pPr>
                <a:r>
                  <a:rPr b="0" lang="en-US" sz="2400" spc="-1" strike="noStrike">
                    <a:latin typeface="Arial"/>
                  </a:rPr>
                  <a:t>1</a:t>
                </a:r>
                <a:r>
                  <a:rPr b="0" lang="en-US" sz="2400" spc="-1" strike="noStrike">
                    <a:latin typeface="Arial"/>
                  </a:rPr>
                  <a:t>7</a:t>
                </a:r>
                <a:r>
                  <a:rPr b="0" lang="en-US" sz="2400" spc="-1" strike="noStrike">
                    <a:latin typeface="Arial"/>
                  </a:rPr>
                  <a:t>1</a:t>
                </a:r>
                <a:r>
                  <a:rPr b="0" lang="en-US" sz="2400" spc="-1" strike="noStrike">
                    <a:latin typeface="Arial"/>
                  </a:rPr>
                  <a:t>0</a:t>
                </a:r>
                <a:endParaRPr b="0" lang="en-US" sz="2400" spc="-1" strike="noStrike">
                  <a:latin typeface="Arial"/>
                </a:endParaRPr>
              </a:p>
            </p:txBody>
          </p:sp>
          <mc:AlternateContent>
            <mc:Choice xmlns:a14="http://schemas.microsoft.com/office/drawing/2010/main" Requires="a14">
              <p:sp>
                <p:nvSpPr>
                  <p:cNvPr id="155" name=""/>
                  <p:cNvSpPr txBox="1"/>
                  <p:nvPr/>
                </p:nvSpPr>
                <p:spPr>
                  <a:xfrm>
                    <a:off x="14758560" y="11638440"/>
                    <a:ext cx="1157040" cy="605520"/>
                  </a:xfrm>
                  <a:prstGeom prst="rect">
                    <a:avLst/>
                  </a:prstGeom>
                </p:spPr>
                <p:txBody>
                  <a:bodyPr/>
                  <a:p>
                    <a14:m>
                      <m:oMath xmlns:m="http://schemas.openxmlformats.org/officeDocument/2006/math">
                        <m:sSub>
                          <m:e>
                            <m:sPre>
                              <m:sub>
                                <m:r>
                                  <m:t xml:space="preserve">28</m:t>
                                </m:r>
                              </m:sub>
                              <m:sup>
                                <m:r>
                                  <m:t xml:space="preserve">67</m:t>
                                </m:r>
                              </m:sup>
                              <m:e>
                                <m:r>
                                  <m:t xml:space="preserve">Ν</m:t>
                                </m:r>
                                <m:r>
                                  <m:t xml:space="preserve">i</m:t>
                                </m:r>
                              </m:e>
                            </m:sPre>
                          </m:e>
                          <m:sub>
                            <m:r>
                              <m:t xml:space="preserve">39</m:t>
                            </m:r>
                          </m:sub>
                        </m:sSub>
                      </m:oMath>
                    </a14:m>
                  </a:p>
                </p:txBody>
              </p:sp>
            </mc:Choice>
            <mc:Fallback/>
          </mc:AlternateContent>
        </p:grpSp>
        <mc:AlternateContent>
          <mc:Choice xmlns:a14="http://schemas.microsoft.com/office/drawing/2010/main" Requires="a14">
            <p:sp>
              <p:nvSpPr>
                <p:cNvPr id="156" name=""/>
                <p:cNvSpPr txBox="1"/>
                <p:nvPr/>
              </p:nvSpPr>
              <p:spPr>
                <a:xfrm>
                  <a:off x="21264120" y="12677400"/>
                  <a:ext cx="1210320" cy="63216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sSub>
                        <m:e>
                          <m:sPre>
                            <m:sub>
                              <m:r>
                                <m:t xml:space="preserve">28</m:t>
                              </m:r>
                            </m:sub>
                            <m:sup>
                              <m:r>
                                <m:t xml:space="preserve">69</m:t>
                              </m:r>
                            </m:sup>
                            <m:e>
                              <m:r>
                                <m:t xml:space="preserve">Ν</m:t>
                              </m:r>
                              <m:r>
                                <m:t xml:space="preserve">i</m:t>
                              </m:r>
                            </m:e>
                          </m:sPre>
                        </m:e>
                        <m:sub>
                          <m:r>
                            <m:t xml:space="preserve">40</m:t>
                          </m:r>
                        </m:sub>
                      </m:sSub>
                    </m:oMath>
                  </a14:m>
                </a:p>
              </p:txBody>
            </p:sp>
          </mc:Choice>
          <mc:Fallback/>
        </mc:AlternateContent>
        <p:sp>
          <p:nvSpPr>
            <p:cNvPr id="157" name=""/>
            <p:cNvSpPr txBox="1"/>
            <p:nvPr/>
          </p:nvSpPr>
          <p:spPr>
            <a:xfrm>
              <a:off x="19546920" y="13367160"/>
              <a:ext cx="4860000" cy="6220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3600" spc="-1" strike="noStrike">
                  <a:solidFill>
                    <a:srgbClr val="000000"/>
                  </a:solidFill>
                  <a:latin typeface="Quattoria sans"/>
                  <a:ea typeface="Noto Sans CJK SC"/>
                </a:rPr>
                <a:t>Level scheme of </a:t>
              </a:r>
              <a:r>
                <a:rPr b="0" lang="en-US" sz="3600" spc="-1" strike="noStrike" baseline="33000">
                  <a:solidFill>
                    <a:srgbClr val="000000"/>
                  </a:solidFill>
                  <a:latin typeface="Quattoria sans"/>
                  <a:ea typeface="Noto Sans CJK SC"/>
                </a:rPr>
                <a:t>69</a:t>
              </a:r>
              <a:r>
                <a:rPr b="0" lang="en-US" sz="3600" spc="-1" strike="noStrike">
                  <a:solidFill>
                    <a:srgbClr val="000000"/>
                  </a:solidFill>
                  <a:latin typeface="Quattoria sans"/>
                  <a:ea typeface="Noto Sans CJK SC"/>
                </a:rPr>
                <a:t>Ni</a:t>
              </a:r>
              <a:endParaRPr b="0" lang="en-US" sz="3600" spc="-1" strike="noStrike">
                <a:latin typeface="Arial"/>
              </a:endParaRPr>
            </a:p>
          </p:txBody>
        </p:sp>
      </p:grpSp>
      <p:sp>
        <p:nvSpPr>
          <p:cNvPr id="158" name=""/>
          <p:cNvSpPr txBox="1"/>
          <p:nvPr/>
        </p:nvSpPr>
        <p:spPr>
          <a:xfrm>
            <a:off x="19559160" y="14033520"/>
            <a:ext cx="9829800" cy="1686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Noto Sans CJK SC"/>
              </a:rPr>
              <a:t>We hope to identify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Noto Sans CJK SC"/>
              </a:rPr>
              <a:t>	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Noto Sans CJK SC"/>
              </a:rPr>
              <a:t> 5/2</a:t>
            </a:r>
            <a:r>
              <a:rPr b="0" lang="en-US" sz="3600" spc="-1" strike="noStrike" baseline="33000">
                <a:solidFill>
                  <a:srgbClr val="000000"/>
                </a:solidFill>
                <a:latin typeface="Quattrocento Sans"/>
                <a:ea typeface="Noto Sans CJK SC"/>
              </a:rPr>
              <a:t>+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Noto Sans CJK SC"/>
              </a:rPr>
              <a:t> leading to N=50 shell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Noto Sans CJK SC"/>
              </a:rPr>
              <a:t>gap, and 7/2</a:t>
            </a:r>
            <a:r>
              <a:rPr b="0" lang="en-US" sz="3600" spc="-1" strike="noStrike" baseline="33000">
                <a:solidFill>
                  <a:srgbClr val="000000"/>
                </a:solidFill>
                <a:latin typeface="Quattrocento Sans"/>
                <a:ea typeface="Noto Sans CJK SC"/>
              </a:rPr>
              <a:t>+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</a:rPr>
              <a:t> leading to SO splitting</a:t>
            </a:r>
            <a:endParaRPr b="0" lang="en-US" sz="3600" spc="-1" strike="noStrike">
              <a:solidFill>
                <a:srgbClr val="000000"/>
              </a:solidFill>
              <a:latin typeface="Quattrocento Sans"/>
            </a:endParaRPr>
          </a:p>
        </p:txBody>
      </p:sp>
      <p:grpSp>
        <p:nvGrpSpPr>
          <p:cNvPr id="159" name=""/>
          <p:cNvGrpSpPr/>
          <p:nvPr/>
        </p:nvGrpSpPr>
        <p:grpSpPr>
          <a:xfrm>
            <a:off x="19559160" y="6527160"/>
            <a:ext cx="4594320" cy="6029640"/>
            <a:chOff x="19559160" y="6527160"/>
            <a:chExt cx="4594320" cy="6029640"/>
          </a:xfrm>
        </p:grpSpPr>
        <p:sp>
          <p:nvSpPr>
            <p:cNvPr id="160" name=""/>
            <p:cNvSpPr/>
            <p:nvPr/>
          </p:nvSpPr>
          <p:spPr>
            <a:xfrm>
              <a:off x="20056680" y="12472560"/>
              <a:ext cx="4096440" cy="360"/>
            </a:xfrm>
            <a:prstGeom prst="line">
              <a:avLst/>
            </a:prstGeom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1" name=""/>
            <p:cNvSpPr/>
            <p:nvPr/>
          </p:nvSpPr>
          <p:spPr>
            <a:xfrm>
              <a:off x="20057040" y="6977520"/>
              <a:ext cx="4095720" cy="0"/>
            </a:xfrm>
            <a:prstGeom prst="line">
              <a:avLst/>
            </a:prstGeom>
            <a:ln w="5724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2" name=""/>
            <p:cNvSpPr/>
            <p:nvPr/>
          </p:nvSpPr>
          <p:spPr>
            <a:xfrm>
              <a:off x="20056680" y="11892600"/>
              <a:ext cx="4096440" cy="360"/>
            </a:xfrm>
            <a:prstGeom prst="line">
              <a:avLst/>
            </a:prstGeom>
            <a:ln w="5724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3" name=""/>
            <p:cNvSpPr/>
            <p:nvPr/>
          </p:nvSpPr>
          <p:spPr>
            <a:xfrm>
              <a:off x="20056680" y="10663920"/>
              <a:ext cx="4096440" cy="360"/>
            </a:xfrm>
            <a:prstGeom prst="line">
              <a:avLst/>
            </a:prstGeom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4" name=""/>
            <p:cNvSpPr/>
            <p:nvPr/>
          </p:nvSpPr>
          <p:spPr>
            <a:xfrm>
              <a:off x="20056680" y="8513640"/>
              <a:ext cx="4096440" cy="0"/>
            </a:xfrm>
            <a:prstGeom prst="line">
              <a:avLst/>
            </a:prstGeom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5" name=""/>
            <p:cNvSpPr/>
            <p:nvPr/>
          </p:nvSpPr>
          <p:spPr>
            <a:xfrm>
              <a:off x="20056680" y="7919640"/>
              <a:ext cx="4096440" cy="360"/>
            </a:xfrm>
            <a:prstGeom prst="line">
              <a:avLst/>
            </a:prstGeom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6" name=""/>
            <p:cNvSpPr/>
            <p:nvPr/>
          </p:nvSpPr>
          <p:spPr>
            <a:xfrm>
              <a:off x="20056680" y="7284600"/>
              <a:ext cx="4096440" cy="360"/>
            </a:xfrm>
            <a:prstGeom prst="line">
              <a:avLst/>
            </a:prstGeom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7" name=""/>
            <p:cNvSpPr txBox="1"/>
            <p:nvPr/>
          </p:nvSpPr>
          <p:spPr>
            <a:xfrm>
              <a:off x="23352840" y="12097440"/>
              <a:ext cx="799920" cy="459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r"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0.0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" name=""/>
            <p:cNvSpPr txBox="1"/>
            <p:nvPr/>
          </p:nvSpPr>
          <p:spPr>
            <a:xfrm>
              <a:off x="23353200" y="11487960"/>
              <a:ext cx="799920" cy="459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r"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321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" name=""/>
            <p:cNvSpPr txBox="1"/>
            <p:nvPr/>
          </p:nvSpPr>
          <p:spPr>
            <a:xfrm>
              <a:off x="23353200" y="10258920"/>
              <a:ext cx="799920" cy="459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r"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915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" name=""/>
            <p:cNvSpPr txBox="1"/>
            <p:nvPr/>
          </p:nvSpPr>
          <p:spPr>
            <a:xfrm>
              <a:off x="23128920" y="6977520"/>
              <a:ext cx="1024200" cy="459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r"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2552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" name=""/>
            <p:cNvSpPr txBox="1"/>
            <p:nvPr/>
          </p:nvSpPr>
          <p:spPr>
            <a:xfrm>
              <a:off x="23128920" y="7551720"/>
              <a:ext cx="1024200" cy="459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r"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2241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" name=""/>
            <p:cNvSpPr txBox="1"/>
            <p:nvPr/>
          </p:nvSpPr>
          <p:spPr>
            <a:xfrm>
              <a:off x="23129280" y="8172000"/>
              <a:ext cx="1024200" cy="459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r"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1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9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5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9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3" name=""/>
            <p:cNvSpPr txBox="1"/>
            <p:nvPr/>
          </p:nvSpPr>
          <p:spPr>
            <a:xfrm>
              <a:off x="23128920" y="6635880"/>
              <a:ext cx="1024200" cy="459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r"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2700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" name=""/>
            <p:cNvSpPr txBox="1"/>
            <p:nvPr/>
          </p:nvSpPr>
          <p:spPr>
            <a:xfrm>
              <a:off x="19803240" y="12080880"/>
              <a:ext cx="1127520" cy="459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(9/2</a:t>
              </a:r>
              <a:r>
                <a:rPr b="0" lang="en-US" sz="2600" spc="-1" strike="noStrike" baseline="33000">
                  <a:solidFill>
                    <a:srgbClr val="000000"/>
                  </a:solidFill>
                  <a:latin typeface="Arial"/>
                </a:rPr>
                <a:t>+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)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5" name=""/>
            <p:cNvSpPr txBox="1"/>
            <p:nvPr/>
          </p:nvSpPr>
          <p:spPr>
            <a:xfrm>
              <a:off x="19767960" y="11433600"/>
              <a:ext cx="971640" cy="459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(1/2</a:t>
              </a:r>
              <a:r>
                <a:rPr b="0" lang="en-US" sz="2600" spc="-1" strike="noStrike" baseline="33000">
                  <a:solidFill>
                    <a:srgbClr val="000000"/>
                  </a:solidFill>
                  <a:latin typeface="Arial"/>
                </a:rPr>
                <a:t>-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)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6" name=""/>
            <p:cNvSpPr txBox="1"/>
            <p:nvPr/>
          </p:nvSpPr>
          <p:spPr>
            <a:xfrm>
              <a:off x="19787760" y="10204560"/>
              <a:ext cx="951840" cy="459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(5/2</a:t>
              </a:r>
              <a:r>
                <a:rPr b="0" lang="en-US" sz="2600" spc="-1" strike="noStrike" baseline="33000">
                  <a:solidFill>
                    <a:srgbClr val="000000"/>
                  </a:solidFill>
                  <a:latin typeface="Arial"/>
                </a:rPr>
                <a:t>-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)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7" name=""/>
            <p:cNvSpPr txBox="1"/>
            <p:nvPr/>
          </p:nvSpPr>
          <p:spPr>
            <a:xfrm>
              <a:off x="19787760" y="8172000"/>
              <a:ext cx="951840" cy="459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(9/2</a:t>
              </a:r>
              <a:r>
                <a:rPr b="0" lang="en-US" sz="2600" spc="-1" strike="noStrike" baseline="33000">
                  <a:solidFill>
                    <a:srgbClr val="000000"/>
                  </a:solidFill>
                  <a:latin typeface="Arial"/>
                </a:rPr>
                <a:t>-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)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8" name=""/>
            <p:cNvSpPr txBox="1"/>
            <p:nvPr/>
          </p:nvSpPr>
          <p:spPr>
            <a:xfrm>
              <a:off x="19559160" y="7436880"/>
              <a:ext cx="1351440" cy="459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(13/2</a:t>
              </a:r>
              <a:r>
                <a:rPr b="0" lang="en-US" sz="2600" spc="-1" strike="noStrike" baseline="33000">
                  <a:solidFill>
                    <a:srgbClr val="000000"/>
                  </a:solidFill>
                  <a:latin typeface="Arial"/>
                </a:rPr>
                <a:t>+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)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9" name=""/>
            <p:cNvSpPr txBox="1"/>
            <p:nvPr/>
          </p:nvSpPr>
          <p:spPr>
            <a:xfrm>
              <a:off x="19559160" y="6977520"/>
              <a:ext cx="1351440" cy="531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(13/2</a:t>
              </a:r>
              <a:r>
                <a:rPr b="0" lang="en-US" sz="2600" spc="-1" strike="noStrike" baseline="33000">
                  <a:solidFill>
                    <a:srgbClr val="000000"/>
                  </a:solidFill>
                  <a:latin typeface="Arial"/>
                </a:rPr>
                <a:t>-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)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0" name=""/>
            <p:cNvSpPr txBox="1"/>
            <p:nvPr/>
          </p:nvSpPr>
          <p:spPr>
            <a:xfrm>
              <a:off x="19559160" y="6527160"/>
              <a:ext cx="1351440" cy="459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(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1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7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/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2</a:t>
              </a:r>
              <a:r>
                <a:rPr b="0" lang="en-US" sz="2600" spc="-1" strike="noStrike" baseline="33000">
                  <a:solidFill>
                    <a:srgbClr val="000000"/>
                  </a:solidFill>
                  <a:latin typeface="Arial"/>
                </a:rPr>
                <a:t>-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) 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1" name=""/>
            <p:cNvSpPr/>
            <p:nvPr/>
          </p:nvSpPr>
          <p:spPr>
            <a:xfrm rot="16200000">
              <a:off x="22702320" y="10954080"/>
              <a:ext cx="1194480" cy="682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5400"/>
                  </a:moveTo>
                  <a:lnTo>
                    <a:pt x="5400" y="5400"/>
                  </a:lnTo>
                  <a:lnTo>
                    <a:pt x="5400" y="0"/>
                  </a:lnTo>
                  <a:lnTo>
                    <a:pt x="0" y="10800"/>
                  </a:lnTo>
                  <a:lnTo>
                    <a:pt x="5400" y="21600"/>
                  </a:lnTo>
                  <a:lnTo>
                    <a:pt x="5400" y="16200"/>
                  </a:lnTo>
                  <a:lnTo>
                    <a:pt x="21600" y="16200"/>
                  </a:lnTo>
                  <a:close/>
                </a:path>
              </a:pathLst>
            </a:custGeom>
            <a:solidFill>
              <a:srgbClr val="d0d0d0"/>
            </a:solidFill>
            <a:ln w="0">
              <a:solidFill>
                <a:srgbClr val="d0d0d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594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2" name=""/>
            <p:cNvSpPr/>
            <p:nvPr/>
          </p:nvSpPr>
          <p:spPr>
            <a:xfrm rot="16200000">
              <a:off x="22224600" y="9247680"/>
              <a:ext cx="2149920" cy="682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5400"/>
                  </a:moveTo>
                  <a:lnTo>
                    <a:pt x="5400" y="5400"/>
                  </a:lnTo>
                  <a:lnTo>
                    <a:pt x="5400" y="0"/>
                  </a:lnTo>
                  <a:lnTo>
                    <a:pt x="0" y="10800"/>
                  </a:lnTo>
                  <a:lnTo>
                    <a:pt x="5400" y="21600"/>
                  </a:lnTo>
                  <a:lnTo>
                    <a:pt x="5400" y="16200"/>
                  </a:lnTo>
                  <a:lnTo>
                    <a:pt x="21600" y="16200"/>
                  </a:lnTo>
                  <a:close/>
                </a:path>
              </a:pathLst>
            </a:custGeom>
            <a:solidFill>
              <a:srgbClr val="d0d0d0"/>
            </a:solidFill>
            <a:ln w="0">
              <a:solidFill>
                <a:srgbClr val="d0d0d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1044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3" name=""/>
            <p:cNvSpPr/>
            <p:nvPr/>
          </p:nvSpPr>
          <p:spPr>
            <a:xfrm rot="16200000">
              <a:off x="20466720" y="10151640"/>
              <a:ext cx="3959280" cy="682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6673"/>
                  </a:moveTo>
                  <a:lnTo>
                    <a:pt x="2344" y="6673"/>
                  </a:lnTo>
                  <a:lnTo>
                    <a:pt x="2344" y="0"/>
                  </a:lnTo>
                  <a:lnTo>
                    <a:pt x="0" y="10800"/>
                  </a:lnTo>
                  <a:lnTo>
                    <a:pt x="2344" y="21600"/>
                  </a:lnTo>
                  <a:lnTo>
                    <a:pt x="2344" y="14927"/>
                  </a:lnTo>
                  <a:lnTo>
                    <a:pt x="21600" y="14927"/>
                  </a:lnTo>
                  <a:close/>
                </a:path>
              </a:pathLst>
            </a:custGeom>
            <a:solidFill>
              <a:srgbClr val="d0d0d0"/>
            </a:solidFill>
            <a:ln w="0">
              <a:solidFill>
                <a:srgbClr val="d0d0d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1959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4" name=""/>
            <p:cNvSpPr/>
            <p:nvPr/>
          </p:nvSpPr>
          <p:spPr>
            <a:xfrm rot="16200000">
              <a:off x="19630080" y="9963720"/>
              <a:ext cx="4437360" cy="5122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4964"/>
                  </a:moveTo>
                  <a:lnTo>
                    <a:pt x="1476" y="4964"/>
                  </a:lnTo>
                  <a:lnTo>
                    <a:pt x="1476" y="0"/>
                  </a:lnTo>
                  <a:lnTo>
                    <a:pt x="0" y="10800"/>
                  </a:lnTo>
                  <a:lnTo>
                    <a:pt x="1476" y="21600"/>
                  </a:lnTo>
                  <a:lnTo>
                    <a:pt x="1476" y="16636"/>
                  </a:lnTo>
                  <a:lnTo>
                    <a:pt x="21600" y="16636"/>
                  </a:lnTo>
                  <a:close/>
                </a:path>
              </a:pathLst>
            </a:custGeom>
            <a:solidFill>
              <a:srgbClr val="d0d0d0"/>
            </a:solidFill>
            <a:ln w="0">
              <a:solidFill>
                <a:srgbClr val="d0d0d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2241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5" name=""/>
            <p:cNvSpPr/>
            <p:nvPr/>
          </p:nvSpPr>
          <p:spPr>
            <a:xfrm rot="16200000">
              <a:off x="21548520" y="7363080"/>
              <a:ext cx="600840" cy="5122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5400"/>
                  </a:moveTo>
                  <a:lnTo>
                    <a:pt x="5400" y="5400"/>
                  </a:lnTo>
                  <a:lnTo>
                    <a:pt x="5400" y="0"/>
                  </a:lnTo>
                  <a:lnTo>
                    <a:pt x="0" y="10800"/>
                  </a:lnTo>
                  <a:lnTo>
                    <a:pt x="5400" y="21600"/>
                  </a:lnTo>
                  <a:lnTo>
                    <a:pt x="5400" y="16200"/>
                  </a:lnTo>
                  <a:lnTo>
                    <a:pt x="21600" y="16200"/>
                  </a:lnTo>
                  <a:close/>
                </a:path>
              </a:pathLst>
            </a:custGeom>
            <a:solidFill>
              <a:srgbClr val="d0d0d0"/>
            </a:solidFill>
            <a:ln w="0">
              <a:solidFill>
                <a:srgbClr val="d0d0d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buNone/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</a:rPr>
                <a:t>311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6" name=""/>
            <p:cNvSpPr/>
            <p:nvPr/>
          </p:nvSpPr>
          <p:spPr>
            <a:xfrm rot="16200000">
              <a:off x="21873600" y="7677360"/>
              <a:ext cx="1228680" cy="511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5400"/>
                  </a:moveTo>
                  <a:lnTo>
                    <a:pt x="5400" y="5400"/>
                  </a:lnTo>
                  <a:lnTo>
                    <a:pt x="5400" y="0"/>
                  </a:lnTo>
                  <a:lnTo>
                    <a:pt x="0" y="10800"/>
                  </a:lnTo>
                  <a:lnTo>
                    <a:pt x="5400" y="21600"/>
                  </a:lnTo>
                  <a:lnTo>
                    <a:pt x="5400" y="16200"/>
                  </a:lnTo>
                  <a:lnTo>
                    <a:pt x="21600" y="16200"/>
                  </a:lnTo>
                  <a:close/>
                </a:path>
              </a:pathLst>
            </a:custGeom>
            <a:solidFill>
              <a:srgbClr val="d0d0d0"/>
            </a:solidFill>
            <a:ln w="0">
              <a:solidFill>
                <a:srgbClr val="d0d0d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593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7" name=""/>
            <p:cNvSpPr/>
            <p:nvPr/>
          </p:nvSpPr>
          <p:spPr>
            <a:xfrm>
              <a:off x="20910600" y="6977520"/>
              <a:ext cx="68220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5902" y="0"/>
                  </a:moveTo>
                  <a:lnTo>
                    <a:pt x="5902" y="11272"/>
                  </a:lnTo>
                  <a:lnTo>
                    <a:pt x="0" y="11272"/>
                  </a:lnTo>
                  <a:lnTo>
                    <a:pt x="10800" y="21600"/>
                  </a:lnTo>
                  <a:lnTo>
                    <a:pt x="21600" y="11272"/>
                  </a:lnTo>
                  <a:lnTo>
                    <a:pt x="15698" y="11272"/>
                  </a:lnTo>
                  <a:lnTo>
                    <a:pt x="15698" y="0"/>
                  </a:lnTo>
                  <a:close/>
                </a:path>
              </a:pathLst>
            </a:custGeom>
            <a:solidFill>
              <a:srgbClr val="d0d0d0"/>
            </a:solidFill>
            <a:ln w="0">
              <a:solidFill>
                <a:srgbClr val="d0d0d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8" name=""/>
            <p:cNvSpPr txBox="1"/>
            <p:nvPr/>
          </p:nvSpPr>
          <p:spPr>
            <a:xfrm>
              <a:off x="20910600" y="6977520"/>
              <a:ext cx="1050120" cy="459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148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9" name=""/>
            <p:cNvSpPr txBox="1"/>
            <p:nvPr/>
          </p:nvSpPr>
          <p:spPr>
            <a:xfrm>
              <a:off x="20568600" y="11433600"/>
              <a:ext cx="1024200" cy="459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i="1" lang="en-US" sz="2600" spc="-1" strike="noStrike">
                  <a:solidFill>
                    <a:srgbClr val="ff0000"/>
                  </a:solidFill>
                  <a:latin typeface="Arial"/>
                </a:rPr>
                <a:t>3.5 </a:t>
              </a:r>
              <a:r>
                <a:rPr b="0" i="1" lang="en-US" sz="2600" spc="-1" strike="noStrike">
                  <a:solidFill>
                    <a:srgbClr val="ff0000"/>
                  </a:solidFill>
                  <a:latin typeface="Arial"/>
                </a:rPr>
                <a:t>s</a:t>
              </a:r>
              <a:endParaRPr b="0" i="1" lang="en-US" sz="2600" spc="-1" strike="noStrike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190" name=""/>
            <p:cNvSpPr txBox="1"/>
            <p:nvPr/>
          </p:nvSpPr>
          <p:spPr>
            <a:xfrm>
              <a:off x="20739600" y="6527160"/>
              <a:ext cx="2048040" cy="459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i="1" lang="en-US" sz="2600" spc="-1" strike="noStrike">
                  <a:solidFill>
                    <a:srgbClr val="ff0000"/>
                  </a:solidFill>
                  <a:latin typeface="Arial"/>
                </a:rPr>
                <a:t>0.43 </a:t>
              </a:r>
              <a:r>
                <a:rPr b="0" i="1" lang="en-US" sz="2600" spc="-1" strike="noStrike">
                  <a:solidFill>
                    <a:srgbClr val="ff0000"/>
                  </a:solidFill>
                  <a:latin typeface="Arial"/>
                  <a:ea typeface="Arial"/>
                </a:rPr>
                <a:t>μ</a:t>
              </a:r>
              <a:r>
                <a:rPr b="0" i="1" lang="en-US" sz="2600" spc="-1" strike="noStrike">
                  <a:solidFill>
                    <a:srgbClr val="ff0000"/>
                  </a:solidFill>
                  <a:latin typeface="Arial"/>
                </a:rPr>
                <a:t>s</a:t>
              </a:r>
              <a:endParaRPr b="0" i="1" lang="en-US" sz="2600" spc="-1" strike="noStrike">
                <a:solidFill>
                  <a:srgbClr val="ff0000"/>
                </a:solidFill>
                <a:latin typeface="Arial"/>
              </a:endParaRPr>
            </a:p>
          </p:txBody>
        </p:sp>
        <mc:AlternateContent>
          <mc:Choice xmlns:a14="http://schemas.microsoft.com/office/drawing/2010/main" Requires="a14">
            <p:sp>
              <p:nvSpPr>
                <p:cNvPr id="191" name=""/>
                <p:cNvSpPr txBox="1"/>
                <p:nvPr/>
              </p:nvSpPr>
              <p:spPr>
                <a:xfrm>
                  <a:off x="19767960" y="11789640"/>
                  <a:ext cx="54000" cy="12636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/>
                  </a14:m>
                </a:p>
              </p:txBody>
            </p:sp>
          </mc:Choice>
          <mc:Fallback/>
        </mc:AlternateContent>
      </p:grpSp>
      <p:sp>
        <p:nvSpPr>
          <p:cNvPr id="192" name="Rectangle 10"/>
          <p:cNvSpPr/>
          <p:nvPr/>
        </p:nvSpPr>
        <p:spPr>
          <a:xfrm>
            <a:off x="813960" y="15451560"/>
            <a:ext cx="28803600" cy="96876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3684a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05920" rIns="205920" tIns="54720" bIns="5148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Quattrocento"/>
                <a:ea typeface="Arial"/>
              </a:rPr>
              <a:t>Experimental Setup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11558160" y="12303000"/>
            <a:ext cx="7543800" cy="314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States of </a:t>
            </a:r>
            <a:r>
              <a:rPr b="0" lang="en-US" sz="3600" spc="-1" strike="noStrike" baseline="33000">
                <a:solidFill>
                  <a:srgbClr val="000000"/>
                </a:solidFill>
                <a:latin typeface="Quattrocento Sans"/>
                <a:ea typeface="ＭＳ Ｐゴシック"/>
              </a:rPr>
              <a:t>67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Ni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expected to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populated by </a:t>
            </a:r>
            <a:r>
              <a:rPr b="0" lang="en-US" sz="3600" spc="-1" strike="noStrike" baseline="33000">
                <a:solidFill>
                  <a:srgbClr val="000000"/>
                </a:solidFill>
                <a:latin typeface="Quattrocento Sans"/>
                <a:ea typeface="ＭＳ Ｐゴシック"/>
              </a:rPr>
              <a:t>68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Ni(d,t)</a:t>
            </a:r>
            <a:r>
              <a:rPr b="0" lang="en-US" sz="3600" spc="-1" strike="noStrike" baseline="33000">
                <a:solidFill>
                  <a:srgbClr val="000000"/>
                </a:solidFill>
                <a:latin typeface="Quattrocento Sans"/>
                <a:ea typeface="ＭＳ Ｐゴシック"/>
              </a:rPr>
              <a:t>67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Ni &amp; </a:t>
            </a:r>
            <a:r>
              <a:rPr b="0" lang="en-US" sz="3600" spc="-1" strike="noStrike" baseline="33000">
                <a:solidFill>
                  <a:srgbClr val="000000"/>
                </a:solidFill>
                <a:latin typeface="Quattrocento Sans"/>
                <a:ea typeface="ＭＳ Ｐゴシック"/>
              </a:rPr>
              <a:t>68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Ni(p,d)</a:t>
            </a:r>
            <a:r>
              <a:rPr b="0" lang="en-US" sz="3600" spc="-1" strike="noStrike" baseline="33000">
                <a:solidFill>
                  <a:srgbClr val="000000"/>
                </a:solidFill>
                <a:latin typeface="Quattrocento Sans"/>
                <a:ea typeface="ＭＳ Ｐゴシック"/>
              </a:rPr>
              <a:t>67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Ni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reactions. </a:t>
            </a:r>
            <a:endParaRPr b="0" lang="en-US" sz="3600" spc="-1" strike="noStrike">
              <a:latin typeface="Quattrocento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The observation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of isomer is </a:t>
            </a:r>
            <a:endParaRPr b="0" lang="en-US" sz="3600" spc="-1" strike="noStrike">
              <a:latin typeface="Quattrocento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linked to N=40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shell closure.</a:t>
            </a:r>
            <a:endParaRPr b="0" lang="en-US" sz="3600" spc="-1" strike="noStrike">
              <a:latin typeface="Quattrocento Sans"/>
            </a:endParaRPr>
          </a:p>
        </p:txBody>
      </p:sp>
      <p:sp>
        <p:nvSpPr>
          <p:cNvPr id="194" name="Rectangle 4"/>
          <p:cNvSpPr/>
          <p:nvPr/>
        </p:nvSpPr>
        <p:spPr>
          <a:xfrm>
            <a:off x="14758560" y="40818960"/>
            <a:ext cx="14859000" cy="137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95" name="" descr=""/>
          <p:cNvPicPr/>
          <p:nvPr/>
        </p:nvPicPr>
        <p:blipFill>
          <a:blip r:embed="rId16"/>
          <a:stretch/>
        </p:blipFill>
        <p:spPr>
          <a:xfrm>
            <a:off x="15215760" y="40890240"/>
            <a:ext cx="1371600" cy="1300320"/>
          </a:xfrm>
          <a:prstGeom prst="rect">
            <a:avLst/>
          </a:prstGeom>
          <a:ln w="0">
            <a:noFill/>
          </a:ln>
        </p:spPr>
      </p:pic>
      <p:pic>
        <p:nvPicPr>
          <p:cNvPr id="196" name="" descr=""/>
          <p:cNvPicPr/>
          <p:nvPr/>
        </p:nvPicPr>
        <p:blipFill>
          <a:blip r:embed="rId17"/>
          <a:stretch/>
        </p:blipFill>
        <p:spPr>
          <a:xfrm>
            <a:off x="17044560" y="40818960"/>
            <a:ext cx="3950640" cy="1337040"/>
          </a:xfrm>
          <a:prstGeom prst="rect">
            <a:avLst/>
          </a:prstGeom>
          <a:ln w="0">
            <a:noFill/>
          </a:ln>
        </p:spPr>
      </p:pic>
      <p:pic>
        <p:nvPicPr>
          <p:cNvPr id="197" name="" descr=""/>
          <p:cNvPicPr/>
          <p:nvPr/>
        </p:nvPicPr>
        <p:blipFill>
          <a:blip r:embed="rId18"/>
          <a:stretch/>
        </p:blipFill>
        <p:spPr>
          <a:xfrm>
            <a:off x="21416760" y="40971600"/>
            <a:ext cx="1800000" cy="1218960"/>
          </a:xfrm>
          <a:prstGeom prst="rect">
            <a:avLst/>
          </a:prstGeom>
          <a:ln w="0">
            <a:noFill/>
          </a:ln>
        </p:spPr>
      </p:pic>
      <p:pic>
        <p:nvPicPr>
          <p:cNvPr id="198" name="" descr=""/>
          <p:cNvPicPr/>
          <p:nvPr/>
        </p:nvPicPr>
        <p:blipFill>
          <a:blip r:embed="rId19"/>
          <a:stretch/>
        </p:blipFill>
        <p:spPr>
          <a:xfrm>
            <a:off x="24093360" y="41011560"/>
            <a:ext cx="5067000" cy="1128240"/>
          </a:xfrm>
          <a:prstGeom prst="rect">
            <a:avLst/>
          </a:prstGeom>
          <a:ln w="0">
            <a:noFill/>
          </a:ln>
        </p:spPr>
      </p:pic>
      <p:sp>
        <p:nvSpPr>
          <p:cNvPr id="199" name="Rectangle 1"/>
          <p:cNvSpPr/>
          <p:nvPr/>
        </p:nvSpPr>
        <p:spPr>
          <a:xfrm>
            <a:off x="14758560" y="40185720"/>
            <a:ext cx="14859000" cy="633240"/>
          </a:xfrm>
          <a:prstGeom prst="snipRoundRect">
            <a:avLst>
              <a:gd name="adj1" fmla="val 0"/>
              <a:gd name="adj2" fmla="val 46622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05920" rIns="205920" tIns="54720" bIns="5148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Quattrocento"/>
                <a:ea typeface="Arial"/>
              </a:rPr>
              <a:t>Fundings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 rot="5400000">
            <a:off x="5790240" y="19894680"/>
            <a:ext cx="1476000" cy="10482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1600" y="0"/>
                </a:moveTo>
                <a:cubicBezTo>
                  <a:pt x="162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5400" y="10800"/>
                  <a:pt x="0" y="10800"/>
                </a:cubicBezTo>
                <a:cubicBezTo>
                  <a:pt x="54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16200" y="21600"/>
                  <a:pt x="21600" y="21600"/>
                </a:cubicBezTo>
              </a:path>
            </a:pathLst>
          </a:custGeom>
          <a:noFill/>
          <a:ln w="19080">
            <a:solidFill>
              <a:srgbClr val="0062c4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01" name="" descr=""/>
          <p:cNvPicPr/>
          <p:nvPr/>
        </p:nvPicPr>
        <p:blipFill>
          <a:blip r:embed="rId20"/>
          <a:srcRect l="0" t="3722" r="8571" b="0"/>
          <a:stretch/>
        </p:blipFill>
        <p:spPr>
          <a:xfrm>
            <a:off x="24382080" y="6528960"/>
            <a:ext cx="5006880" cy="6629400"/>
          </a:xfrm>
          <a:prstGeom prst="rect">
            <a:avLst/>
          </a:prstGeom>
          <a:ln w="0">
            <a:noFill/>
          </a:ln>
        </p:spPr>
      </p:pic>
      <p:sp>
        <p:nvSpPr>
          <p:cNvPr id="202" name=""/>
          <p:cNvSpPr txBox="1"/>
          <p:nvPr/>
        </p:nvSpPr>
        <p:spPr>
          <a:xfrm>
            <a:off x="25045560" y="12929760"/>
            <a:ext cx="4114800" cy="83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buNone/>
            </a:pP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Noto Sans CJK SC"/>
              </a:rPr>
              <a:t>D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Noto Sans CJK SC"/>
              </a:rPr>
              <a:t>W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Noto Sans CJK SC"/>
              </a:rPr>
              <a:t>B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Noto Sans CJK SC"/>
              </a:rPr>
              <a:t>A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Noto Sans CJK SC"/>
              </a:rPr>
              <a:t>c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Noto Sans CJK SC"/>
              </a:rPr>
              <a:t>a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Noto Sans CJK SC"/>
              </a:rPr>
              <a:t>l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Noto Sans CJK SC"/>
              </a:rPr>
              <a:t>c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Noto Sans CJK SC"/>
              </a:rPr>
              <a:t>u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Noto Sans CJK SC"/>
              </a:rPr>
              <a:t>l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Noto Sans CJK SC"/>
              </a:rPr>
              <a:t>a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Noto Sans CJK SC"/>
              </a:rPr>
              <a:t>i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Noto Sans CJK SC"/>
              </a:rPr>
              <a:t>o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Noto Sans CJK SC"/>
              </a:rPr>
              <a:t>n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Noto Sans CJK SC"/>
              </a:rPr>
              <a:t>s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Noto Sans CJK SC"/>
              </a:rPr>
              <a:t>f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Noto Sans CJK SC"/>
              </a:rPr>
              <a:t>o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Noto Sans CJK SC"/>
              </a:rPr>
              <a:t>r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Arial"/>
              </a:rPr>
              <a:t>L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Arial"/>
              </a:rPr>
              <a:t>=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Arial"/>
              </a:rPr>
              <a:t>2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Arial"/>
              </a:rPr>
              <a:t>a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Arial"/>
              </a:rPr>
              <a:t>n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Arial"/>
              </a:rPr>
              <a:t>d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Arial"/>
              </a:rPr>
              <a:t>L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Arial"/>
              </a:rPr>
              <a:t>=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Arial"/>
              </a:rPr>
              <a:t>4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Arial"/>
              </a:rPr>
              <a:t>[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Arial"/>
              </a:rPr>
              <a:t>1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Arial"/>
              </a:rPr>
              <a:t>]</a:t>
            </a:r>
            <a:endParaRPr b="0" i="1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3580</TotalTime>
  <Application>LibreOffice/7.3.7.2$Linux_X86_64 LibreOffice_project/30$Build-2</Application>
  <AppVersion>15.0000</AppVersion>
  <Paragraphs>14</Paragraphs>
  <Company>Graphicsland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category>research posters template</cp:category>
  <dc:creator>Graphicsland/MakeSigns.com</dc:creator>
  <dc:description>This is a free template from MakeSigns.com to help you create the perfect scientific poster.</dc:description>
  <cp:keywords>scientific research template custom poster presentation symposium printing PowerPoint create design example sample download</cp:keywords>
  <dc:language>en-US</dc:language>
  <cp:lastModifiedBy/>
  <cp:lastPrinted>2000-08-03T00:31:24Z</cp:lastPrinted>
  <dcterms:modified xsi:type="dcterms:W3CDTF">2023-09-22T16:07:09Z</dcterms:modified>
  <cp:revision>189</cp:revision>
  <dc:subject>Free Poster Presentation Example</dc:subject>
  <dc:title>PowerPoint template for a scientific poster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Custom</vt:lpwstr>
  </property>
  <property fmtid="{D5CDD505-2E9C-101B-9397-08002B2CF9AE}" pid="4" name="Slides">
    <vt:i4>1</vt:i4>
  </property>
</Properties>
</file>