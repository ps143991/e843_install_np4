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media/image11.png" ContentType="image/png"/>
  <Override PartName="/ppt/media/image19.jpeg" ContentType="image/jpeg"/>
  <Override PartName="/ppt/media/image10.png" ContentType="image/png"/>
  <Override PartName="/ppt/media/image6.jpeg" ContentType="image/jpeg"/>
  <Override PartName="/ppt/media/image9.png" ContentType="image/png"/>
  <Override PartName="/ppt/media/image12.png" ContentType="image/png"/>
  <Override PartName="/ppt/media/image7.png" ContentType="image/png"/>
  <Override PartName="/ppt/media/image13.png" ContentType="image/png"/>
  <Override PartName="/ppt/media/image5.jpeg" ContentType="image/jpeg"/>
  <Override PartName="/ppt/media/image8.jpeg" ContentType="image/jpeg"/>
  <Override PartName="/ppt/media/image4.png" ContentType="image/png"/>
  <Override PartName="/ppt/media/image27.png" ContentType="image/png"/>
  <Override PartName="/ppt/media/image3.png" ContentType="image/png"/>
  <Override PartName="/ppt/media/image26.png" ContentType="image/png"/>
  <Override PartName="/ppt/media/image23.jpeg" ContentType="image/jpeg"/>
  <Override PartName="/ppt/media/image18.jpeg" ContentType="image/jpeg"/>
  <Override PartName="/ppt/media/image22.png" ContentType="image/png"/>
  <Override PartName="/ppt/media/image21.png" ContentType="image/png"/>
  <Override PartName="/ppt/media/image20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24.png" ContentType="image/png"/>
  <Override PartName="/ppt/media/image1.png" ContentType="image/png"/>
  <Override PartName="/ppt/media/image25.png" ContentType="image/png"/>
  <Override PartName="/ppt/media/image2.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</p:sldIdLst>
  <p:sldSz cx="30275213" cy="42803763"/>
  <p:notesSz cx="9239250" cy="1198245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2300" spc="-1" strike="noStrike">
                <a:solidFill>
                  <a:srgbClr val="000000"/>
                </a:solidFill>
                <a:latin typeface="Times New Roman"/>
              </a:rPr>
              <a:t>Click to move the slide</a:t>
            </a:r>
            <a:endParaRPr b="0" lang="en-US" sz="2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079FFEA2-8758-49FD-9A6A-AA3695417E5A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sldNum" idx="4"/>
          </p:nvPr>
        </p:nvSpPr>
        <p:spPr>
          <a:xfrm>
            <a:off x="5241960" y="11363400"/>
            <a:ext cx="3982680" cy="593280"/>
          </a:xfrm>
          <a:prstGeom prst="rect">
            <a:avLst/>
          </a:prstGeom>
          <a:noFill/>
          <a:ln w="0">
            <a:noFill/>
          </a:ln>
        </p:spPr>
        <p:txBody>
          <a:bodyPr lIns="114840" rIns="114840" tIns="57600" bIns="5760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5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D5E5270-18CC-4E03-8400-5F27D29BE74D}" type="slidenum">
              <a:rPr b="0" lang="en-US" sz="15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500" spc="-1" strike="noStrike">
              <a:latin typeface="Times New Roman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 type="sldImg"/>
          </p:nvPr>
        </p:nvSpPr>
        <p:spPr>
          <a:xfrm>
            <a:off x="2908440" y="888840"/>
            <a:ext cx="3408120" cy="454464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3"/>
          <p:cNvSpPr>
            <a:spLocks noGrp="1"/>
          </p:cNvSpPr>
          <p:nvPr>
            <p:ph type="body"/>
          </p:nvPr>
        </p:nvSpPr>
        <p:spPr>
          <a:xfrm>
            <a:off x="1257480" y="5732640"/>
            <a:ext cx="6708240" cy="5335200"/>
          </a:xfrm>
          <a:prstGeom prst="rect">
            <a:avLst/>
          </a:prstGeom>
          <a:noFill/>
          <a:ln w="0">
            <a:noFill/>
          </a:ln>
        </p:spPr>
        <p:txBody>
          <a:bodyPr lIns="114840" rIns="114840" tIns="57600" bIns="576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834560" y="2035800"/>
            <a:ext cx="26605800" cy="70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1834560" y="10205640"/>
            <a:ext cx="26605800" cy="244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834560" y="2035800"/>
            <a:ext cx="26605800" cy="70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1834560" y="10205640"/>
            <a:ext cx="26605800" cy="244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76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834560" y="2035800"/>
            <a:ext cx="26605800" cy="70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1834560" y="10205640"/>
            <a:ext cx="12983400" cy="244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76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15467400" y="10205640"/>
            <a:ext cx="12983400" cy="244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76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834560" y="2035800"/>
            <a:ext cx="26605800" cy="70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1834560" y="2035800"/>
            <a:ext cx="26605800" cy="3258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834560" y="2035800"/>
            <a:ext cx="26605800" cy="70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1834560" y="10205640"/>
            <a:ext cx="12983400" cy="1164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76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15467400" y="10205640"/>
            <a:ext cx="12983400" cy="244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76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1834560" y="22956480"/>
            <a:ext cx="12983400" cy="1164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76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834560" y="2035800"/>
            <a:ext cx="26605800" cy="70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1834560" y="10205640"/>
            <a:ext cx="12983400" cy="244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76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15467400" y="10205640"/>
            <a:ext cx="12983400" cy="1164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76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15467400" y="22956480"/>
            <a:ext cx="12983400" cy="1164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76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834560" y="2035800"/>
            <a:ext cx="26605800" cy="70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1834560" y="10205640"/>
            <a:ext cx="12983400" cy="1164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76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15467400" y="10205640"/>
            <a:ext cx="12983400" cy="1164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76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1834560" y="22956480"/>
            <a:ext cx="26605800" cy="1164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76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1834560" y="2035800"/>
            <a:ext cx="26605800" cy="70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1834560" y="10205640"/>
            <a:ext cx="26605800" cy="1164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76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1834560" y="22956480"/>
            <a:ext cx="26605800" cy="1164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76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834560" y="2035800"/>
            <a:ext cx="26605800" cy="70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1834560" y="10205640"/>
            <a:ext cx="12983400" cy="1164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76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15467400" y="10205640"/>
            <a:ext cx="12983400" cy="1164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76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1834560" y="22956480"/>
            <a:ext cx="12983400" cy="1164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76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15467400" y="22956480"/>
            <a:ext cx="12983400" cy="1164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76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834560" y="2035800"/>
            <a:ext cx="26605800" cy="70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1834560" y="10205640"/>
            <a:ext cx="8566920" cy="1164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76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10830240" y="10205640"/>
            <a:ext cx="8566920" cy="1164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76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19825920" y="10205640"/>
            <a:ext cx="8566920" cy="1164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76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1834560" y="22956480"/>
            <a:ext cx="8566920" cy="1164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76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10830240" y="22956480"/>
            <a:ext cx="8566920" cy="1164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76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19825920" y="22956480"/>
            <a:ext cx="8566920" cy="1164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76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.xml"/><Relationship Id="rId6" Type="http://schemas.openxmlformats.org/officeDocument/2006/relationships/slideLayout" Target="../slideLayouts/slideLayout2.xml"/><Relationship Id="rId7" Type="http://schemas.openxmlformats.org/officeDocument/2006/relationships/slideLayout" Target="../slideLayouts/slideLayout3.xml"/><Relationship Id="rId8" Type="http://schemas.openxmlformats.org/officeDocument/2006/relationships/slideLayout" Target="../slideLayouts/slideLayout4.xml"/><Relationship Id="rId9" Type="http://schemas.openxmlformats.org/officeDocument/2006/relationships/slideLayout" Target="../slideLayouts/slideLayout5.xml"/><Relationship Id="rId10" Type="http://schemas.openxmlformats.org/officeDocument/2006/relationships/slideLayout" Target="../slideLayouts/slideLayout6.xml"/><Relationship Id="rId11" Type="http://schemas.openxmlformats.org/officeDocument/2006/relationships/slideLayout" Target="../slideLayouts/slideLayout7.xml"/><Relationship Id="rId12" Type="http://schemas.openxmlformats.org/officeDocument/2006/relationships/slideLayout" Target="../slideLayouts/slideLayout8.xml"/><Relationship Id="rId13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New picture" descr=""/>
          <p:cNvPicPr/>
          <p:nvPr/>
        </p:nvPicPr>
        <p:blipFill>
          <a:blip r:embed="rId2"/>
          <a:stretch/>
        </p:blipFill>
        <p:spPr>
          <a:xfrm rot="16200000">
            <a:off x="-10022760" y="21522240"/>
            <a:ext cx="13688640" cy="3535200"/>
          </a:xfrm>
          <a:prstGeom prst="rect">
            <a:avLst/>
          </a:prstGeom>
          <a:ln w="0">
            <a:noFill/>
          </a:ln>
        </p:spPr>
      </p:pic>
      <p:pic>
        <p:nvPicPr>
          <p:cNvPr id="1" name="New picture" descr=""/>
          <p:cNvPicPr/>
          <p:nvPr/>
        </p:nvPicPr>
        <p:blipFill>
          <a:blip r:embed="rId3"/>
          <a:stretch/>
        </p:blipFill>
        <p:spPr>
          <a:xfrm rot="5400000">
            <a:off x="26610480" y="21521880"/>
            <a:ext cx="13688640" cy="3535200"/>
          </a:xfrm>
          <a:prstGeom prst="rect">
            <a:avLst/>
          </a:prstGeom>
          <a:ln w="0">
            <a:noFill/>
          </a:ln>
        </p:spPr>
      </p:pic>
      <p:pic>
        <p:nvPicPr>
          <p:cNvPr id="2" name="New picture" descr=""/>
          <p:cNvPicPr/>
          <p:nvPr/>
        </p:nvPicPr>
        <p:blipFill>
          <a:blip r:embed="rId4"/>
          <a:stretch/>
        </p:blipFill>
        <p:spPr>
          <a:xfrm>
            <a:off x="1674000" y="42934320"/>
            <a:ext cx="26927640" cy="1400400"/>
          </a:xfrm>
          <a:prstGeom prst="rect">
            <a:avLst/>
          </a:prstGeom>
          <a:ln w="0">
            <a:noFill/>
          </a:ln>
        </p:spPr>
      </p:pic>
      <p:sp>
        <p:nvSpPr>
          <p:cNvPr id="3" name="New shape"/>
          <p:cNvSpPr/>
          <p:nvPr/>
        </p:nvSpPr>
        <p:spPr>
          <a:xfrm>
            <a:off x="1674000" y="43482600"/>
            <a:ext cx="14780880" cy="12175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4600" spc="-1" strike="noStrike">
                <a:solidFill>
                  <a:srgbClr val="808080"/>
                </a:solidFill>
                <a:latin typeface="Times New Roman"/>
                <a:ea typeface="Arial"/>
              </a:rPr>
              <a:t>Template ID: ponderingpeacock  Size: 36x48</a:t>
            </a:r>
            <a:endParaRPr b="0" lang="en-US" sz="4600" spc="-1" strike="noStrike"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834560" y="2035800"/>
            <a:ext cx="26605800" cy="70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2300" spc="-1" strike="noStrike">
                <a:solidFill>
                  <a:srgbClr val="000000"/>
                </a:solidFill>
                <a:latin typeface="Times New Roman"/>
              </a:rPr>
              <a:t>Click to edit the title text format</a:t>
            </a:r>
            <a:endParaRPr b="0" lang="en-US" sz="2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1834560" y="10205640"/>
            <a:ext cx="26605800" cy="244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35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7690" spc="-1" strike="noStrike">
                <a:solidFill>
                  <a:srgbClr val="000000"/>
                </a:solidFill>
                <a:latin typeface="Times New Roman"/>
              </a:rPr>
              <a:t>Click to edit the outline text format</a:t>
            </a:r>
            <a:endParaRPr b="0" lang="en-US" sz="7690" spc="-1" strike="noStrike">
              <a:solidFill>
                <a:srgbClr val="000000"/>
              </a:solidFill>
              <a:latin typeface="Times New Roman"/>
            </a:endParaRPr>
          </a:p>
          <a:p>
            <a:pPr lvl="1" marL="864000" indent="-324000">
              <a:spcBef>
                <a:spcPts val="1086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5830" spc="-1" strike="noStrike">
                <a:solidFill>
                  <a:srgbClr val="000000"/>
                </a:solidFill>
                <a:latin typeface="Times New Roman"/>
              </a:rPr>
              <a:t>Second Outline Level</a:t>
            </a:r>
            <a:endParaRPr b="0" lang="en-US" sz="5830" spc="-1" strike="noStrike">
              <a:solidFill>
                <a:srgbClr val="000000"/>
              </a:solidFill>
              <a:latin typeface="Times New Roman"/>
            </a:endParaRPr>
          </a:p>
          <a:p>
            <a:pPr lvl="2" marL="1296000" indent="-288000">
              <a:spcBef>
                <a:spcPts val="8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670" spc="-1" strike="noStrike">
                <a:solidFill>
                  <a:srgbClr val="000000"/>
                </a:solidFill>
                <a:latin typeface="Times New Roman"/>
              </a:rPr>
              <a:t>Third Outline Level</a:t>
            </a:r>
            <a:endParaRPr b="0" lang="en-US" sz="4670" spc="-1" strike="noStrike">
              <a:solidFill>
                <a:srgbClr val="000000"/>
              </a:solidFill>
              <a:latin typeface="Times New Roman"/>
            </a:endParaRPr>
          </a:p>
          <a:p>
            <a:pPr lvl="3" marL="1728000" indent="-216000">
              <a:spcBef>
                <a:spcPts val="54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4670" spc="-1" strike="noStrike">
                <a:solidFill>
                  <a:srgbClr val="000000"/>
                </a:solidFill>
                <a:latin typeface="Times New Roman"/>
              </a:rPr>
              <a:t>Fourth Outline Level</a:t>
            </a:r>
            <a:endParaRPr b="0" lang="en-US" sz="4670" spc="-1" strike="noStrike">
              <a:solidFill>
                <a:srgbClr val="000000"/>
              </a:solidFill>
              <a:latin typeface="Times New Roman"/>
            </a:endParaRPr>
          </a:p>
          <a:p>
            <a:pPr lvl="4" marL="2160000" indent="-216000">
              <a:spcBef>
                <a:spcPts val="26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20" spc="-1" strike="noStrike">
                <a:solidFill>
                  <a:srgbClr val="000000"/>
                </a:solidFill>
                <a:latin typeface="Times New Roman"/>
              </a:rPr>
              <a:t>Fifth Outline Level</a:t>
            </a:r>
            <a:endParaRPr b="0" lang="en-US" sz="1920" spc="-1" strike="noStrike">
              <a:solidFill>
                <a:srgbClr val="000000"/>
              </a:solidFill>
              <a:latin typeface="Times New Roman"/>
            </a:endParaRPr>
          </a:p>
          <a:p>
            <a:pPr lvl="5" marL="2592000" indent="-216000">
              <a:spcBef>
                <a:spcPts val="26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20" spc="-1" strike="noStrike">
                <a:solidFill>
                  <a:srgbClr val="000000"/>
                </a:solidFill>
                <a:latin typeface="Times New Roman"/>
              </a:rPr>
              <a:t>Sixth Outline Level</a:t>
            </a:r>
            <a:endParaRPr b="0" lang="en-US" sz="1920" spc="-1" strike="noStrike">
              <a:solidFill>
                <a:srgbClr val="000000"/>
              </a:solidFill>
              <a:latin typeface="Times New Roman"/>
            </a:endParaRPr>
          </a:p>
          <a:p>
            <a:pPr lvl="6" marL="3024000" indent="-216000">
              <a:spcBef>
                <a:spcPts val="26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20" spc="-1" strike="noStrike">
                <a:solidFill>
                  <a:srgbClr val="000000"/>
                </a:solidFill>
                <a:latin typeface="Times New Roman"/>
              </a:rPr>
              <a:t>Seventh Outline Level</a:t>
            </a:r>
            <a:endParaRPr b="0" lang="en-US" sz="192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0" r:id="rId1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jpeg"/><Relationship Id="rId3" Type="http://schemas.openxmlformats.org/officeDocument/2006/relationships/image" Target="../media/image6.jpeg"/><Relationship Id="rId4" Type="http://schemas.openxmlformats.org/officeDocument/2006/relationships/image" Target="../media/image7.png"/><Relationship Id="rId5" Type="http://schemas.openxmlformats.org/officeDocument/2006/relationships/image" Target="../media/image8.jpe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Relationship Id="rId12" Type="http://schemas.openxmlformats.org/officeDocument/2006/relationships/image" Target="../media/image15.png"/><Relationship Id="rId13" Type="http://schemas.openxmlformats.org/officeDocument/2006/relationships/image" Target="../media/image16.png"/><Relationship Id="rId14" Type="http://schemas.openxmlformats.org/officeDocument/2006/relationships/image" Target="../media/image17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image" Target="../media/image19.jpeg"/><Relationship Id="rId3" Type="http://schemas.openxmlformats.org/officeDocument/2006/relationships/hyperlink" Target="mailto:MUGAST@LISE" TargetMode="External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jpe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Relationship Id="rId11" Type="http://schemas.openxmlformats.org/officeDocument/2006/relationships/image" Target="../media/image27.png"/><Relationship Id="rId1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d3c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 Box 241"/>
          <p:cNvSpPr/>
          <p:nvPr/>
        </p:nvSpPr>
        <p:spPr>
          <a:xfrm>
            <a:off x="818640" y="916560"/>
            <a:ext cx="28798920" cy="4372920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e64b3c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Text Placeholder 5"/>
          <p:cNvSpPr/>
          <p:nvPr/>
        </p:nvSpPr>
        <p:spPr>
          <a:xfrm>
            <a:off x="2820240" y="1251000"/>
            <a:ext cx="24635160" cy="211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0" spc="-1" strike="noStrike">
                <a:solidFill>
                  <a:srgbClr val="ffffff"/>
                </a:solidFill>
                <a:latin typeface="Quattrocento"/>
                <a:ea typeface="Arial"/>
              </a:rPr>
              <a:t>Study the Neutron Shell Structure of </a:t>
            </a:r>
            <a:r>
              <a:rPr b="1" lang="en-US" sz="8000" spc="-1" strike="noStrike" baseline="33000">
                <a:solidFill>
                  <a:srgbClr val="ffffff"/>
                </a:solidFill>
                <a:latin typeface="Quattrocento"/>
                <a:ea typeface="Arial"/>
              </a:rPr>
              <a:t>68</a:t>
            </a:r>
            <a:r>
              <a:rPr b="1" lang="en-US" sz="8000" spc="-1" strike="noStrike">
                <a:solidFill>
                  <a:srgbClr val="ffffff"/>
                </a:solidFill>
                <a:latin typeface="Quattrocento"/>
                <a:ea typeface="Arial"/>
              </a:rPr>
              <a:t>Ni via Missing Mass Spectroscopy</a:t>
            </a:r>
            <a:endParaRPr b="0" lang="en-US" sz="8000" spc="-1" strike="noStrike">
              <a:latin typeface="Arial"/>
            </a:endParaRPr>
          </a:p>
        </p:txBody>
      </p:sp>
      <p:sp>
        <p:nvSpPr>
          <p:cNvPr id="50" name="Text Placeholder 5"/>
          <p:cNvSpPr/>
          <p:nvPr/>
        </p:nvSpPr>
        <p:spPr>
          <a:xfrm>
            <a:off x="2820240" y="3553920"/>
            <a:ext cx="24635160" cy="13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spcBef>
                <a:spcPts val="839"/>
              </a:spcBef>
              <a:buNone/>
              <a:tabLst>
                <a:tab algn="l" pos="0"/>
              </a:tabLst>
            </a:pPr>
            <a:r>
              <a:rPr b="0" lang="en-US" sz="4200" spc="-1" strike="noStrike">
                <a:solidFill>
                  <a:srgbClr val="ffffff"/>
                </a:solidFill>
                <a:latin typeface="Quattrocento"/>
                <a:ea typeface="Arial"/>
              </a:rPr>
              <a:t>Authors…</a:t>
            </a:r>
            <a:endParaRPr b="0" lang="en-US" sz="42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839"/>
              </a:spcBef>
              <a:buNone/>
              <a:tabLst>
                <a:tab algn="l" pos="0"/>
              </a:tabLst>
            </a:pPr>
            <a:r>
              <a:rPr b="0" lang="en-US" sz="4200" spc="-1" strike="noStrike">
                <a:solidFill>
                  <a:srgbClr val="ffffff"/>
                </a:solidFill>
                <a:latin typeface="Quattrocento"/>
                <a:ea typeface="Arial"/>
              </a:rPr>
              <a:t>Affiliations...</a:t>
            </a:r>
            <a:endParaRPr b="0" lang="en-US" sz="4200" spc="-1" strike="noStrike">
              <a:latin typeface="Arial"/>
            </a:endParaRPr>
          </a:p>
        </p:txBody>
      </p:sp>
      <p:sp>
        <p:nvSpPr>
          <p:cNvPr id="51" name="Rectangle 74"/>
          <p:cNvSpPr/>
          <p:nvPr/>
        </p:nvSpPr>
        <p:spPr>
          <a:xfrm>
            <a:off x="813960" y="6300360"/>
            <a:ext cx="28803600" cy="9151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2" name="TextBox 19"/>
          <p:cNvSpPr/>
          <p:nvPr/>
        </p:nvSpPr>
        <p:spPr>
          <a:xfrm>
            <a:off x="1042560" y="6650280"/>
            <a:ext cx="9829800" cy="281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t">
            <a:spAutoFit/>
          </a:bodyPr>
          <a:p>
            <a:pPr algn="just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The motivation is to investigate the diffuseness of the neutron Fermi surface at the neutron number N=40 with </a:t>
            </a:r>
            <a:r>
              <a:rPr b="0" lang="en-US" sz="3600" spc="-1" strike="noStrike" baseline="33000">
                <a:solidFill>
                  <a:srgbClr val="000000"/>
                </a:solidFill>
                <a:latin typeface="Quattrocento Sans"/>
                <a:ea typeface="ＭＳ Ｐゴシック"/>
              </a:rPr>
              <a:t>68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Ni(p,d)</a:t>
            </a:r>
            <a:r>
              <a:rPr b="0" lang="en-US" sz="3600" spc="-1" strike="noStrike" baseline="33000">
                <a:solidFill>
                  <a:srgbClr val="000000"/>
                </a:solidFill>
                <a:latin typeface="Quattrocento Sans"/>
                <a:ea typeface="ＭＳ Ｐゴシック"/>
              </a:rPr>
              <a:t>67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Ni reaction and study N=50 gap with </a:t>
            </a:r>
            <a:r>
              <a:rPr b="0" lang="en-US" sz="3600" spc="-1" strike="noStrike" baseline="33000">
                <a:solidFill>
                  <a:srgbClr val="000000"/>
                </a:solidFill>
                <a:latin typeface="Quattrocento Sans"/>
                <a:ea typeface="ＭＳ Ｐゴシック"/>
              </a:rPr>
              <a:t>68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Ni(d,p)</a:t>
            </a:r>
            <a:r>
              <a:rPr b="0" lang="en-US" sz="3600" spc="-1" strike="noStrike" baseline="33000">
                <a:solidFill>
                  <a:srgbClr val="000000"/>
                </a:solidFill>
                <a:latin typeface="Quattrocento Sans"/>
                <a:ea typeface="ＭＳ Ｐゴシック"/>
              </a:rPr>
              <a:t>69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Ni reaction.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53" name="Rectangle 10"/>
          <p:cNvSpPr/>
          <p:nvPr/>
        </p:nvSpPr>
        <p:spPr>
          <a:xfrm>
            <a:off x="813960" y="5843160"/>
            <a:ext cx="28803600" cy="68400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3684a0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05920" rIns="205920" tIns="54720" bIns="5148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Quattrocento"/>
                <a:ea typeface="Arial"/>
              </a:rPr>
              <a:t>Introduction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54" name="Rectangle 87"/>
          <p:cNvSpPr/>
          <p:nvPr/>
        </p:nvSpPr>
        <p:spPr>
          <a:xfrm>
            <a:off x="813960" y="16365960"/>
            <a:ext cx="28803600" cy="124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5" name="Rectangle 90"/>
          <p:cNvSpPr/>
          <p:nvPr/>
        </p:nvSpPr>
        <p:spPr>
          <a:xfrm>
            <a:off x="1222920" y="40343760"/>
            <a:ext cx="13535640" cy="1618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6" name="TextBox 19"/>
          <p:cNvSpPr/>
          <p:nvPr/>
        </p:nvSpPr>
        <p:spPr>
          <a:xfrm>
            <a:off x="1281960" y="40967280"/>
            <a:ext cx="13019400" cy="53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t">
            <a:spAutoFit/>
          </a:bodyPr>
          <a:p>
            <a:pPr algn="just">
              <a:lnSpc>
                <a:spcPct val="110000"/>
              </a:lnSpc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[3] J. Diriken et al, PRC 91 054321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57" name="Rectangle 10"/>
          <p:cNvSpPr/>
          <p:nvPr/>
        </p:nvSpPr>
        <p:spPr>
          <a:xfrm>
            <a:off x="886320" y="39675960"/>
            <a:ext cx="13643640" cy="404640"/>
          </a:xfrm>
          <a:prstGeom prst="snipRoundRect">
            <a:avLst>
              <a:gd name="adj1" fmla="val 0"/>
              <a:gd name="adj2" fmla="val 46622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05920" rIns="205920" tIns="54720" bIns="5148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Quattrocento"/>
                <a:ea typeface="Arial"/>
              </a:rPr>
              <a:t>References</a:t>
            </a:r>
            <a:endParaRPr b="0" lang="en-US" sz="3600" spc="-1" strike="noStrike">
              <a:latin typeface="Arial"/>
            </a:endParaRPr>
          </a:p>
        </p:txBody>
      </p:sp>
      <p:pic>
        <p:nvPicPr>
          <p:cNvPr id="58" name="" descr=""/>
          <p:cNvPicPr/>
          <p:nvPr/>
        </p:nvPicPr>
        <p:blipFill>
          <a:blip r:embed="rId1"/>
          <a:stretch/>
        </p:blipFill>
        <p:spPr>
          <a:xfrm>
            <a:off x="1271160" y="9462240"/>
            <a:ext cx="8972640" cy="5238720"/>
          </a:xfrm>
          <a:prstGeom prst="rect">
            <a:avLst/>
          </a:prstGeom>
          <a:ln w="0">
            <a:noFill/>
          </a:ln>
        </p:spPr>
      </p:pic>
      <p:sp>
        <p:nvSpPr>
          <p:cNvPr id="59" name=""/>
          <p:cNvSpPr txBox="1"/>
          <p:nvPr/>
        </p:nvSpPr>
        <p:spPr>
          <a:xfrm>
            <a:off x="2185560" y="14749920"/>
            <a:ext cx="8458200" cy="828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i="1" lang="en-US" sz="2600" spc="-1" strike="noStrike">
                <a:solidFill>
                  <a:srgbClr val="000000"/>
                </a:solidFill>
                <a:latin typeface="Arial"/>
              </a:rPr>
              <a:t>Figure 1: Occupancy and Vacancy </a:t>
            </a:r>
            <a:r>
              <a:rPr b="0" i="1" lang="en-US" sz="2600" spc="-1" strike="noStrike">
                <a:solidFill>
                  <a:srgbClr val="000000"/>
                </a:solidFill>
                <a:latin typeface="Arial"/>
              </a:rPr>
              <a:t>for N=40 nuclei [1]</a:t>
            </a:r>
            <a:endParaRPr b="0" i="1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Rectangle 8"/>
          <p:cNvSpPr/>
          <p:nvPr/>
        </p:nvSpPr>
        <p:spPr>
          <a:xfrm>
            <a:off x="813960" y="29808720"/>
            <a:ext cx="28803600" cy="963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1" name="TextBox 3"/>
          <p:cNvSpPr/>
          <p:nvPr/>
        </p:nvSpPr>
        <p:spPr>
          <a:xfrm>
            <a:off x="1326240" y="29808720"/>
            <a:ext cx="27092520" cy="187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t">
            <a:spAutoFit/>
          </a:bodyPr>
          <a:p>
            <a:pPr algn="just">
              <a:lnSpc>
                <a:spcPct val="110000"/>
              </a:lnSpc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The experiment was successfully performed in May 2023, around 22 UT beam time was used for the physics data. Two different beam energies are used for CD</a:t>
            </a:r>
            <a:r>
              <a:rPr b="0" lang="en-US" sz="3600" spc="-1" strike="noStrike" baseline="-8000">
                <a:solidFill>
                  <a:srgbClr val="000000"/>
                </a:solidFill>
                <a:latin typeface="Quattrocento Sans"/>
                <a:ea typeface="ＭＳ Ｐゴシック"/>
              </a:rPr>
              <a:t>2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 and CH</a:t>
            </a:r>
            <a:r>
              <a:rPr b="0" lang="en-US" sz="3600" spc="-1" strike="noStrike" baseline="-8000">
                <a:solidFill>
                  <a:srgbClr val="000000"/>
                </a:solidFill>
                <a:latin typeface="Quattrocento Sans"/>
                <a:ea typeface="ＭＳ Ｐゴシック"/>
              </a:rPr>
              <a:t>2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 target. Also Carbon target is used for the background information. The preliminary results for Kinematics and Missing mass excitation energies are shown in below Figures. 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62" name="Rectangle 9"/>
          <p:cNvSpPr/>
          <p:nvPr/>
        </p:nvSpPr>
        <p:spPr>
          <a:xfrm>
            <a:off x="813960" y="28932120"/>
            <a:ext cx="28803600" cy="87660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664f9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05920" rIns="205920" tIns="54720" bIns="5148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Quattrocento"/>
                <a:ea typeface="Arial"/>
              </a:rPr>
              <a:t>Results &amp; Conclusion</a:t>
            </a:r>
            <a:endParaRPr b="0" lang="en-US" sz="3600" spc="-1" strike="noStrike">
              <a:latin typeface="Arial"/>
            </a:endParaRPr>
          </a:p>
        </p:txBody>
      </p:sp>
      <p:pic>
        <p:nvPicPr>
          <p:cNvPr id="63" name="" descr=""/>
          <p:cNvPicPr/>
          <p:nvPr/>
        </p:nvPicPr>
        <p:blipFill>
          <a:blip r:embed="rId2"/>
          <a:stretch/>
        </p:blipFill>
        <p:spPr>
          <a:xfrm>
            <a:off x="3091320" y="31936320"/>
            <a:ext cx="5049720" cy="4646160"/>
          </a:xfrm>
          <a:prstGeom prst="rect">
            <a:avLst/>
          </a:prstGeom>
          <a:ln w="0">
            <a:noFill/>
          </a:ln>
        </p:spPr>
      </p:pic>
      <p:pic>
        <p:nvPicPr>
          <p:cNvPr id="64" name="" descr=""/>
          <p:cNvPicPr/>
          <p:nvPr/>
        </p:nvPicPr>
        <p:blipFill>
          <a:blip r:embed="rId3"/>
          <a:stretch/>
        </p:blipFill>
        <p:spPr>
          <a:xfrm>
            <a:off x="7949160" y="32058360"/>
            <a:ext cx="5793480" cy="4450680"/>
          </a:xfrm>
          <a:prstGeom prst="rect">
            <a:avLst/>
          </a:prstGeom>
          <a:ln w="0">
            <a:noFill/>
          </a:ln>
        </p:spPr>
      </p:pic>
      <p:grpSp>
        <p:nvGrpSpPr>
          <p:cNvPr id="65" name=""/>
          <p:cNvGrpSpPr/>
          <p:nvPr/>
        </p:nvGrpSpPr>
        <p:grpSpPr>
          <a:xfrm>
            <a:off x="1042560" y="16594560"/>
            <a:ext cx="28547640" cy="12263400"/>
            <a:chOff x="1042560" y="16594560"/>
            <a:chExt cx="28547640" cy="12263400"/>
          </a:xfrm>
        </p:grpSpPr>
        <p:sp>
          <p:nvSpPr>
            <p:cNvPr id="66" name=""/>
            <p:cNvSpPr txBox="1"/>
            <p:nvPr/>
          </p:nvSpPr>
          <p:spPr>
            <a:xfrm>
              <a:off x="1042560" y="16594560"/>
              <a:ext cx="10771560" cy="11545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r>
                <a:rPr b="0" lang="en-US" sz="3600" spc="-1" strike="noStrike" baseline="33000">
                  <a:solidFill>
                    <a:srgbClr val="000000"/>
                  </a:solidFill>
                  <a:latin typeface="Quenttaro"/>
                </a:rPr>
                <a:t>70</a:t>
              </a:r>
              <a:r>
                <a:rPr b="0" lang="en-US" sz="3600" spc="-1" strike="noStrike">
                  <a:solidFill>
                    <a:srgbClr val="000000"/>
                  </a:solidFill>
                  <a:latin typeface="Quenttaro"/>
                </a:rPr>
                <a:t>Zn (62 </a:t>
              </a:r>
              <a:r>
                <a:rPr b="0" lang="en-US" sz="3600" spc="-1" strike="noStrike">
                  <a:solidFill>
                    <a:srgbClr val="000000"/>
                  </a:solidFill>
                  <a:latin typeface="Quenttaro"/>
                </a:rPr>
                <a:t>MeV) + </a:t>
              </a:r>
              <a:r>
                <a:rPr b="0" lang="en-US" sz="3600" spc="-1" strike="noStrike" baseline="33000">
                  <a:solidFill>
                    <a:srgbClr val="000000"/>
                  </a:solidFill>
                  <a:latin typeface="Quenttaro"/>
                </a:rPr>
                <a:t>9</a:t>
              </a:r>
              <a:r>
                <a:rPr b="0" lang="en-US" sz="3600" spc="-1" strike="noStrike">
                  <a:solidFill>
                    <a:srgbClr val="000000"/>
                  </a:solidFill>
                  <a:latin typeface="Quenttaro"/>
                </a:rPr>
                <a:t>Be (500 </a:t>
              </a:r>
              <a:r>
                <a:rPr b="0" lang="en-US" sz="3600" spc="-1" strike="noStrike">
                  <a:solidFill>
                    <a:srgbClr val="000000"/>
                  </a:solidFill>
                  <a:latin typeface="Quenttaro"/>
                  <a:ea typeface="Arial"/>
                </a:rPr>
                <a:t>μm)</a:t>
              </a:r>
              <a:r>
                <a:rPr b="0" lang="en-US" sz="3600" spc="-1" strike="noStrike">
                  <a:solidFill>
                    <a:srgbClr val="000000"/>
                  </a:solidFill>
                  <a:latin typeface="Quenttaro"/>
                </a:rPr>
                <a:t> </a:t>
              </a:r>
              <a:r>
                <a:rPr b="0" lang="en-US" sz="3600" spc="-1" strike="noStrike">
                  <a:solidFill>
                    <a:srgbClr val="000000"/>
                  </a:solidFill>
                  <a:latin typeface="Quenttaro"/>
                  <a:ea typeface="Arial"/>
                </a:rPr>
                <a:t>→</a:t>
              </a:r>
              <a:r>
                <a:rPr b="0" lang="en-US" sz="3600" spc="-1" strike="noStrike">
                  <a:solidFill>
                    <a:srgbClr val="000000"/>
                  </a:solidFill>
                  <a:latin typeface="Quenttaro"/>
                </a:rPr>
                <a:t> </a:t>
              </a:r>
              <a:r>
                <a:rPr b="0" lang="en-US" sz="3600" spc="-1" strike="noStrike" baseline="33000">
                  <a:solidFill>
                    <a:srgbClr val="000000"/>
                  </a:solidFill>
                  <a:latin typeface="Quenttaro"/>
                </a:rPr>
                <a:t>68</a:t>
              </a:r>
              <a:r>
                <a:rPr b="0" lang="en-US" sz="3600" spc="-1" strike="noStrike">
                  <a:solidFill>
                    <a:srgbClr val="000000"/>
                  </a:solidFill>
                  <a:latin typeface="Quenttaro"/>
                </a:rPr>
                <a:t>Ni </a:t>
              </a:r>
              <a:r>
                <a:rPr b="0" lang="en-US" sz="3600" spc="-1" strike="noStrike">
                  <a:solidFill>
                    <a:srgbClr val="000000"/>
                  </a:solidFill>
                  <a:latin typeface="Quenttaro"/>
                </a:rPr>
                <a:t>(@LISE)</a:t>
              </a:r>
              <a:endParaRPr b="0" lang="en-US" sz="3600" spc="-1" strike="noStrike">
                <a:solidFill>
                  <a:srgbClr val="000000"/>
                </a:solidFill>
                <a:latin typeface="Quenttaro"/>
              </a:endParaRPr>
            </a:p>
          </p:txBody>
        </p:sp>
        <p:grpSp>
          <p:nvGrpSpPr>
            <p:cNvPr id="67" name=""/>
            <p:cNvGrpSpPr/>
            <p:nvPr/>
          </p:nvGrpSpPr>
          <p:grpSpPr>
            <a:xfrm>
              <a:off x="1499760" y="16823160"/>
              <a:ext cx="8852400" cy="5350320"/>
              <a:chOff x="1499760" y="16823160"/>
              <a:chExt cx="8852400" cy="5350320"/>
            </a:xfrm>
          </p:grpSpPr>
          <p:sp>
            <p:nvSpPr>
              <p:cNvPr id="68" name=""/>
              <p:cNvSpPr txBox="1"/>
              <p:nvPr/>
            </p:nvSpPr>
            <p:spPr>
              <a:xfrm>
                <a:off x="9331200" y="18033840"/>
                <a:ext cx="1020960" cy="120852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rIns="90000" tIns="45000" bIns="45000" anchor="t">
                <a:noAutofit/>
              </a:bodyPr>
              <a:p>
                <a:pPr algn="ctr">
                  <a:buNone/>
                </a:pPr>
                <a:r>
                  <a:rPr b="0" lang="en-US" sz="3200" spc="-1" strike="noStrike" baseline="33000">
                    <a:solidFill>
                      <a:srgbClr val="000000"/>
                    </a:solidFill>
                    <a:latin typeface="Arial"/>
                  </a:rPr>
                  <a:t>69</a:t>
                </a:r>
                <a:r>
                  <a:rPr b="0" lang="en-US" sz="3200" spc="-1" strike="noStrike">
                    <a:solidFill>
                      <a:srgbClr val="000000"/>
                    </a:solidFill>
                    <a:latin typeface="Arial"/>
                  </a:rPr>
                  <a:t>Ni </a:t>
                </a:r>
                <a:r>
                  <a:rPr b="0" lang="en-US" sz="3200" spc="-1" strike="noStrike" baseline="33000">
                    <a:solidFill>
                      <a:srgbClr val="000000"/>
                    </a:solidFill>
                    <a:latin typeface="Arial"/>
                  </a:rPr>
                  <a:t>67</a:t>
                </a:r>
                <a:r>
                  <a:rPr b="0" lang="en-US" sz="3200" spc="-1" strike="noStrike">
                    <a:solidFill>
                      <a:srgbClr val="000000"/>
                    </a:solidFill>
                    <a:latin typeface="Arial"/>
                  </a:rPr>
                  <a:t>Ni</a:t>
                </a:r>
                <a:endParaRPr b="0" lang="en-US" sz="32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9" name=""/>
              <p:cNvSpPr/>
              <p:nvPr/>
            </p:nvSpPr>
            <p:spPr>
              <a:xfrm>
                <a:off x="7872840" y="17886600"/>
                <a:ext cx="1312560" cy="1324080"/>
              </a:xfrm>
              <a:prstGeom prst="ellipse">
                <a:avLst/>
              </a:prstGeom>
              <a:noFill/>
              <a:ln cap="rnd" w="38160">
                <a:solidFill>
                  <a:srgbClr val="000000"/>
                </a:solidFill>
                <a:prstDash val="dash"/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0" name=""/>
              <p:cNvSpPr/>
              <p:nvPr/>
            </p:nvSpPr>
            <p:spPr>
              <a:xfrm>
                <a:off x="8164800" y="17886600"/>
                <a:ext cx="1312200" cy="1324080"/>
              </a:xfrm>
              <a:prstGeom prst="ellipse">
                <a:avLst/>
              </a:prstGeom>
              <a:noFill/>
              <a:ln w="38160">
                <a:solidFill>
                  <a:srgbClr val="000000"/>
                </a:solidFill>
                <a:prstDash val="lgDashDotDot"/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1" name=""/>
              <p:cNvSpPr/>
              <p:nvPr/>
            </p:nvSpPr>
            <p:spPr>
              <a:xfrm>
                <a:off x="8019000" y="17739720"/>
                <a:ext cx="1312200" cy="1323720"/>
              </a:xfrm>
              <a:prstGeom prst="ellipse">
                <a:avLst/>
              </a:prstGeom>
              <a:noFill/>
              <a:ln cap="rnd" w="38160">
                <a:solidFill>
                  <a:srgbClr val="000000"/>
                </a:solidFill>
                <a:prstDash val="dash"/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2" name=""/>
              <p:cNvSpPr/>
              <p:nvPr/>
            </p:nvSpPr>
            <p:spPr>
              <a:xfrm>
                <a:off x="8164800" y="18033840"/>
                <a:ext cx="1312560" cy="1324080"/>
              </a:xfrm>
              <a:prstGeom prst="ellipse">
                <a:avLst/>
              </a:prstGeom>
              <a:noFill/>
              <a:ln w="38160">
                <a:solidFill>
                  <a:srgbClr val="000000"/>
                </a:solidFill>
                <a:prstDash val="dash"/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cxnSp>
            <p:nvCxnSpPr>
              <p:cNvPr id="73" name=""/>
              <p:cNvCxnSpPr/>
              <p:nvPr/>
            </p:nvCxnSpPr>
            <p:spPr>
              <a:xfrm flipV="1">
                <a:off x="5393880" y="19935000"/>
                <a:ext cx="1094040" cy="371880"/>
              </a:xfrm>
              <a:prstGeom prst="straightConnector1">
                <a:avLst/>
              </a:prstGeom>
              <a:ln w="38160">
                <a:solidFill>
                  <a:srgbClr val="000000"/>
                </a:solidFill>
                <a:round/>
              </a:ln>
            </p:spPr>
          </p:cxnSp>
          <p:cxnSp>
            <p:nvCxnSpPr>
              <p:cNvPr id="74" name=""/>
              <p:cNvCxnSpPr/>
              <p:nvPr/>
            </p:nvCxnSpPr>
            <p:spPr>
              <a:xfrm flipH="1" flipV="1">
                <a:off x="6487560" y="19935000"/>
                <a:ext cx="860760" cy="336600"/>
              </a:xfrm>
              <a:prstGeom prst="straightConnector1">
                <a:avLst/>
              </a:prstGeom>
              <a:ln w="38160">
                <a:solidFill>
                  <a:srgbClr val="000000"/>
                </a:solidFill>
                <a:round/>
                <a:headEnd len="med" type="triangle" w="med"/>
              </a:ln>
            </p:spPr>
          </p:cxnSp>
          <p:sp>
            <p:nvSpPr>
              <p:cNvPr id="75" name=""/>
              <p:cNvSpPr/>
              <p:nvPr/>
            </p:nvSpPr>
            <p:spPr>
              <a:xfrm flipH="1" flipV="1">
                <a:off x="4664880" y="18541440"/>
                <a:ext cx="1749960" cy="147240"/>
              </a:xfrm>
              <a:prstGeom prst="line">
                <a:avLst/>
              </a:prstGeom>
              <a:ln w="38160">
                <a:solidFill>
                  <a:srgbClr val="000000"/>
                </a:solidFill>
                <a:round/>
                <a:head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6" name=""/>
              <p:cNvSpPr/>
              <p:nvPr/>
            </p:nvSpPr>
            <p:spPr>
              <a:xfrm flipV="1">
                <a:off x="6414840" y="18541440"/>
                <a:ext cx="1749960" cy="147240"/>
              </a:xfrm>
              <a:prstGeom prst="line">
                <a:avLst/>
              </a:prstGeom>
              <a:ln w="38160">
                <a:solidFill>
                  <a:srgbClr val="000000"/>
                </a:solidFill>
                <a:round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</p:sp>
          <p:pic>
            <p:nvPicPr>
              <p:cNvPr id="77" name="" descr=""/>
              <p:cNvPicPr/>
              <p:nvPr/>
            </p:nvPicPr>
            <p:blipFill>
              <a:blip r:embed="rId4"/>
              <a:srcRect l="0" t="0" r="8804" b="0"/>
              <a:stretch/>
            </p:blipFill>
            <p:spPr>
              <a:xfrm>
                <a:off x="6123240" y="18688680"/>
                <a:ext cx="729000" cy="124632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78" name=""/>
              <p:cNvSpPr txBox="1"/>
              <p:nvPr/>
            </p:nvSpPr>
            <p:spPr>
              <a:xfrm>
                <a:off x="3643920" y="18247320"/>
                <a:ext cx="874800" cy="54288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rIns="90000" tIns="45000" bIns="45000" anchor="t">
                <a:noAutofit/>
              </a:bodyPr>
              <a:p>
                <a:r>
                  <a:rPr b="0" lang="en-US" sz="3200" spc="-1" strike="noStrike" baseline="33000">
                    <a:solidFill>
                      <a:srgbClr val="000000"/>
                    </a:solidFill>
                    <a:latin typeface="Arial"/>
                  </a:rPr>
                  <a:t>68</a:t>
                </a:r>
                <a:r>
                  <a:rPr b="0" lang="en-US" sz="3200" spc="-1" strike="noStrike">
                    <a:solidFill>
                      <a:srgbClr val="000000"/>
                    </a:solidFill>
                    <a:latin typeface="Arial"/>
                  </a:rPr>
                  <a:t>Ni</a:t>
                </a:r>
                <a:endParaRPr b="0" lang="en-US" sz="32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9" name=""/>
              <p:cNvSpPr txBox="1"/>
              <p:nvPr/>
            </p:nvSpPr>
            <p:spPr>
              <a:xfrm>
                <a:off x="7727040" y="20306880"/>
                <a:ext cx="1312560" cy="11142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rIns="90000" tIns="45000" bIns="45000" anchor="t">
                <a:noAutofit/>
              </a:bodyPr>
              <a:p>
                <a:r>
                  <a:rPr b="0" lang="en-US" sz="3600" spc="-1" strike="noStrike">
                    <a:latin typeface="Arial"/>
                  </a:rPr>
                  <a:t>(E4</a:t>
                </a:r>
                <a:r>
                  <a:rPr b="0" lang="en-US" sz="3600" spc="-1" strike="noStrike">
                    <a:latin typeface="Arial"/>
                  </a:rPr>
                  <a:t>,p4</a:t>
                </a:r>
                <a:r>
                  <a:rPr b="0" lang="en-US" sz="3600" spc="-1" strike="noStrike">
                    <a:latin typeface="Arial"/>
                  </a:rPr>
                  <a:t>)</a:t>
                </a:r>
                <a:endParaRPr b="0" lang="en-US" sz="3600" spc="-1" strike="noStrike">
                  <a:latin typeface="Arial"/>
                </a:endParaRPr>
              </a:p>
            </p:txBody>
          </p:sp>
          <p:sp>
            <p:nvSpPr>
              <p:cNvPr id="80" name=""/>
              <p:cNvSpPr txBox="1"/>
              <p:nvPr/>
            </p:nvSpPr>
            <p:spPr>
              <a:xfrm>
                <a:off x="4810680" y="20453760"/>
                <a:ext cx="874800" cy="144792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rIns="90000" tIns="45000" bIns="45000" anchor="t">
                <a:noAutofit/>
              </a:bodyPr>
              <a:p>
                <a:r>
                  <a:rPr b="0" lang="en-US" sz="3200" spc="-1" strike="noStrike">
                    <a:latin typeface="Arial"/>
                  </a:rPr>
                  <a:t>(m1,0)</a:t>
                </a:r>
                <a:endParaRPr b="0" lang="en-US" sz="3200" spc="-1" strike="noStrike">
                  <a:latin typeface="Arial"/>
                </a:endParaRPr>
              </a:p>
            </p:txBody>
          </p:sp>
          <p:sp>
            <p:nvSpPr>
              <p:cNvPr id="81" name=""/>
              <p:cNvSpPr txBox="1"/>
              <p:nvPr/>
            </p:nvSpPr>
            <p:spPr>
              <a:xfrm>
                <a:off x="8164800" y="19477800"/>
                <a:ext cx="1312200" cy="11142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rIns="90000" tIns="45000" bIns="45000" anchor="t">
                <a:noAutofit/>
              </a:bodyPr>
              <a:p>
                <a:r>
                  <a:rPr b="0" lang="en-US" sz="3600" spc="-1" strike="noStrike">
                    <a:latin typeface="Arial"/>
                  </a:rPr>
                  <a:t>(E3,p3)</a:t>
                </a:r>
                <a:endParaRPr b="0" lang="en-US" sz="3600" spc="-1" strike="noStrike">
                  <a:latin typeface="Arial"/>
                </a:endParaRPr>
              </a:p>
            </p:txBody>
          </p:sp>
          <p:sp>
            <p:nvSpPr>
              <p:cNvPr id="82" name=""/>
              <p:cNvSpPr/>
              <p:nvPr/>
            </p:nvSpPr>
            <p:spPr>
              <a:xfrm flipH="1" flipV="1">
                <a:off x="8164800" y="17526240"/>
                <a:ext cx="291600" cy="360360"/>
              </a:xfrm>
              <a:prstGeom prst="line">
                <a:avLst/>
              </a:prstGeom>
              <a:ln w="0">
                <a:solidFill>
                  <a:srgbClr val="000000"/>
                </a:solidFill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</p:sp>
          <p:cxnSp>
            <p:nvCxnSpPr>
              <p:cNvPr id="83" name=""/>
              <p:cNvCxnSpPr>
                <a:stCxn id="72" idx="5"/>
              </p:cNvCxnSpPr>
              <p:nvPr/>
            </p:nvCxnSpPr>
            <p:spPr>
              <a:xfrm>
                <a:off x="9285120" y="19164240"/>
                <a:ext cx="331920" cy="349560"/>
              </a:xfrm>
              <a:prstGeom prst="straightConnector1">
                <a:avLst/>
              </a:prstGeom>
              <a:ln w="0">
                <a:solidFill>
                  <a:srgbClr val="000000"/>
                </a:solidFill>
                <a:tailEnd len="med" type="triangle" w="med"/>
              </a:ln>
            </p:spPr>
          </p:cxnSp>
          <p:cxnSp>
            <p:nvCxnSpPr>
              <p:cNvPr id="84" name=""/>
              <p:cNvCxnSpPr>
                <a:stCxn id="72" idx="3"/>
              </p:cNvCxnSpPr>
              <p:nvPr/>
            </p:nvCxnSpPr>
            <p:spPr>
              <a:xfrm flipH="1">
                <a:off x="8104320" y="19164240"/>
                <a:ext cx="253080" cy="390240"/>
              </a:xfrm>
              <a:prstGeom prst="straightConnector1">
                <a:avLst/>
              </a:prstGeom>
              <a:ln w="0">
                <a:solidFill>
                  <a:srgbClr val="000000"/>
                </a:solidFill>
                <a:tailEnd len="med" type="triangle" w="med"/>
              </a:ln>
            </p:spPr>
          </p:cxnSp>
          <p:sp>
            <p:nvSpPr>
              <p:cNvPr id="85" name=""/>
              <p:cNvSpPr txBox="1"/>
              <p:nvPr/>
            </p:nvSpPr>
            <p:spPr>
              <a:xfrm>
                <a:off x="8019000" y="16823160"/>
                <a:ext cx="583200" cy="97884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rIns="90000" tIns="45000" bIns="45000" anchor="t">
                <a:noAutofit/>
              </a:bodyPr>
              <a:p>
                <a:r>
                  <a:rPr b="0" lang="en-US" sz="2800" spc="-1" strike="noStrike">
                    <a:solidFill>
                      <a:srgbClr val="b4b400"/>
                    </a:solidFill>
                    <a:latin typeface="Chandas"/>
                    <a:ea typeface="Arial"/>
                  </a:rPr>
                  <a:t>γ</a:t>
                </a:r>
                <a:endParaRPr b="0" lang="en-US" sz="2800" spc="-1" strike="noStrike">
                  <a:solidFill>
                    <a:srgbClr val="b4b400"/>
                  </a:solidFill>
                  <a:latin typeface="Chandas"/>
                </a:endParaRPr>
              </a:p>
            </p:txBody>
          </p:sp>
          <p:sp>
            <p:nvSpPr>
              <p:cNvPr id="86" name=""/>
              <p:cNvSpPr txBox="1"/>
              <p:nvPr/>
            </p:nvSpPr>
            <p:spPr>
              <a:xfrm>
                <a:off x="9185400" y="16889400"/>
                <a:ext cx="583560" cy="97884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rIns="90000" tIns="45000" bIns="45000" anchor="t">
                <a:noAutofit/>
              </a:bodyPr>
              <a:p>
                <a:r>
                  <a:rPr b="0" lang="en-US" sz="2800" spc="-1" strike="noStrike">
                    <a:solidFill>
                      <a:srgbClr val="b4b400"/>
                    </a:solidFill>
                    <a:latin typeface="Chandas"/>
                    <a:ea typeface="Arial"/>
                  </a:rPr>
                  <a:t>γ</a:t>
                </a:r>
                <a:endParaRPr b="0" lang="en-US" sz="2800" spc="-1" strike="noStrike">
                  <a:solidFill>
                    <a:srgbClr val="b4b400"/>
                  </a:solidFill>
                  <a:latin typeface="Chandas"/>
                </a:endParaRPr>
              </a:p>
            </p:txBody>
          </p:sp>
          <p:sp>
            <p:nvSpPr>
              <p:cNvPr id="87" name=""/>
              <p:cNvSpPr txBox="1"/>
              <p:nvPr/>
            </p:nvSpPr>
            <p:spPr>
              <a:xfrm>
                <a:off x="9622800" y="19096200"/>
                <a:ext cx="583560" cy="97884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rIns="90000" tIns="45000" bIns="45000" anchor="t">
                <a:noAutofit/>
              </a:bodyPr>
              <a:p>
                <a:r>
                  <a:rPr b="0" lang="en-US" sz="2800" spc="-1" strike="noStrike">
                    <a:solidFill>
                      <a:srgbClr val="b4b400"/>
                    </a:solidFill>
                    <a:latin typeface="Chandas"/>
                    <a:ea typeface="Arial"/>
                  </a:rPr>
                  <a:t>γ</a:t>
                </a:r>
                <a:endParaRPr b="0" lang="en-US" sz="2800" spc="-1" strike="noStrike">
                  <a:solidFill>
                    <a:srgbClr val="b4b400"/>
                  </a:solidFill>
                  <a:latin typeface="Chandas"/>
                </a:endParaRPr>
              </a:p>
            </p:txBody>
          </p:sp>
          <p:sp>
            <p:nvSpPr>
              <p:cNvPr id="88" name=""/>
              <p:cNvSpPr txBox="1"/>
              <p:nvPr/>
            </p:nvSpPr>
            <p:spPr>
              <a:xfrm>
                <a:off x="7806600" y="19029600"/>
                <a:ext cx="583560" cy="11037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rIns="90000" tIns="45000" bIns="45000" anchor="t">
                <a:noAutofit/>
              </a:bodyPr>
              <a:p>
                <a:r>
                  <a:rPr b="0" lang="en-US" sz="3200" spc="-1" strike="noStrike">
                    <a:solidFill>
                      <a:srgbClr val="b4b400"/>
                    </a:solidFill>
                    <a:latin typeface="Chandas"/>
                    <a:ea typeface="Arial"/>
                  </a:rPr>
                  <a:t>γ</a:t>
                </a:r>
                <a:endParaRPr b="0" lang="en-US" sz="3200" spc="-1" strike="noStrike">
                  <a:solidFill>
                    <a:srgbClr val="b4b400"/>
                  </a:solidFill>
                  <a:latin typeface="Chandas"/>
                </a:endParaRPr>
              </a:p>
            </p:txBody>
          </p:sp>
          <p:sp>
            <p:nvSpPr>
              <p:cNvPr id="89" name=""/>
              <p:cNvSpPr txBox="1"/>
              <p:nvPr/>
            </p:nvSpPr>
            <p:spPr>
              <a:xfrm>
                <a:off x="3777840" y="20468160"/>
                <a:ext cx="3062520" cy="170532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rIns="90000" tIns="45000" bIns="45000" anchor="t">
                <a:noAutofit/>
              </a:bodyPr>
              <a:p>
                <a:r>
                  <a:rPr b="0" lang="en-US" sz="2400" spc="-1" strike="noStrike">
                    <a:solidFill>
                      <a:srgbClr val="000000"/>
                    </a:solidFill>
                    <a:latin typeface="Quattaro"/>
                  </a:rPr>
                  <a:t>T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Quattaro"/>
                  </a:rPr>
                  <a:t>a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Quattaro"/>
                  </a:rPr>
                  <a:t>r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Quattaro"/>
                  </a:rPr>
                  <a:t>g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Quattaro"/>
                  </a:rPr>
                  <a:t>e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Quattaro"/>
                  </a:rPr>
                  <a:t>t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Quattaro"/>
                  </a:rPr>
                  <a:t>s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Quattaro"/>
                  </a:rPr>
                  <a:t>:</a:t>
                </a:r>
                <a:endParaRPr b="0" lang="en-US" sz="2400" spc="-1" strike="noStrike">
                  <a:solidFill>
                    <a:srgbClr val="000000"/>
                  </a:solidFill>
                  <a:latin typeface="Quattaro"/>
                </a:endParaRPr>
              </a:p>
              <a:p>
                <a:r>
                  <a:rPr b="0" lang="en-US" sz="2400" spc="-1" strike="noStrike">
                    <a:solidFill>
                      <a:srgbClr val="000000"/>
                    </a:solidFill>
                    <a:latin typeface="Quattaro"/>
                  </a:rPr>
                  <a:t>C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Quattaro"/>
                  </a:rPr>
                  <a:t>D</a:t>
                </a:r>
                <a:r>
                  <a:rPr b="0" lang="en-US" sz="2400" spc="-1" strike="noStrike" baseline="-8000">
                    <a:solidFill>
                      <a:srgbClr val="000000"/>
                    </a:solidFill>
                    <a:latin typeface="Quattaro"/>
                  </a:rPr>
                  <a:t>2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Quattaro"/>
                  </a:rPr>
                  <a:t>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Quattaro"/>
                  </a:rPr>
                  <a:t>(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Quattaro"/>
                  </a:rPr>
                  <a:t>0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Quattaro"/>
                  </a:rPr>
                  <a:t>.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Quattaro"/>
                  </a:rPr>
                  <a:t>5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Quattaro"/>
                  </a:rPr>
                  <a:t>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Quattaro"/>
                  </a:rPr>
                  <a:t>m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Quattaro"/>
                  </a:rPr>
                  <a:t>g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Quattaro"/>
                  </a:rPr>
                  <a:t>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Quattaro"/>
                  </a:rPr>
                  <a:t>/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Quattaro"/>
                  </a:rPr>
                  <a:t>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Quattaro"/>
                  </a:rPr>
                  <a:t>c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Quattaro"/>
                  </a:rPr>
                  <a:t>m</a:t>
                </a:r>
                <a:r>
                  <a:rPr b="0" lang="en-US" sz="2400" spc="-1" strike="noStrike" baseline="33000">
                    <a:solidFill>
                      <a:srgbClr val="000000"/>
                    </a:solidFill>
                    <a:latin typeface="Quattaro"/>
                  </a:rPr>
                  <a:t>2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Quattaro"/>
                  </a:rPr>
                  <a:t>)</a:t>
                </a:r>
                <a:endParaRPr b="0" lang="en-US" sz="2400" spc="-1" strike="noStrike">
                  <a:solidFill>
                    <a:srgbClr val="000000"/>
                  </a:solidFill>
                  <a:latin typeface="Quattaro"/>
                </a:endParaRPr>
              </a:p>
              <a:p>
                <a:r>
                  <a:rPr b="0" lang="en-US" sz="2400" spc="-1" strike="noStrike">
                    <a:solidFill>
                      <a:srgbClr val="000000"/>
                    </a:solidFill>
                    <a:latin typeface="Quattaro"/>
                  </a:rPr>
                  <a:t>C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Quattaro"/>
                  </a:rPr>
                  <a:t>H</a:t>
                </a:r>
                <a:r>
                  <a:rPr b="0" lang="en-US" sz="2400" spc="-1" strike="noStrike" baseline="-8000">
                    <a:solidFill>
                      <a:srgbClr val="000000"/>
                    </a:solidFill>
                    <a:latin typeface="Quattaro"/>
                  </a:rPr>
                  <a:t>2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Quattaro"/>
                  </a:rPr>
                  <a:t>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Quattaro"/>
                  </a:rPr>
                  <a:t>(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Quattaro"/>
                  </a:rPr>
                  <a:t>5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Quattaro"/>
                  </a:rPr>
                  <a:t>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Quattaro"/>
                  </a:rPr>
                  <a:t>m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Quattaro"/>
                  </a:rPr>
                  <a:t>g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Quattaro"/>
                  </a:rPr>
                  <a:t>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Quattaro"/>
                  </a:rPr>
                  <a:t>/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Quattaro"/>
                  </a:rPr>
                  <a:t> 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Quattaro"/>
                  </a:rPr>
                  <a:t>c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Quattaro"/>
                  </a:rPr>
                  <a:t>m</a:t>
                </a:r>
                <a:r>
                  <a:rPr b="0" lang="en-US" sz="2400" spc="-1" strike="noStrike" baseline="33000">
                    <a:solidFill>
                      <a:srgbClr val="000000"/>
                    </a:solidFill>
                    <a:latin typeface="Quattaro"/>
                  </a:rPr>
                  <a:t>2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Quattaro"/>
                  </a:rPr>
                  <a:t>)</a:t>
                </a:r>
                <a:endParaRPr b="0" lang="en-US" sz="2400" spc="-1" strike="noStrike">
                  <a:solidFill>
                    <a:srgbClr val="000000"/>
                  </a:solidFill>
                  <a:latin typeface="Quattaro"/>
                </a:endParaRPr>
              </a:p>
            </p:txBody>
          </p:sp>
          <p:sp>
            <p:nvSpPr>
              <p:cNvPr id="90" name=""/>
              <p:cNvSpPr txBox="1"/>
              <p:nvPr/>
            </p:nvSpPr>
            <p:spPr>
              <a:xfrm>
                <a:off x="1499760" y="18973080"/>
                <a:ext cx="3957120" cy="20721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rIns="90000" tIns="45000" bIns="45000" anchor="t">
                <a:noAutofit/>
              </a:bodyPr>
              <a:p>
                <a:r>
                  <a:rPr b="0" lang="en-US" sz="2800" spc="-1" strike="noStrike">
                    <a:solidFill>
                      <a:srgbClr val="000000"/>
                    </a:solidFill>
                    <a:latin typeface="Arial"/>
                  </a:rPr>
                  <a:t>Beam @ LISE:</a:t>
                </a:r>
                <a:endParaRPr b="0" lang="en-US" sz="2800" spc="-1" strike="noStrike">
                  <a:solidFill>
                    <a:srgbClr val="000000"/>
                  </a:solidFill>
                  <a:latin typeface="Arial"/>
                </a:endParaRPr>
              </a:p>
              <a:p>
                <a:r>
                  <a:rPr b="0" lang="en-US" sz="2800" spc="-1" strike="noStrike">
                    <a:solidFill>
                      <a:srgbClr val="000000"/>
                    </a:solidFill>
                    <a:latin typeface="Arial"/>
                  </a:rPr>
                  <a:t>5x10</a:t>
                </a:r>
                <a:r>
                  <a:rPr b="0" lang="en-US" sz="2800" spc="-1" strike="noStrike" baseline="33000">
                    <a:solidFill>
                      <a:srgbClr val="000000"/>
                    </a:solidFill>
                    <a:latin typeface="Arial"/>
                  </a:rPr>
                  <a:t>4</a:t>
                </a:r>
                <a:r>
                  <a:rPr b="0" lang="en-US" sz="2800" spc="-1" strike="noStrike">
                    <a:solidFill>
                      <a:srgbClr val="000000"/>
                    </a:solidFill>
                    <a:latin typeface="Arial"/>
                  </a:rPr>
                  <a:t> pps ,~18 MeV/u</a:t>
                </a:r>
                <a:endParaRPr b="0" lang="en-US" sz="2800" spc="-1" strike="noStrike">
                  <a:solidFill>
                    <a:srgbClr val="000000"/>
                  </a:solidFill>
                  <a:latin typeface="Arial"/>
                </a:endParaRPr>
              </a:p>
              <a:p>
                <a:r>
                  <a:rPr b="0" lang="en-US" sz="2800" spc="-1" strike="noStrike">
                    <a:solidFill>
                      <a:srgbClr val="000000"/>
                    </a:solidFill>
                    <a:latin typeface="Arial"/>
                  </a:rPr>
                  <a:t>2x10</a:t>
                </a:r>
                <a:r>
                  <a:rPr b="0" lang="en-US" sz="2800" spc="-1" strike="noStrike" baseline="33000">
                    <a:solidFill>
                      <a:srgbClr val="000000"/>
                    </a:solidFill>
                    <a:latin typeface="Arial"/>
                  </a:rPr>
                  <a:t>5</a:t>
                </a:r>
                <a:r>
                  <a:rPr b="0" lang="en-US" sz="2800" spc="-1" strike="noStrike">
                    <a:solidFill>
                      <a:srgbClr val="000000"/>
                    </a:solidFill>
                    <a:latin typeface="Arial"/>
                  </a:rPr>
                  <a:t> pps, ~38 MeV/u</a:t>
                </a:r>
                <a:endParaRPr b="0" lang="en-US" sz="2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91" name=""/>
              <p:cNvSpPr txBox="1"/>
              <p:nvPr/>
            </p:nvSpPr>
            <p:spPr>
              <a:xfrm>
                <a:off x="6895440" y="20473560"/>
                <a:ext cx="2916720" cy="115524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rIns="90000" tIns="45000" bIns="45000" anchor="t">
                <a:noAutofit/>
              </a:bodyPr>
              <a:p>
                <a:r>
                  <a:rPr b="0" lang="en-US" sz="2400" spc="-1" strike="noStrike">
                    <a:solidFill>
                      <a:srgbClr val="000000"/>
                    </a:solidFill>
                    <a:latin typeface="Quattaro"/>
                  </a:rPr>
                  <a:t>Missing mass:</a:t>
                </a:r>
                <a:endParaRPr b="0" lang="en-US" sz="2400" spc="-1" strike="noStrike">
                  <a:solidFill>
                    <a:srgbClr val="000000"/>
                  </a:solidFill>
                  <a:latin typeface="Quattaro"/>
                </a:endParaRPr>
              </a:p>
              <a:p>
                <a:r>
                  <a:rPr b="0" lang="en-US" sz="2400" spc="-1" strike="noStrike">
                    <a:solidFill>
                      <a:srgbClr val="000000"/>
                    </a:solidFill>
                    <a:latin typeface="Quattaro"/>
                  </a:rPr>
                  <a:t>proton, deutron, ...</a:t>
                </a:r>
                <a:endParaRPr b="0" lang="en-US" sz="2400" spc="-1" strike="noStrike">
                  <a:solidFill>
                    <a:srgbClr val="000000"/>
                  </a:solidFill>
                  <a:latin typeface="Quattaro"/>
                </a:endParaRPr>
              </a:p>
            </p:txBody>
          </p:sp>
          <p:sp>
            <p:nvSpPr>
              <p:cNvPr id="92" name=""/>
              <p:cNvSpPr/>
              <p:nvPr/>
            </p:nvSpPr>
            <p:spPr>
              <a:xfrm flipV="1">
                <a:off x="9185400" y="17613000"/>
                <a:ext cx="315360" cy="273600"/>
              </a:xfrm>
              <a:prstGeom prst="line">
                <a:avLst/>
              </a:prstGeom>
              <a:ln w="0">
                <a:solidFill>
                  <a:srgbClr val="000000"/>
                </a:solidFill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pic>
          <p:nvPicPr>
            <p:cNvPr id="93" name="" descr=""/>
            <p:cNvPicPr/>
            <p:nvPr/>
          </p:nvPicPr>
          <p:blipFill>
            <a:blip r:embed="rId5"/>
            <a:srcRect l="0" t="8202" r="0" b="0"/>
            <a:stretch/>
          </p:blipFill>
          <p:spPr>
            <a:xfrm>
              <a:off x="7443360" y="25281360"/>
              <a:ext cx="5001840" cy="32004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94" name=""/>
            <p:cNvSpPr/>
            <p:nvPr/>
          </p:nvSpPr>
          <p:spPr>
            <a:xfrm flipH="1">
              <a:off x="9043560" y="22949640"/>
              <a:ext cx="5715000" cy="731520"/>
            </a:xfrm>
            <a:prstGeom prst="line">
              <a:avLst/>
            </a:prstGeom>
            <a:ln cap="rnd" w="76320">
              <a:solidFill>
                <a:srgbClr val="00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5" name=""/>
            <p:cNvSpPr/>
            <p:nvPr/>
          </p:nvSpPr>
          <p:spPr>
            <a:xfrm>
              <a:off x="4026240" y="23681160"/>
              <a:ext cx="5017320" cy="523440"/>
            </a:xfrm>
            <a:custGeom>
              <a:avLst/>
              <a:gdLst/>
              <a:ahLst/>
              <a:rect l="0" t="0" r="r" b="b"/>
              <a:pathLst>
                <a:path fill="none" w="13937" h="1454">
                  <a:moveTo>
                    <a:pt x="13937" y="0"/>
                  </a:moveTo>
                  <a:lnTo>
                    <a:pt x="6952" y="635"/>
                  </a:lnTo>
                  <a:lnTo>
                    <a:pt x="0" y="1454"/>
                  </a:lnTo>
                </a:path>
              </a:pathLst>
            </a:custGeom>
            <a:ln cap="rnd" w="76320">
              <a:solidFill>
                <a:srgbClr val="0000ff"/>
              </a:solidFill>
              <a:round/>
            </a:ln>
          </p:spPr>
        </p:sp>
        <p:grpSp>
          <p:nvGrpSpPr>
            <p:cNvPr id="96" name=""/>
            <p:cNvGrpSpPr/>
            <p:nvPr/>
          </p:nvGrpSpPr>
          <p:grpSpPr>
            <a:xfrm>
              <a:off x="3948840" y="18423720"/>
              <a:ext cx="21214800" cy="8915040"/>
              <a:chOff x="3948840" y="18423720"/>
              <a:chExt cx="21214800" cy="8915040"/>
            </a:xfrm>
          </p:grpSpPr>
          <p:pic>
            <p:nvPicPr>
              <p:cNvPr id="97" name="" descr=""/>
              <p:cNvPicPr/>
              <p:nvPr/>
            </p:nvPicPr>
            <p:blipFill>
              <a:blip r:embed="rId6"/>
              <a:srcRect l="5490" t="11353" r="20777" b="18184"/>
              <a:stretch/>
            </p:blipFill>
            <p:spPr>
              <a:xfrm>
                <a:off x="8586360" y="18423720"/>
                <a:ext cx="16577280" cy="891504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98" name=""/>
              <p:cNvSpPr/>
              <p:nvPr/>
            </p:nvSpPr>
            <p:spPr>
              <a:xfrm flipV="1">
                <a:off x="15901560" y="22080960"/>
                <a:ext cx="6400800" cy="786240"/>
              </a:xfrm>
              <a:prstGeom prst="line">
                <a:avLst/>
              </a:prstGeom>
              <a:ln w="76320">
                <a:solidFill>
                  <a:srgbClr val="00ff00"/>
                </a:solidFill>
                <a:prstDash val="sysDot"/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99" name=""/>
              <p:cNvSpPr txBox="1"/>
              <p:nvPr/>
            </p:nvSpPr>
            <p:spPr>
              <a:xfrm rot="21161400">
                <a:off x="3981240" y="24222960"/>
                <a:ext cx="1371600" cy="60228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rIns="90000" tIns="45000" bIns="45000" anchor="t">
                <a:noAutofit/>
              </a:bodyPr>
              <a:p>
                <a:r>
                  <a:rPr b="0" lang="en-US" sz="3600" spc="-1" strike="noStrike" baseline="33000">
                    <a:solidFill>
                      <a:srgbClr val="0000ff"/>
                    </a:solidFill>
                    <a:latin typeface="Arial"/>
                  </a:rPr>
                  <a:t>68</a:t>
                </a:r>
                <a:r>
                  <a:rPr b="0" lang="en-US" sz="3600" spc="-1" strike="noStrike">
                    <a:solidFill>
                      <a:srgbClr val="0000ff"/>
                    </a:solidFill>
                    <a:latin typeface="Arial"/>
                  </a:rPr>
                  <a:t>N</a:t>
                </a:r>
                <a:r>
                  <a:rPr b="0" lang="en-US" sz="3600" spc="-1" strike="noStrike">
                    <a:solidFill>
                      <a:srgbClr val="0000ff"/>
                    </a:solidFill>
                    <a:latin typeface="Arial"/>
                  </a:rPr>
                  <a:t>i</a:t>
                </a:r>
                <a:endParaRPr b="0" lang="en-US" sz="3600" spc="-1" strike="noStrike">
                  <a:solidFill>
                    <a:srgbClr val="0000ff"/>
                  </a:solidFill>
                  <a:latin typeface="Arial"/>
                </a:endParaRPr>
              </a:p>
            </p:txBody>
          </p:sp>
          <p:sp>
            <p:nvSpPr>
              <p:cNvPr id="100" name=""/>
              <p:cNvSpPr/>
              <p:nvPr/>
            </p:nvSpPr>
            <p:spPr>
              <a:xfrm flipV="1">
                <a:off x="15901560" y="22080960"/>
                <a:ext cx="6400800" cy="786240"/>
              </a:xfrm>
              <a:prstGeom prst="line">
                <a:avLst/>
              </a:prstGeom>
              <a:ln w="38160">
                <a:solidFill>
                  <a:srgbClr val="00ff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pic>
          <p:nvPicPr>
            <p:cNvPr id="101" name="" descr=""/>
            <p:cNvPicPr/>
            <p:nvPr/>
          </p:nvPicPr>
          <p:blipFill>
            <a:blip r:embed="rId7"/>
            <a:stretch/>
          </p:blipFill>
          <p:spPr>
            <a:xfrm>
              <a:off x="24588360" y="20480760"/>
              <a:ext cx="4892040" cy="32004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02" name="" descr=""/>
            <p:cNvPicPr/>
            <p:nvPr/>
          </p:nvPicPr>
          <p:blipFill>
            <a:blip r:embed="rId8"/>
            <a:srcRect l="0" t="2278" r="3847" b="0"/>
            <a:stretch/>
          </p:blipFill>
          <p:spPr>
            <a:xfrm>
              <a:off x="18187920" y="25106400"/>
              <a:ext cx="4800240" cy="3127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03" name="" descr=""/>
            <p:cNvPicPr/>
            <p:nvPr/>
          </p:nvPicPr>
          <p:blipFill>
            <a:blip r:embed="rId9"/>
            <a:stretch/>
          </p:blipFill>
          <p:spPr>
            <a:xfrm>
              <a:off x="1267920" y="25052760"/>
              <a:ext cx="6181200" cy="33526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04" name=""/>
            <p:cNvSpPr txBox="1"/>
            <p:nvPr/>
          </p:nvSpPr>
          <p:spPr>
            <a:xfrm>
              <a:off x="1271160" y="22203000"/>
              <a:ext cx="5486400" cy="19353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ctr">
                <a:buNone/>
              </a:pPr>
              <a:r>
                <a:rPr b="1" lang="en-US" sz="2600" spc="-1" strike="noStrike">
                  <a:solidFill>
                    <a:srgbClr val="0072e4"/>
                  </a:solidFill>
                  <a:latin typeface="Arial"/>
                </a:rPr>
                <a:t>CAT</a:t>
              </a:r>
              <a:r>
                <a:rPr b="1" lang="en-US" sz="2600" spc="-1" strike="noStrike">
                  <a:solidFill>
                    <a:srgbClr val="0072e4"/>
                  </a:solidFill>
                  <a:latin typeface="Arial"/>
                </a:rPr>
                <a:t>S1 </a:t>
              </a:r>
              <a:r>
                <a:rPr b="1" lang="en-US" sz="2600" spc="-1" strike="noStrike">
                  <a:solidFill>
                    <a:srgbClr val="0072e4"/>
                  </a:solidFill>
                  <a:latin typeface="Arial"/>
                </a:rPr>
                <a:t>&amp;2 </a:t>
              </a:r>
              <a:endParaRPr b="0" lang="en-US" sz="2600" spc="-1" strike="noStrike">
                <a:solidFill>
                  <a:srgbClr val="000000"/>
                </a:solidFill>
                <a:latin typeface="Arial"/>
              </a:endParaRPr>
            </a:p>
            <a:p>
              <a:pPr marL="216000" indent="-216000">
                <a:buClr>
                  <a:srgbClr val="000000"/>
                </a:buClr>
                <a:buSzPct val="45000"/>
                <a:buFont typeface="Wingdings" charset="2"/>
                <a:buChar char=""/>
              </a:pP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Se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co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nd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ar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y 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be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a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m 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E=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10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-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50 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M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eV </a:t>
              </a:r>
              <a:endParaRPr b="0" lang="en-US" sz="2600" spc="-1" strike="noStrike">
                <a:solidFill>
                  <a:srgbClr val="000000"/>
                </a:solidFill>
                <a:latin typeface="Arial"/>
              </a:endParaRPr>
            </a:p>
            <a:p>
              <a:pPr marL="216000" indent="-216000">
                <a:buClr>
                  <a:srgbClr val="000000"/>
                </a:buClr>
                <a:buSzPct val="45000"/>
                <a:buFont typeface="Wingdings" charset="2"/>
                <a:buChar char=""/>
              </a:pP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Fo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r 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re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co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ns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tru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ct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ed 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be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a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m 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po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siti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on 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on 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tar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ge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t</a:t>
              </a:r>
              <a:endParaRPr b="0" lang="en-US" sz="2600" spc="-1" strike="noStrike">
                <a:solidFill>
                  <a:srgbClr val="000000"/>
                </a:solidFill>
                <a:latin typeface="Arial"/>
              </a:endParaRPr>
            </a:p>
            <a:p>
              <a:pPr marL="216000" indent="-216000">
                <a:buClr>
                  <a:srgbClr val="000000"/>
                </a:buClr>
                <a:buSzPct val="45000"/>
                <a:buFont typeface="Wingdings" charset="2"/>
                <a:buChar char=""/>
              </a:pP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To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F</a:t>
              </a:r>
              <a:endParaRPr b="0" lang="en-US" sz="2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5" name=""/>
            <p:cNvSpPr txBox="1"/>
            <p:nvPr/>
          </p:nvSpPr>
          <p:spPr>
            <a:xfrm>
              <a:off x="14301360" y="24924240"/>
              <a:ext cx="3886200" cy="178236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  <a:spcBef>
                  <a:spcPts val="283"/>
                </a:spcBef>
                <a:spcAft>
                  <a:spcPts val="283"/>
                </a:spcAft>
                <a:buNone/>
              </a:pP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F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o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r 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(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d,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t) 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&amp;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(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p,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d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) </a:t>
              </a:r>
              <a:endParaRPr b="0" lang="en-US" sz="2600" spc="-1" strike="noStrike">
                <a:solidFill>
                  <a:srgbClr val="000000"/>
                </a:solidFill>
                <a:latin typeface="Arial"/>
                <a:ea typeface="Noto Sans CJK SC"/>
              </a:endParaRPr>
            </a:p>
            <a:p>
              <a:pPr>
                <a:lnSpc>
                  <a:spcPct val="100000"/>
                </a:lnSpc>
                <a:spcBef>
                  <a:spcPts val="283"/>
                </a:spcBef>
                <a:spcAft>
                  <a:spcPts val="283"/>
                </a:spcAft>
                <a:buNone/>
              </a:pP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4 </a:t>
              </a:r>
              <a:r>
                <a:rPr b="1" lang="en-US" sz="2600" spc="-1" strike="noStrike">
                  <a:solidFill>
                    <a:srgbClr val="9e4f00"/>
                  </a:solidFill>
                  <a:latin typeface="Arial"/>
                </a:rPr>
                <a:t>M</a:t>
              </a:r>
              <a:r>
                <a:rPr b="1" lang="en-US" sz="2600" spc="-1" strike="noStrike">
                  <a:solidFill>
                    <a:srgbClr val="9e4f00"/>
                  </a:solidFill>
                  <a:latin typeface="Arial"/>
                </a:rPr>
                <a:t>U</a:t>
              </a:r>
              <a:r>
                <a:rPr b="1" lang="en-US" sz="2600" spc="-1" strike="noStrike">
                  <a:solidFill>
                    <a:srgbClr val="9e4f00"/>
                  </a:solidFill>
                  <a:latin typeface="Arial"/>
                </a:rPr>
                <a:t>S</a:t>
              </a:r>
              <a:r>
                <a:rPr b="1" lang="en-US" sz="2600" spc="-1" strike="noStrike">
                  <a:solidFill>
                    <a:srgbClr val="9e4f00"/>
                  </a:solidFill>
                  <a:latin typeface="Arial"/>
                </a:rPr>
                <a:t>T</a:t>
              </a:r>
              <a:r>
                <a:rPr b="1" lang="en-US" sz="2600" spc="-1" strike="noStrike">
                  <a:solidFill>
                    <a:srgbClr val="9e4f00"/>
                  </a:solidFill>
                  <a:latin typeface="Arial"/>
                </a:rPr>
                <a:t>2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te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le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s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c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o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p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e </a:t>
              </a:r>
              <a:endParaRPr b="0" lang="en-US" sz="2600" spc="-1" strike="noStrike">
                <a:solidFill>
                  <a:srgbClr val="000000"/>
                </a:solidFill>
                <a:latin typeface="Arial"/>
                <a:ea typeface="Noto Sans CJK SC"/>
              </a:endParaRPr>
            </a:p>
            <a:p>
              <a:pPr>
                <a:lnSpc>
                  <a:spcPct val="100000"/>
                </a:lnSpc>
                <a:spcBef>
                  <a:spcPts val="283"/>
                </a:spcBef>
                <a:spcAft>
                  <a:spcPts val="283"/>
                </a:spcAft>
                <a:buNone/>
              </a:pP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@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5</a:t>
              </a:r>
              <a:r>
                <a:rPr b="0" lang="en-US" sz="2600" spc="-1" strike="noStrike" baseline="33000">
                  <a:solidFill>
                    <a:srgbClr val="000000"/>
                  </a:solidFill>
                  <a:latin typeface="Arial"/>
                </a:rPr>
                <a:t>o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– 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4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0</a:t>
              </a:r>
              <a:r>
                <a:rPr b="0" lang="en-US" sz="2600" spc="-1" strike="noStrike" baseline="33000">
                  <a:solidFill>
                    <a:srgbClr val="000000"/>
                  </a:solidFill>
                  <a:latin typeface="Arial"/>
                </a:rPr>
                <a:t>o</a:t>
              </a:r>
              <a:endParaRPr b="0" lang="en-US" sz="2600" spc="-1" strike="noStrike">
                <a:solidFill>
                  <a:srgbClr val="000000"/>
                </a:solidFill>
                <a:latin typeface="Arial"/>
                <a:ea typeface="Noto Sans CJK SC"/>
              </a:endParaRPr>
            </a:p>
            <a:p>
              <a:pPr>
                <a:lnSpc>
                  <a:spcPct val="100000"/>
                </a:lnSpc>
                <a:spcBef>
                  <a:spcPts val="283"/>
                </a:spcBef>
                <a:spcAft>
                  <a:spcPts val="283"/>
                </a:spcAft>
                <a:buNone/>
              </a:pP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8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0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%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a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c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c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e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pt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a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n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c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e</a:t>
              </a:r>
              <a:endParaRPr b="0" lang="en-US" sz="2600" spc="-1" strike="noStrike">
                <a:solidFill>
                  <a:srgbClr val="000000"/>
                </a:solidFill>
                <a:latin typeface="Arial"/>
                <a:ea typeface="Noto Sans CJK SC"/>
              </a:endParaRPr>
            </a:p>
          </p:txBody>
        </p:sp>
        <p:sp>
          <p:nvSpPr>
            <p:cNvPr id="106" name=""/>
            <p:cNvSpPr txBox="1"/>
            <p:nvPr/>
          </p:nvSpPr>
          <p:spPr>
            <a:xfrm>
              <a:off x="14301360" y="26706600"/>
              <a:ext cx="3886200" cy="215136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  <a:spcBef>
                  <a:spcPts val="283"/>
                </a:spcBef>
                <a:spcAft>
                  <a:spcPts val="283"/>
                </a:spcAft>
                <a:buNone/>
              </a:pP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For 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(d,p) </a:t>
              </a:r>
              <a:endParaRPr b="0" lang="en-US" sz="2600" spc="-1" strike="noStrike">
                <a:solidFill>
                  <a:srgbClr val="000000"/>
                </a:solidFill>
                <a:latin typeface="Arial"/>
                <a:ea typeface="Noto Sans CJK SC"/>
              </a:endParaRPr>
            </a:p>
            <a:p>
              <a:pPr>
                <a:lnSpc>
                  <a:spcPct val="100000"/>
                </a:lnSpc>
                <a:spcBef>
                  <a:spcPts val="283"/>
                </a:spcBef>
                <a:spcAft>
                  <a:spcPts val="283"/>
                </a:spcAft>
                <a:buNone/>
              </a:pP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5 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trape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zoidal 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DSS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Ds 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(GRI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T)/ </a:t>
              </a:r>
              <a:r>
                <a:rPr b="1" lang="en-US" sz="2600" spc="-1" strike="noStrike">
                  <a:solidFill>
                    <a:srgbClr val="000000"/>
                  </a:solidFill>
                  <a:latin typeface="Arial"/>
                </a:rPr>
                <a:t>MUG</a:t>
              </a:r>
              <a:r>
                <a:rPr b="1" lang="en-US" sz="2600" spc="-1" strike="noStrike">
                  <a:solidFill>
                    <a:srgbClr val="000000"/>
                  </a:solidFill>
                  <a:latin typeface="Arial"/>
                </a:rPr>
                <a:t>AST</a:t>
              </a:r>
              <a:endParaRPr b="0" lang="en-US" sz="2600" spc="-1" strike="noStrike">
                <a:solidFill>
                  <a:srgbClr val="000000"/>
                </a:solidFill>
                <a:latin typeface="Arial"/>
                <a:ea typeface="Noto Sans CJK SC"/>
              </a:endParaRPr>
            </a:p>
            <a:p>
              <a:pPr>
                <a:lnSpc>
                  <a:spcPct val="100000"/>
                </a:lnSpc>
                <a:spcBef>
                  <a:spcPts val="283"/>
                </a:spcBef>
                <a:spcAft>
                  <a:spcPts val="283"/>
                </a:spcAft>
                <a:buNone/>
              </a:pP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@ 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110</a:t>
              </a:r>
              <a:r>
                <a:rPr b="0" lang="en-US" sz="2600" spc="-1" strike="noStrike" baseline="33000">
                  <a:solidFill>
                    <a:srgbClr val="000000"/>
                  </a:solidFill>
                  <a:latin typeface="Arial"/>
                </a:rPr>
                <a:t>o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-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170</a:t>
              </a:r>
              <a:r>
                <a:rPr b="0" lang="en-US" sz="2600" spc="-1" strike="noStrike" baseline="33000">
                  <a:solidFill>
                    <a:srgbClr val="000000"/>
                  </a:solidFill>
                  <a:latin typeface="Arial"/>
                </a:rPr>
                <a:t>o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, </a:t>
              </a:r>
              <a:endParaRPr b="0" lang="en-US" sz="2600" spc="-1" strike="noStrike">
                <a:solidFill>
                  <a:srgbClr val="000000"/>
                </a:solidFill>
                <a:latin typeface="Arial"/>
                <a:ea typeface="Noto Sans CJK SC"/>
              </a:endParaRPr>
            </a:p>
            <a:p>
              <a:pPr>
                <a:lnSpc>
                  <a:spcPct val="100000"/>
                </a:lnSpc>
                <a:spcBef>
                  <a:spcPts val="283"/>
                </a:spcBef>
                <a:spcAft>
                  <a:spcPts val="283"/>
                </a:spcAft>
                <a:buNone/>
              </a:pP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60% 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accep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tance</a:t>
              </a:r>
              <a:endParaRPr b="0" lang="en-US" sz="2600" spc="-1" strike="noStrike">
                <a:solidFill>
                  <a:srgbClr val="000000"/>
                </a:solidFill>
                <a:latin typeface="Arial"/>
                <a:ea typeface="Noto Sans CJK SC"/>
              </a:endParaRPr>
            </a:p>
          </p:txBody>
        </p:sp>
        <p:sp>
          <p:nvSpPr>
            <p:cNvPr id="107" name=""/>
            <p:cNvSpPr txBox="1"/>
            <p:nvPr/>
          </p:nvSpPr>
          <p:spPr>
            <a:xfrm>
              <a:off x="22759560" y="25052760"/>
              <a:ext cx="6629400" cy="3429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marL="216000" indent="-216000" algn="just">
                <a:buClr>
                  <a:srgbClr val="000000"/>
                </a:buClr>
                <a:buSzPct val="45000"/>
                <a:buFont typeface="Wingdings" charset="2"/>
                <a:buChar char=""/>
              </a:pPr>
              <a:r>
                <a:rPr b="1" lang="en-US" sz="2600" spc="-1" strike="noStrike">
                  <a:solidFill>
                    <a:srgbClr val="000000"/>
                  </a:solidFill>
                  <a:latin typeface="Arial"/>
                </a:rPr>
                <a:t>ZDD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:</a:t>
              </a:r>
              <a:endParaRPr b="0" lang="en-US" sz="2600" spc="-1" strike="noStrike">
                <a:solidFill>
                  <a:srgbClr val="000000"/>
                </a:solidFill>
                <a:latin typeface="Arial"/>
              </a:endParaRPr>
            </a:p>
            <a:p>
              <a:pPr marL="216000" indent="-216000" algn="just">
                <a:buClr>
                  <a:srgbClr val="000000"/>
                </a:buClr>
                <a:buSzPct val="45000"/>
                <a:buFont typeface="Wingdings" charset="2"/>
                <a:buChar char=""/>
              </a:pP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Drift Chambers (</a:t>
              </a:r>
              <a:r>
                <a:rPr b="1" lang="en-US" sz="2600" spc="-1" strike="noStrike">
                  <a:solidFill>
                    <a:srgbClr val="000000"/>
                  </a:solidFill>
                  <a:latin typeface="Arial"/>
                </a:rPr>
                <a:t>DC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) for XY  measurement-</a:t>
              </a:r>
              <a:endParaRPr b="0" lang="en-US" sz="2600" spc="-1" strike="noStrike">
                <a:solidFill>
                  <a:srgbClr val="000000"/>
                </a:solidFill>
                <a:latin typeface="Arial"/>
              </a:endParaRPr>
            </a:p>
            <a:p>
              <a:pPr marL="216000" indent="-216000" algn="just">
                <a:buClr>
                  <a:srgbClr val="000000"/>
                </a:buClr>
                <a:buSzPct val="45000"/>
                <a:buFont typeface="Wingdings" charset="2"/>
                <a:buChar char=""/>
              </a:pP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5 tilted foils ionizing chambers (</a:t>
              </a:r>
              <a:r>
                <a:rPr b="1" lang="en-US" sz="2600" spc="-1" strike="noStrike">
                  <a:solidFill>
                    <a:srgbClr val="009e4f"/>
                  </a:solidFill>
                  <a:latin typeface="Arial"/>
                </a:rPr>
                <a:t>IC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) for 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  <a:ea typeface="Arial"/>
                </a:rPr>
                <a:t>Δ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  <a:ea typeface="Arial"/>
                </a:rPr>
                <a:t>E </a:t>
              </a:r>
              <a:endParaRPr b="0" lang="en-US" sz="2600" spc="-1" strike="noStrike">
                <a:solidFill>
                  <a:srgbClr val="000000"/>
                </a:solidFill>
                <a:latin typeface="Arial"/>
              </a:endParaRPr>
            </a:p>
            <a:p>
              <a:pPr marL="216000" indent="-216000" algn="just">
                <a:buClr>
                  <a:srgbClr val="000000"/>
                </a:buClr>
                <a:buSzPct val="45000"/>
                <a:buFont typeface="Wingdings" charset="2"/>
                <a:buChar char=""/>
              </a:pPr>
              <a:r>
                <a:rPr b="0" lang="en-US" sz="2600" spc="-1" strike="noStrike">
                  <a:solidFill>
                    <a:srgbClr val="000000"/>
                  </a:solidFill>
                  <a:latin typeface="Arial"/>
                  <a:ea typeface="Arial"/>
                </a:rPr>
                <a:t>5 Plastic Scintillators (</a:t>
              </a:r>
              <a:r>
                <a:rPr b="1" lang="en-US" sz="2600" spc="-1" strike="noStrike">
                  <a:solidFill>
                    <a:srgbClr val="00caca"/>
                  </a:solidFill>
                  <a:latin typeface="Arial"/>
                  <a:ea typeface="Arial"/>
                </a:rPr>
                <a:t>PL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  <a:ea typeface="Arial"/>
                </a:rPr>
                <a:t>) for Energy and clean up the reaction residue.</a:t>
              </a:r>
              <a:endParaRPr b="0" lang="en-US" sz="2600" spc="-1" strike="noStrike">
                <a:solidFill>
                  <a:srgbClr val="000000"/>
                </a:solidFill>
                <a:latin typeface="Arial"/>
              </a:endParaRPr>
            </a:p>
            <a:p>
              <a:pPr marL="216000" indent="-216000" algn="just">
                <a:buClr>
                  <a:srgbClr val="000000"/>
                </a:buClr>
                <a:buSzPct val="45000"/>
                <a:buFont typeface="Wingdings" charset="2"/>
                <a:buChar char=""/>
              </a:pPr>
              <a:r>
                <a:rPr b="0" lang="en-US" sz="2600" spc="-1" strike="noStrike">
                  <a:solidFill>
                    <a:srgbClr val="000000"/>
                  </a:solidFill>
                  <a:latin typeface="Arial"/>
                  <a:ea typeface="Arial"/>
                </a:rPr>
                <a:t>1 </a:t>
              </a:r>
              <a:r>
                <a:rPr b="1" lang="en-US" sz="2600" spc="-1" strike="noStrike">
                  <a:solidFill>
                    <a:srgbClr val="ebc62d"/>
                  </a:solidFill>
                  <a:latin typeface="Arial"/>
                  <a:ea typeface="Arial"/>
                </a:rPr>
                <a:t>Exogam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  <a:ea typeface="Arial"/>
                </a:rPr>
                <a:t> Clover (HpGe) for the isomeric decays</a:t>
              </a:r>
              <a:endParaRPr b="0" lang="en-US" sz="2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108" name="" descr=""/>
            <p:cNvPicPr/>
            <p:nvPr/>
          </p:nvPicPr>
          <p:blipFill>
            <a:blip r:embed="rId10"/>
            <a:stretch/>
          </p:blipFill>
          <p:spPr>
            <a:xfrm>
              <a:off x="14758560" y="16823160"/>
              <a:ext cx="5001840" cy="32004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09" name=""/>
            <p:cNvSpPr txBox="1"/>
            <p:nvPr/>
          </p:nvSpPr>
          <p:spPr>
            <a:xfrm>
              <a:off x="25959960" y="20363040"/>
              <a:ext cx="2514600" cy="3463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67Ni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isomer 13.3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  <a:ea typeface="Arial"/>
                </a:rPr>
                <a:t>μ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  <a:ea typeface="Arial"/>
                </a:rPr>
                <a:t>s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110" name="" descr=""/>
            <p:cNvPicPr/>
            <p:nvPr/>
          </p:nvPicPr>
          <p:blipFill>
            <a:blip r:embed="rId11"/>
            <a:stretch/>
          </p:blipFill>
          <p:spPr>
            <a:xfrm>
              <a:off x="19582560" y="16823160"/>
              <a:ext cx="5005800" cy="32004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11" name="" descr=""/>
            <p:cNvPicPr/>
            <p:nvPr/>
          </p:nvPicPr>
          <p:blipFill>
            <a:blip r:embed="rId12"/>
            <a:stretch/>
          </p:blipFill>
          <p:spPr>
            <a:xfrm>
              <a:off x="24588360" y="16823160"/>
              <a:ext cx="5001840" cy="32004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12" name=""/>
            <p:cNvSpPr/>
            <p:nvPr/>
          </p:nvSpPr>
          <p:spPr>
            <a:xfrm>
              <a:off x="16815960" y="23909760"/>
              <a:ext cx="2057400" cy="1143000"/>
            </a:xfrm>
            <a:prstGeom prst="line">
              <a:avLst/>
            </a:prstGeom>
            <a:ln w="0">
              <a:solidFill>
                <a:srgbClr val="9e4f00"/>
              </a:solidFill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" name=""/>
            <p:cNvSpPr/>
            <p:nvPr/>
          </p:nvSpPr>
          <p:spPr>
            <a:xfrm flipH="1">
              <a:off x="4037760" y="24031800"/>
              <a:ext cx="1348200" cy="172800"/>
            </a:xfrm>
            <a:prstGeom prst="line">
              <a:avLst/>
            </a:prstGeom>
            <a:ln cap="rnd" w="76320">
              <a:solidFill>
                <a:srgbClr val="00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4" name=""/>
            <p:cNvSpPr/>
            <p:nvPr/>
          </p:nvSpPr>
          <p:spPr>
            <a:xfrm flipH="1">
              <a:off x="6303240" y="23909760"/>
              <a:ext cx="225720" cy="9000"/>
            </a:xfrm>
            <a:prstGeom prst="line">
              <a:avLst/>
            </a:prstGeom>
            <a:ln w="76320">
              <a:solidFill>
                <a:srgbClr val="00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5" name=""/>
            <p:cNvSpPr/>
            <p:nvPr/>
          </p:nvSpPr>
          <p:spPr>
            <a:xfrm flipH="1">
              <a:off x="8588880" y="23672520"/>
              <a:ext cx="457200" cy="45720"/>
            </a:xfrm>
            <a:prstGeom prst="line">
              <a:avLst/>
            </a:prstGeom>
            <a:ln cap="rnd" w="76320">
              <a:solidFill>
                <a:srgbClr val="00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6" name=""/>
            <p:cNvSpPr txBox="1"/>
            <p:nvPr/>
          </p:nvSpPr>
          <p:spPr>
            <a:xfrm>
              <a:off x="15444360" y="23995800"/>
              <a:ext cx="2057400" cy="8283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r>
                <a:rPr b="1" lang="en-US" sz="2600" spc="-1" strike="noStrike">
                  <a:solidFill>
                    <a:srgbClr val="ff0000"/>
                  </a:solidFill>
                  <a:latin typeface="Arial"/>
                </a:rPr>
                <a:t>Target:</a:t>
              </a:r>
              <a:endParaRPr b="0" lang="en-US" sz="2600" spc="-1" strike="noStrike">
                <a:solidFill>
                  <a:srgbClr val="ff0000"/>
                </a:solidFill>
                <a:latin typeface="Arial"/>
              </a:endParaRPr>
            </a:p>
            <a:p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CD</a:t>
              </a:r>
              <a:r>
                <a:rPr b="0" lang="en-US" sz="2600" spc="-1" strike="noStrike" baseline="-8000">
                  <a:solidFill>
                    <a:srgbClr val="000000"/>
                  </a:solidFill>
                  <a:latin typeface="Arial"/>
                </a:rPr>
                <a:t>2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, CH</a:t>
              </a:r>
              <a:r>
                <a:rPr b="0" lang="en-US" sz="2600" spc="-1" strike="noStrike" baseline="-8000">
                  <a:solidFill>
                    <a:srgbClr val="000000"/>
                  </a:solidFill>
                  <a:latin typeface="Arial"/>
                </a:rPr>
                <a:t>2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endParaRPr b="0" lang="en-US" sz="2600" spc="-1" strike="noStrike">
                <a:solidFill>
                  <a:srgbClr val="ff0000"/>
                </a:solidFill>
                <a:latin typeface="Arial"/>
              </a:endParaRPr>
            </a:p>
          </p:txBody>
        </p:sp>
        <p:sp>
          <p:nvSpPr>
            <p:cNvPr id="117" name=""/>
            <p:cNvSpPr txBox="1"/>
            <p:nvPr/>
          </p:nvSpPr>
          <p:spPr>
            <a:xfrm>
              <a:off x="10862640" y="17382240"/>
              <a:ext cx="4343400" cy="162684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  <a:spcBef>
                  <a:spcPts val="283"/>
                </a:spcBef>
                <a:spcAft>
                  <a:spcPts val="283"/>
                </a:spcAft>
                <a:buNone/>
              </a:pPr>
              <a:r>
                <a:rPr b="1" lang="en-US" sz="2600" spc="-1" strike="noStrike">
                  <a:solidFill>
                    <a:srgbClr val="ca00ca"/>
                  </a:solidFill>
                  <a:latin typeface="Quattario"/>
                </a:rPr>
                <a:t>EXOGAM:</a:t>
              </a:r>
              <a:endParaRPr b="0" lang="en-US" sz="2600" spc="-1" strike="noStrike">
                <a:solidFill>
                  <a:srgbClr val="000000"/>
                </a:solidFill>
                <a:latin typeface="Quattario"/>
                <a:ea typeface="Noto Sans CJK SC"/>
              </a:endParaRPr>
            </a:p>
            <a:p>
              <a:pPr>
                <a:lnSpc>
                  <a:spcPct val="100000"/>
                </a:lnSpc>
                <a:spcBef>
                  <a:spcPts val="283"/>
                </a:spcBef>
                <a:spcAft>
                  <a:spcPts val="283"/>
                </a:spcAft>
                <a:buNone/>
              </a:pPr>
              <a:r>
                <a:rPr b="0" lang="en-US" sz="2600" spc="-1" strike="noStrike">
                  <a:solidFill>
                    <a:srgbClr val="000000"/>
                  </a:solidFill>
                  <a:latin typeface="Quattario"/>
                </a:rPr>
                <a:t>12 HpGe Clovers</a:t>
              </a:r>
              <a:endParaRPr b="0" lang="en-US" sz="2600" spc="-1" strike="noStrike">
                <a:solidFill>
                  <a:srgbClr val="000000"/>
                </a:solidFill>
                <a:latin typeface="Quattario"/>
                <a:ea typeface="Noto Sans CJK SC"/>
              </a:endParaRPr>
            </a:p>
            <a:p>
              <a:pPr>
                <a:lnSpc>
                  <a:spcPct val="100000"/>
                </a:lnSpc>
                <a:spcBef>
                  <a:spcPts val="283"/>
                </a:spcBef>
                <a:spcAft>
                  <a:spcPts val="283"/>
                </a:spcAft>
                <a:buNone/>
              </a:pPr>
              <a:r>
                <a:rPr b="0" lang="en-US" sz="2600" spc="-1" strike="noStrike">
                  <a:solidFill>
                    <a:srgbClr val="000000"/>
                  </a:solidFill>
                  <a:latin typeface="Quattario"/>
                </a:rPr>
                <a:t>In beam 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ario"/>
                  <a:ea typeface="Arial"/>
                </a:rPr>
                <a:t>γ</a:t>
              </a:r>
              <a:r>
                <a:rPr b="0" lang="en-US" sz="2600" spc="-1" strike="noStrike">
                  <a:solidFill>
                    <a:srgbClr val="000000"/>
                  </a:solidFill>
                  <a:latin typeface="Quattario"/>
                </a:rPr>
                <a:t> measurement</a:t>
              </a:r>
              <a:endParaRPr b="0" lang="en-US" sz="2600" spc="-1" strike="noStrike">
                <a:solidFill>
                  <a:srgbClr val="000000"/>
                </a:solidFill>
                <a:latin typeface="Quattario"/>
                <a:ea typeface="Noto Sans CJK SC"/>
              </a:endParaRPr>
            </a:p>
          </p:txBody>
        </p:sp>
      </p:grpSp>
      <p:grpSp>
        <p:nvGrpSpPr>
          <p:cNvPr id="118" name=""/>
          <p:cNvGrpSpPr/>
          <p:nvPr/>
        </p:nvGrpSpPr>
        <p:grpSpPr>
          <a:xfrm>
            <a:off x="11100960" y="6730560"/>
            <a:ext cx="16461720" cy="8436960"/>
            <a:chOff x="11100960" y="6730560"/>
            <a:chExt cx="16461720" cy="8436960"/>
          </a:xfrm>
        </p:grpSpPr>
        <p:grpSp>
          <p:nvGrpSpPr>
            <p:cNvPr id="119" name=""/>
            <p:cNvGrpSpPr/>
            <p:nvPr/>
          </p:nvGrpSpPr>
          <p:grpSpPr>
            <a:xfrm>
              <a:off x="11100960" y="6730560"/>
              <a:ext cx="16461720" cy="8436960"/>
              <a:chOff x="11100960" y="6730560"/>
              <a:chExt cx="16461720" cy="8436960"/>
            </a:xfrm>
          </p:grpSpPr>
          <p:sp>
            <p:nvSpPr>
              <p:cNvPr id="120" name=""/>
              <p:cNvSpPr/>
              <p:nvPr/>
            </p:nvSpPr>
            <p:spPr>
              <a:xfrm>
                <a:off x="12887640" y="11743560"/>
                <a:ext cx="2095560" cy="0"/>
              </a:xfrm>
              <a:prstGeom prst="line">
                <a:avLst/>
              </a:prstGeom>
              <a:ln w="3816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1" name=""/>
              <p:cNvSpPr/>
              <p:nvPr/>
            </p:nvSpPr>
            <p:spPr>
              <a:xfrm>
                <a:off x="12887640" y="6993360"/>
                <a:ext cx="2095920" cy="0"/>
              </a:xfrm>
              <a:prstGeom prst="line">
                <a:avLst/>
              </a:prstGeom>
              <a:ln w="3816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2" name=""/>
              <p:cNvSpPr/>
              <p:nvPr/>
            </p:nvSpPr>
            <p:spPr>
              <a:xfrm>
                <a:off x="12785400" y="9804240"/>
                <a:ext cx="2166840" cy="0"/>
              </a:xfrm>
              <a:prstGeom prst="line">
                <a:avLst/>
              </a:prstGeom>
              <a:ln w="3816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3" name=""/>
              <p:cNvSpPr/>
              <p:nvPr/>
            </p:nvSpPr>
            <p:spPr>
              <a:xfrm>
                <a:off x="12742560" y="8932680"/>
                <a:ext cx="2252520" cy="0"/>
              </a:xfrm>
              <a:prstGeom prst="line">
                <a:avLst/>
              </a:prstGeom>
              <a:ln w="7632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4" name=""/>
              <p:cNvSpPr txBox="1"/>
              <p:nvPr/>
            </p:nvSpPr>
            <p:spPr>
              <a:xfrm>
                <a:off x="14983200" y="11558880"/>
                <a:ext cx="838440" cy="54288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rIns="90000" tIns="45000" bIns="45000" anchor="t">
                <a:noAutofit/>
              </a:bodyPr>
              <a:p>
                <a:r>
                  <a:rPr b="0" lang="en-US" sz="3200" spc="-1" strike="noStrike">
                    <a:solidFill>
                      <a:srgbClr val="000000"/>
                    </a:solidFill>
                    <a:latin typeface="Arial"/>
                  </a:rPr>
                  <a:t>0.0</a:t>
                </a:r>
                <a:endParaRPr b="0" lang="en-US" sz="32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5" name=""/>
              <p:cNvSpPr txBox="1"/>
              <p:nvPr/>
            </p:nvSpPr>
            <p:spPr>
              <a:xfrm>
                <a:off x="14983200" y="9648000"/>
                <a:ext cx="1146960" cy="995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rIns="90000" tIns="45000" bIns="45000" anchor="t">
                <a:noAutofit/>
              </a:bodyPr>
              <a:p>
                <a:r>
                  <a:rPr b="0" lang="en-US" sz="3200" spc="-1" strike="noStrike">
                    <a:solidFill>
                      <a:srgbClr val="000000"/>
                    </a:solidFill>
                    <a:latin typeface="Arial"/>
                  </a:rPr>
                  <a:t>6</a:t>
                </a:r>
                <a:r>
                  <a:rPr b="0" lang="en-US" sz="3200" spc="-1" strike="noStrike">
                    <a:solidFill>
                      <a:srgbClr val="000000"/>
                    </a:solidFill>
                    <a:latin typeface="Arial"/>
                  </a:rPr>
                  <a:t>9</a:t>
                </a:r>
                <a:r>
                  <a:rPr b="0" lang="en-US" sz="3200" spc="-1" strike="noStrike">
                    <a:solidFill>
                      <a:srgbClr val="000000"/>
                    </a:solidFill>
                    <a:latin typeface="Arial"/>
                  </a:rPr>
                  <a:t>7</a:t>
                </a:r>
                <a:endParaRPr b="0" lang="en-US" sz="32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6" name=""/>
              <p:cNvSpPr txBox="1"/>
              <p:nvPr/>
            </p:nvSpPr>
            <p:spPr>
              <a:xfrm>
                <a:off x="14983200" y="8720640"/>
                <a:ext cx="1256040" cy="8715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rIns="90000" tIns="45000" bIns="45000" anchor="t">
                <a:noAutofit/>
              </a:bodyPr>
              <a:p>
                <a:r>
                  <a:rPr b="0" lang="en-US" sz="3200" spc="-1" strike="noStrike">
                    <a:solidFill>
                      <a:srgbClr val="000000"/>
                    </a:solidFill>
                    <a:latin typeface="Arial"/>
                  </a:rPr>
                  <a:t>100</a:t>
                </a:r>
                <a:r>
                  <a:rPr b="0" lang="en-US" sz="3200" spc="-1" strike="noStrike">
                    <a:solidFill>
                      <a:srgbClr val="000000"/>
                    </a:solidFill>
                    <a:latin typeface="Arial"/>
                  </a:rPr>
                  <a:t>7</a:t>
                </a:r>
                <a:endParaRPr b="0" lang="en-US" sz="32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7" name=""/>
              <p:cNvSpPr txBox="1"/>
              <p:nvPr/>
            </p:nvSpPr>
            <p:spPr>
              <a:xfrm>
                <a:off x="14983200" y="6764760"/>
                <a:ext cx="1375560" cy="995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rIns="90000" tIns="45000" bIns="45000" anchor="t">
                <a:noAutofit/>
              </a:bodyPr>
              <a:p>
                <a:r>
                  <a:rPr b="0" lang="en-US" sz="3200" spc="-1" strike="noStrike">
                    <a:solidFill>
                      <a:srgbClr val="000000"/>
                    </a:solidFill>
                    <a:latin typeface="Arial"/>
                  </a:rPr>
                  <a:t>1</a:t>
                </a:r>
                <a:r>
                  <a:rPr b="0" lang="en-US" sz="3200" spc="-1" strike="noStrike">
                    <a:solidFill>
                      <a:srgbClr val="000000"/>
                    </a:solidFill>
                    <a:latin typeface="Arial"/>
                  </a:rPr>
                  <a:t>7</a:t>
                </a:r>
                <a:r>
                  <a:rPr b="0" lang="en-US" sz="3200" spc="-1" strike="noStrike">
                    <a:solidFill>
                      <a:srgbClr val="000000"/>
                    </a:solidFill>
                    <a:latin typeface="Arial"/>
                  </a:rPr>
                  <a:t>1</a:t>
                </a:r>
                <a:r>
                  <a:rPr b="0" lang="en-US" sz="3200" spc="-1" strike="noStrike">
                    <a:solidFill>
                      <a:srgbClr val="000000"/>
                    </a:solidFill>
                    <a:latin typeface="Arial"/>
                  </a:rPr>
                  <a:t>0</a:t>
                </a:r>
                <a:endParaRPr b="0" lang="en-US" sz="32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8" name=""/>
              <p:cNvSpPr txBox="1"/>
              <p:nvPr/>
            </p:nvSpPr>
            <p:spPr>
              <a:xfrm>
                <a:off x="12049200" y="11514960"/>
                <a:ext cx="838440" cy="54288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rIns="90000" tIns="45000" bIns="45000" anchor="t">
                <a:noAutofit/>
              </a:bodyPr>
              <a:p>
                <a:pPr algn="r">
                  <a:buNone/>
                </a:pPr>
                <a:r>
                  <a:rPr b="0" lang="en-US" sz="3200" spc="-1" strike="noStrike">
                    <a:solidFill>
                      <a:srgbClr val="000000"/>
                    </a:solidFill>
                    <a:latin typeface="Arial"/>
                  </a:rPr>
                  <a:t>1</a:t>
                </a:r>
                <a:r>
                  <a:rPr b="0" lang="en-US" sz="3200" spc="-1" strike="noStrike">
                    <a:solidFill>
                      <a:srgbClr val="000000"/>
                    </a:solidFill>
                    <a:latin typeface="Arial"/>
                  </a:rPr>
                  <a:t>/</a:t>
                </a:r>
                <a:r>
                  <a:rPr b="0" lang="en-US" sz="3200" spc="-1" strike="noStrike">
                    <a:solidFill>
                      <a:srgbClr val="000000"/>
                    </a:solidFill>
                    <a:latin typeface="Arial"/>
                  </a:rPr>
                  <a:t>2</a:t>
                </a:r>
                <a:r>
                  <a:rPr b="0" lang="en-US" sz="3200" spc="-1" strike="noStrike" baseline="33000">
                    <a:solidFill>
                      <a:srgbClr val="000000"/>
                    </a:solidFill>
                    <a:latin typeface="Arial"/>
                  </a:rPr>
                  <a:t>-</a:t>
                </a:r>
                <a:endParaRPr b="0" lang="en-US" sz="32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9" name=""/>
              <p:cNvSpPr txBox="1"/>
              <p:nvPr/>
            </p:nvSpPr>
            <p:spPr>
              <a:xfrm>
                <a:off x="11786760" y="9536040"/>
                <a:ext cx="963360" cy="995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rIns="90000" tIns="45000" bIns="45000" anchor="t">
                <a:noAutofit/>
              </a:bodyPr>
              <a:p>
                <a:pPr algn="r">
                  <a:buNone/>
                </a:pPr>
                <a:r>
                  <a:rPr b="0" lang="en-US" sz="3200" spc="-1" strike="noStrike">
                    <a:solidFill>
                      <a:srgbClr val="000000"/>
                    </a:solidFill>
                    <a:latin typeface="Arial"/>
                  </a:rPr>
                  <a:t>5/2</a:t>
                </a:r>
                <a:r>
                  <a:rPr b="0" lang="en-US" sz="3200" spc="-1" strike="noStrike" baseline="33000">
                    <a:solidFill>
                      <a:srgbClr val="000000"/>
                    </a:solidFill>
                    <a:latin typeface="Arial"/>
                  </a:rPr>
                  <a:t>-</a:t>
                </a:r>
                <a:endParaRPr b="0" lang="en-US" sz="32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0" name=""/>
              <p:cNvSpPr txBox="1"/>
              <p:nvPr/>
            </p:nvSpPr>
            <p:spPr>
              <a:xfrm>
                <a:off x="11100960" y="8448120"/>
                <a:ext cx="1663560" cy="127188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rIns="90000" tIns="45000" bIns="45000" anchor="t">
                <a:noAutofit/>
              </a:bodyPr>
              <a:p>
                <a:pPr algn="r">
                  <a:buNone/>
                </a:pPr>
                <a:r>
                  <a:rPr b="0" lang="en-US" sz="3200" spc="-1" strike="noStrike">
                    <a:solidFill>
                      <a:srgbClr val="ff0000"/>
                    </a:solidFill>
                    <a:latin typeface="Arial"/>
                  </a:rPr>
                  <a:t>13.3 </a:t>
                </a:r>
                <a:r>
                  <a:rPr b="0" lang="en-US" sz="3200" spc="-1" strike="noStrike">
                    <a:solidFill>
                      <a:srgbClr val="ff0000"/>
                    </a:solidFill>
                    <a:latin typeface="Arial"/>
                    <a:ea typeface="Arial"/>
                  </a:rPr>
                  <a:t>μ</a:t>
                </a:r>
                <a:r>
                  <a:rPr b="0" lang="en-US" sz="3200" spc="-1" strike="noStrike">
                    <a:solidFill>
                      <a:srgbClr val="ff0000"/>
                    </a:solidFill>
                    <a:latin typeface="Arial"/>
                    <a:ea typeface="Arial"/>
                  </a:rPr>
                  <a:t>s</a:t>
                </a:r>
                <a:r>
                  <a:rPr b="0" lang="en-US" sz="32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 </a:t>
                </a:r>
                <a:r>
                  <a:rPr b="0" lang="en-US" sz="3200" spc="-1" strike="noStrike">
                    <a:solidFill>
                      <a:srgbClr val="000000"/>
                    </a:solidFill>
                    <a:latin typeface="Arial"/>
                  </a:rPr>
                  <a:t>9/2</a:t>
                </a:r>
                <a:r>
                  <a:rPr b="0" lang="en-US" sz="3200" spc="-1" strike="noStrike" baseline="33000">
                    <a:solidFill>
                      <a:srgbClr val="000000"/>
                    </a:solidFill>
                    <a:latin typeface="Arial"/>
                  </a:rPr>
                  <a:t>+</a:t>
                </a:r>
                <a:endParaRPr b="0" lang="en-US" sz="32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1" name=""/>
              <p:cNvSpPr/>
              <p:nvPr/>
            </p:nvSpPr>
            <p:spPr>
              <a:xfrm rot="54600">
                <a:off x="13636080" y="9804960"/>
                <a:ext cx="1467360" cy="19310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5400" y="0"/>
                    </a:moveTo>
                    <a:lnTo>
                      <a:pt x="5400" y="16200"/>
                    </a:lnTo>
                    <a:lnTo>
                      <a:pt x="0" y="16200"/>
                    </a:lnTo>
                    <a:lnTo>
                      <a:pt x="10800" y="21600"/>
                    </a:lnTo>
                    <a:lnTo>
                      <a:pt x="21600" y="16200"/>
                    </a:lnTo>
                    <a:lnTo>
                      <a:pt x="16200" y="16200"/>
                    </a:lnTo>
                    <a:lnTo>
                      <a:pt x="16200" y="0"/>
                    </a:lnTo>
                    <a:close/>
                  </a:path>
                </a:pathLst>
              </a:custGeom>
              <a:solidFill>
                <a:srgbClr val="d0d0d0"/>
              </a:solidFill>
              <a:ln w="0">
                <a:solidFill>
                  <a:srgbClr val="e8e8e8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buNone/>
                </a:pPr>
                <a:r>
                  <a:rPr b="0" lang="en-US" sz="2400" spc="-1" strike="noStrike">
                    <a:solidFill>
                      <a:srgbClr val="000000"/>
                    </a:solidFill>
                    <a:latin typeface="Arial"/>
                  </a:rPr>
                  <a:t>6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Arial"/>
                  </a:rPr>
                  <a:t>9</a:t>
                </a:r>
                <a:r>
                  <a:rPr b="0" lang="en-US" sz="2400" spc="-1" strike="noStrike">
                    <a:solidFill>
                      <a:srgbClr val="000000"/>
                    </a:solidFill>
                    <a:latin typeface="Arial"/>
                  </a:rPr>
                  <a:t>7</a:t>
                </a:r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2" name=""/>
              <p:cNvSpPr/>
              <p:nvPr/>
            </p:nvSpPr>
            <p:spPr>
              <a:xfrm>
                <a:off x="13736520" y="8930880"/>
                <a:ext cx="1236960" cy="8661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4489" y="0"/>
                    </a:moveTo>
                    <a:lnTo>
                      <a:pt x="4489" y="12758"/>
                    </a:lnTo>
                    <a:lnTo>
                      <a:pt x="0" y="12758"/>
                    </a:lnTo>
                    <a:lnTo>
                      <a:pt x="10800" y="21600"/>
                    </a:lnTo>
                    <a:lnTo>
                      <a:pt x="21600" y="12758"/>
                    </a:lnTo>
                    <a:lnTo>
                      <a:pt x="17111" y="12758"/>
                    </a:lnTo>
                    <a:lnTo>
                      <a:pt x="17111" y="0"/>
                    </a:lnTo>
                    <a:close/>
                  </a:path>
                </a:pathLst>
              </a:custGeom>
              <a:solidFill>
                <a:srgbClr val="d0d0d0"/>
              </a:solidFill>
              <a:ln w="0">
                <a:solidFill>
                  <a:srgbClr val="e8e8e8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buNone/>
                </a:pPr>
                <a:r>
                  <a:rPr b="0" lang="en-US" sz="2400" spc="-1" strike="noStrike">
                    <a:latin typeface="Arial"/>
                  </a:rPr>
                  <a:t>313</a:t>
                </a:r>
                <a:endParaRPr b="0" lang="en-US" sz="2400" spc="-1" strike="noStrike">
                  <a:latin typeface="Arial"/>
                </a:endParaRPr>
              </a:p>
            </p:txBody>
          </p:sp>
          <p:sp>
            <p:nvSpPr>
              <p:cNvPr id="133" name=""/>
              <p:cNvSpPr txBox="1"/>
              <p:nvPr/>
            </p:nvSpPr>
            <p:spPr>
              <a:xfrm>
                <a:off x="11948760" y="6730560"/>
                <a:ext cx="949680" cy="8712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rIns="90000" tIns="45000" bIns="45000" anchor="t">
                <a:noAutofit/>
              </a:bodyPr>
              <a:p>
                <a:pPr algn="r">
                  <a:buNone/>
                </a:pPr>
                <a:r>
                  <a:rPr b="0" lang="en-US" sz="3200" spc="-1" strike="noStrike">
                    <a:solidFill>
                      <a:srgbClr val="000000"/>
                    </a:solidFill>
                    <a:latin typeface="Arial"/>
                  </a:rPr>
                  <a:t>3/2</a:t>
                </a:r>
                <a:r>
                  <a:rPr b="0" lang="en-US" sz="3200" spc="-1" strike="noStrike" baseline="33000">
                    <a:solidFill>
                      <a:srgbClr val="000000"/>
                    </a:solidFill>
                    <a:latin typeface="Arial"/>
                  </a:rPr>
                  <a:t>-</a:t>
                </a:r>
                <a:endParaRPr b="0" lang="en-US" sz="32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4" name=""/>
              <p:cNvSpPr/>
              <p:nvPr/>
            </p:nvSpPr>
            <p:spPr>
              <a:xfrm rot="16200000">
                <a:off x="10921320" y="8909280"/>
                <a:ext cx="4715640" cy="9147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4855"/>
                    </a:moveTo>
                    <a:lnTo>
                      <a:pt x="3997" y="4855"/>
                    </a:lnTo>
                    <a:lnTo>
                      <a:pt x="3997" y="0"/>
                    </a:lnTo>
                    <a:lnTo>
                      <a:pt x="0" y="10800"/>
                    </a:lnTo>
                    <a:lnTo>
                      <a:pt x="3997" y="21600"/>
                    </a:lnTo>
                    <a:lnTo>
                      <a:pt x="3997" y="16745"/>
                    </a:lnTo>
                    <a:lnTo>
                      <a:pt x="21600" y="16745"/>
                    </a:lnTo>
                    <a:close/>
                  </a:path>
                </a:pathLst>
              </a:custGeom>
              <a:solidFill>
                <a:srgbClr val="d0d0d0"/>
              </a:solidFill>
              <a:ln w="0">
                <a:solidFill>
                  <a:srgbClr val="e8e8e8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buNone/>
                </a:pPr>
                <a:r>
                  <a:rPr b="0" lang="en-US" sz="2400" spc="-1" strike="noStrike">
                    <a:latin typeface="Arial"/>
                  </a:rPr>
                  <a:t>1710</a:t>
                </a:r>
                <a:endParaRPr b="0" lang="en-US" sz="2400" spc="-1" strike="noStrike">
                  <a:latin typeface="Arial"/>
                </a:endParaRPr>
              </a:p>
            </p:txBody>
          </p:sp>
          <mc:AlternateContent>
            <mc:Choice xmlns:a14="http://schemas.microsoft.com/office/drawing/2010/main" Requires="a14">
              <p:sp>
                <p:nvSpPr>
                  <p:cNvPr id="135" name=""/>
                  <p:cNvSpPr txBox="1"/>
                  <p:nvPr/>
                </p:nvSpPr>
                <p:spPr>
                  <a:xfrm>
                    <a:off x="13659480" y="11998440"/>
                    <a:ext cx="919440" cy="474120"/>
                  </a:xfrm>
                  <a:prstGeom prst="rect">
                    <a:avLst/>
                  </a:prstGeom>
                </p:spPr>
                <p:txBody>
                  <a:bodyPr/>
                  <a:p>
                    <a14:m>
                      <m:oMath xmlns:m="http://schemas.openxmlformats.org/officeDocument/2006/math">
                        <m:sSub>
                          <m:e>
                            <m:sPre>
                              <m:sub>
                                <m:r>
                                  <m:t xml:space="preserve">28</m:t>
                                </m:r>
                              </m:sub>
                              <m:sup>
                                <m:r>
                                  <m:t xml:space="preserve">67</m:t>
                                </m:r>
                              </m:sup>
                              <m:e>
                                <m:r>
                                  <m:t xml:space="preserve">Ν</m:t>
                                </m:r>
                                <m:r>
                                  <m:t xml:space="preserve">i</m:t>
                                </m:r>
                              </m:e>
                            </m:sPre>
                          </m:e>
                          <m:sub>
                            <m:r>
                              <m:t xml:space="preserve">39</m:t>
                            </m:r>
                          </m:sub>
                        </m:sSub>
                      </m:oMath>
                    </a14:m>
                  </a:p>
                </p:txBody>
              </p:sp>
            </mc:Choice>
            <mc:Fallback/>
          </mc:AlternateContent>
          <mc:AlternateContent>
            <mc:Choice xmlns:a14="http://schemas.microsoft.com/office/drawing/2010/main" Requires="a14">
              <p:sp>
                <p:nvSpPr>
                  <p:cNvPr id="136" name=""/>
                  <p:cNvSpPr txBox="1"/>
                  <p:nvPr/>
                </p:nvSpPr>
                <p:spPr>
                  <a:xfrm>
                    <a:off x="26640720" y="14693400"/>
                    <a:ext cx="921960" cy="474120"/>
                  </a:xfrm>
                  <a:prstGeom prst="rect">
                    <a:avLst/>
                  </a:prstGeom>
                </p:spPr>
                <p:txBody>
                  <a:bodyPr/>
                  <a:p>
                    <a14:m>
                      <m:oMath xmlns:m="http://schemas.openxmlformats.org/officeDocument/2006/math">
                        <m:sSub>
                          <m:e>
                            <m:sPre>
                              <m:sub>
                                <m:r>
                                  <m:t xml:space="preserve">28</m:t>
                                </m:r>
                              </m:sub>
                              <m:sup>
                                <m:r>
                                  <m:t xml:space="preserve">69</m:t>
                                </m:r>
                              </m:sup>
                              <m:e>
                                <m:r>
                                  <m:t xml:space="preserve">Ν</m:t>
                                </m:r>
                                <m:r>
                                  <m:t xml:space="preserve">i</m:t>
                                </m:r>
                              </m:e>
                            </m:sPre>
                          </m:e>
                          <m:sub>
                            <m:r>
                              <m:t xml:space="preserve">40</m:t>
                            </m:r>
                          </m:sub>
                        </m:sSub>
                      </m:oMath>
                    </a14:m>
                  </a:p>
                </p:txBody>
              </p:sp>
            </mc:Choice>
            <mc:Fallback/>
          </mc:AlternateContent>
        </p:grpSp>
      </p:grpSp>
      <p:sp>
        <p:nvSpPr>
          <p:cNvPr id="137" name=""/>
          <p:cNvSpPr txBox="1"/>
          <p:nvPr/>
        </p:nvSpPr>
        <p:spPr>
          <a:xfrm>
            <a:off x="20568600" y="6528960"/>
            <a:ext cx="8915400" cy="221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3600" spc="-1" strike="noStrike">
                <a:solidFill>
                  <a:srgbClr val="000000"/>
                </a:solidFill>
                <a:latin typeface="Quattoria sans"/>
                <a:ea typeface="Noto Sans CJK SC"/>
              </a:rPr>
              <a:t>With </a:t>
            </a:r>
            <a:r>
              <a:rPr b="0" lang="en-US" sz="3600" spc="-1" strike="noStrike" baseline="33000">
                <a:solidFill>
                  <a:srgbClr val="000000"/>
                </a:solidFill>
                <a:latin typeface="Quattoria sans"/>
                <a:ea typeface="Noto Sans CJK SC"/>
              </a:rPr>
              <a:t>68</a:t>
            </a:r>
            <a:r>
              <a:rPr b="0" lang="en-US" sz="3600" spc="-1" strike="noStrike">
                <a:solidFill>
                  <a:srgbClr val="000000"/>
                </a:solidFill>
                <a:latin typeface="Quattoria sans"/>
                <a:ea typeface="Noto Sans CJK SC"/>
              </a:rPr>
              <a:t>Ni(dp)</a:t>
            </a:r>
            <a:r>
              <a:rPr b="0" lang="en-US" sz="3600" spc="-1" strike="noStrike" baseline="33000">
                <a:solidFill>
                  <a:srgbClr val="000000"/>
                </a:solidFill>
                <a:latin typeface="Quattoria sans"/>
                <a:ea typeface="Noto Sans CJK SC"/>
              </a:rPr>
              <a:t>69</a:t>
            </a:r>
            <a:r>
              <a:rPr b="0" lang="en-US" sz="3600" spc="-1" strike="noStrike">
                <a:solidFill>
                  <a:srgbClr val="000000"/>
                </a:solidFill>
                <a:latin typeface="Quattoria sans"/>
                <a:ea typeface="Noto Sans CJK SC"/>
              </a:rPr>
              <a:t>Ni,</a:t>
            </a:r>
            <a:endParaRPr b="0" lang="en-US" sz="3600" spc="-1" strike="noStrike">
              <a:solidFill>
                <a:srgbClr val="000000"/>
              </a:solidFill>
              <a:latin typeface="Quattoria sans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rgbClr val="000000"/>
                </a:solidFill>
                <a:latin typeface="Quattoria sans"/>
                <a:ea typeface="Noto Sans CJK SC"/>
              </a:rPr>
              <a:t>t</a:t>
            </a:r>
            <a:r>
              <a:rPr b="0" lang="en-US" sz="3600" spc="-1" strike="noStrike">
                <a:solidFill>
                  <a:srgbClr val="000000"/>
                </a:solidFill>
                <a:latin typeface="Quattoria sans"/>
              </a:rPr>
              <a:t>he spacing </a:t>
            </a:r>
            <a:r>
              <a:rPr b="0" lang="en-US" sz="3600" spc="-1" strike="noStrike">
                <a:solidFill>
                  <a:srgbClr val="000000"/>
                </a:solidFill>
                <a:latin typeface="Quattoria sans"/>
              </a:rPr>
              <a:t>between the </a:t>
            </a:r>
            <a:r>
              <a:rPr b="0" lang="en-US" sz="3600" spc="-1" strike="noStrike">
                <a:solidFill>
                  <a:srgbClr val="000000"/>
                </a:solidFill>
                <a:latin typeface="Quattoria sans"/>
              </a:rPr>
              <a:t>g</a:t>
            </a:r>
            <a:r>
              <a:rPr b="0" lang="en-US" sz="3600" spc="-1" strike="noStrike" baseline="-8000">
                <a:solidFill>
                  <a:srgbClr val="000000"/>
                </a:solidFill>
                <a:latin typeface="Quattoria sans"/>
              </a:rPr>
              <a:t>9/2</a:t>
            </a:r>
            <a:r>
              <a:rPr b="0" lang="en-US" sz="3600" spc="-1" strike="noStrike">
                <a:solidFill>
                  <a:srgbClr val="000000"/>
                </a:solidFill>
                <a:latin typeface="Quattoria sans"/>
              </a:rPr>
              <a:t> and d</a:t>
            </a:r>
            <a:r>
              <a:rPr b="0" lang="en-US" sz="3600" spc="-1" strike="noStrike" baseline="-8000">
                <a:solidFill>
                  <a:srgbClr val="000000"/>
                </a:solidFill>
                <a:latin typeface="Quattoria sans"/>
              </a:rPr>
              <a:t>5/2</a:t>
            </a:r>
            <a:r>
              <a:rPr b="0" lang="en-US" sz="3600" spc="-1" strike="noStrike">
                <a:solidFill>
                  <a:srgbClr val="000000"/>
                </a:solidFill>
                <a:latin typeface="Quattoria sans"/>
              </a:rPr>
              <a:t> </a:t>
            </a:r>
            <a:r>
              <a:rPr b="0" lang="en-US" sz="3600" spc="-1" strike="noStrike">
                <a:solidFill>
                  <a:srgbClr val="000000"/>
                </a:solidFill>
                <a:latin typeface="Quattoria sans"/>
              </a:rPr>
              <a:t>neutron orbitals </a:t>
            </a:r>
            <a:r>
              <a:rPr b="0" lang="en-US" sz="3600" spc="-1" strike="noStrike">
                <a:solidFill>
                  <a:srgbClr val="000000"/>
                </a:solidFill>
                <a:latin typeface="Quattoria sans"/>
              </a:rPr>
              <a:t>at N=40, and </a:t>
            </a:r>
            <a:r>
              <a:rPr b="0" lang="en-US" sz="3600" spc="-1" strike="noStrike">
                <a:solidFill>
                  <a:srgbClr val="000000"/>
                </a:solidFill>
                <a:latin typeface="Quattoria sans"/>
              </a:rPr>
              <a:t>evolution of the </a:t>
            </a:r>
            <a:r>
              <a:rPr b="0" lang="en-US" sz="3600" spc="-1" strike="noStrike">
                <a:solidFill>
                  <a:srgbClr val="000000"/>
                </a:solidFill>
                <a:latin typeface="Quattoria sans"/>
              </a:rPr>
              <a:t>N=50 shell gap  </a:t>
            </a:r>
            <a:endParaRPr b="0" lang="en-US" sz="3600" spc="-1" strike="noStrike">
              <a:solidFill>
                <a:srgbClr val="000000"/>
              </a:solidFill>
              <a:latin typeface="Quattoria sans"/>
            </a:endParaRPr>
          </a:p>
        </p:txBody>
      </p:sp>
      <p:pic>
        <p:nvPicPr>
          <p:cNvPr id="138" name="" descr=""/>
          <p:cNvPicPr/>
          <p:nvPr/>
        </p:nvPicPr>
        <p:blipFill>
          <a:blip r:embed="rId13"/>
          <a:stretch/>
        </p:blipFill>
        <p:spPr>
          <a:xfrm>
            <a:off x="20702160" y="8816400"/>
            <a:ext cx="3200400" cy="5027760"/>
          </a:xfrm>
          <a:prstGeom prst="rect">
            <a:avLst/>
          </a:prstGeom>
          <a:ln w="0">
            <a:noFill/>
          </a:ln>
        </p:spPr>
      </p:pic>
      <p:sp>
        <p:nvSpPr>
          <p:cNvPr id="139" name=""/>
          <p:cNvSpPr txBox="1"/>
          <p:nvPr/>
        </p:nvSpPr>
        <p:spPr>
          <a:xfrm>
            <a:off x="11504880" y="12472560"/>
            <a:ext cx="9654480" cy="297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Wit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h </a:t>
            </a:r>
            <a:r>
              <a:rPr b="0" lang="en-US" sz="3600" spc="-1" strike="noStrike" baseline="33000">
                <a:solidFill>
                  <a:srgbClr val="000000"/>
                </a:solidFill>
                <a:latin typeface="Quattrocento Sans"/>
                <a:ea typeface="ＭＳ Ｐゴシック"/>
              </a:rPr>
              <a:t>68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Ni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(d,t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)</a:t>
            </a:r>
            <a:r>
              <a:rPr b="0" lang="en-US" sz="3600" spc="-1" strike="noStrike" baseline="33000">
                <a:solidFill>
                  <a:srgbClr val="000000"/>
                </a:solidFill>
                <a:latin typeface="Quattrocento Sans"/>
                <a:ea typeface="ＭＳ Ｐゴシック"/>
              </a:rPr>
              <a:t>67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N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i &amp; </a:t>
            </a:r>
            <a:r>
              <a:rPr b="0" lang="en-US" sz="3600" spc="-1" strike="noStrike" baseline="33000">
                <a:solidFill>
                  <a:srgbClr val="000000"/>
                </a:solidFill>
                <a:latin typeface="Quattrocento Sans"/>
                <a:ea typeface="ＭＳ Ｐゴシック"/>
              </a:rPr>
              <a:t>68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Ni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(p,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d)</a:t>
            </a:r>
            <a:r>
              <a:rPr b="0" lang="en-US" sz="3600" spc="-1" strike="noStrike" baseline="33000">
                <a:solidFill>
                  <a:srgbClr val="000000"/>
                </a:solidFill>
                <a:latin typeface="Quattrocento Sans"/>
                <a:ea typeface="ＭＳ Ｐゴシック"/>
              </a:rPr>
              <a:t>67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Ni, </a:t>
            </a:r>
            <a:endParaRPr b="0" lang="en-US" sz="3600" spc="-1" strike="noStrike">
              <a:latin typeface="Arial"/>
              <a:ea typeface="Noto Sans CJK SC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"/>
            </a:pP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th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e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oc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cu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pa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nc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y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of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th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e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f-p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sh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ell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s </a:t>
            </a:r>
            <a:endParaRPr b="0" lang="en-US" sz="3600" spc="-1" strike="noStrike">
              <a:latin typeface="Arial"/>
              <a:ea typeface="Noto Sans CJK SC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als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o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par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tial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occ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upa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ncy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of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the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1g</a:t>
            </a:r>
            <a:r>
              <a:rPr b="0" lang="en-US" sz="3600" spc="-1" strike="noStrike" baseline="-8000">
                <a:solidFill>
                  <a:srgbClr val="000000"/>
                </a:solidFill>
                <a:latin typeface="Quattrocento Sans"/>
                <a:ea typeface="ＭＳ Ｐゴシック"/>
              </a:rPr>
              <a:t>9/</a:t>
            </a:r>
            <a:r>
              <a:rPr b="0" lang="en-US" sz="3600" spc="-1" strike="noStrike" baseline="-8000">
                <a:solidFill>
                  <a:srgbClr val="000000"/>
                </a:solidFill>
                <a:latin typeface="Quattrocento Sans"/>
                <a:ea typeface="ＭＳ Ｐゴシック"/>
              </a:rPr>
              <a:t>2</a:t>
            </a:r>
            <a:endParaRPr b="0" lang="en-US" sz="3600" spc="-1" strike="noStrike">
              <a:latin typeface="Arial"/>
              <a:ea typeface="Noto Sans CJK SC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"/>
            </a:pPr>
            <a:r>
              <a:rPr b="0" lang="en-US" sz="3600" spc="-1" strike="noStrike">
                <a:solidFill>
                  <a:srgbClr val="000000"/>
                </a:solidFill>
                <a:latin typeface="Quattaro sans"/>
                <a:ea typeface="Noto Sans CJK SC"/>
              </a:rPr>
              <a:t>Th</a:t>
            </a:r>
            <a:r>
              <a:rPr b="0" lang="en-US" sz="3600" spc="-1" strike="noStrike">
                <a:solidFill>
                  <a:srgbClr val="000000"/>
                </a:solidFill>
                <a:latin typeface="Quattaro sans"/>
                <a:ea typeface="Noto Sans CJK SC"/>
              </a:rPr>
              <a:t>e </a:t>
            </a:r>
            <a:r>
              <a:rPr b="0" lang="en-US" sz="3600" spc="-1" strike="noStrike">
                <a:solidFill>
                  <a:srgbClr val="000000"/>
                </a:solidFill>
                <a:latin typeface="Quattaro sans"/>
                <a:ea typeface="Noto Sans CJK SC"/>
              </a:rPr>
              <a:t>SO </a:t>
            </a:r>
            <a:r>
              <a:rPr b="0" lang="en-US" sz="3600" spc="-1" strike="noStrike">
                <a:solidFill>
                  <a:srgbClr val="000000"/>
                </a:solidFill>
                <a:latin typeface="Quattaro sans"/>
                <a:ea typeface="Noto Sans CJK SC"/>
              </a:rPr>
              <a:t>spl</a:t>
            </a:r>
            <a:r>
              <a:rPr b="0" lang="en-US" sz="3600" spc="-1" strike="noStrike">
                <a:solidFill>
                  <a:srgbClr val="000000"/>
                </a:solidFill>
                <a:latin typeface="Quattaro sans"/>
                <a:ea typeface="Noto Sans CJK SC"/>
              </a:rPr>
              <a:t>itti</a:t>
            </a:r>
            <a:r>
              <a:rPr b="0" lang="en-US" sz="3600" spc="-1" strike="noStrike">
                <a:solidFill>
                  <a:srgbClr val="000000"/>
                </a:solidFill>
                <a:latin typeface="Quattaro sans"/>
                <a:ea typeface="Noto Sans CJK SC"/>
              </a:rPr>
              <a:t>ng </a:t>
            </a:r>
            <a:r>
              <a:rPr b="0" lang="en-US" sz="3600" spc="-1" strike="noStrike">
                <a:solidFill>
                  <a:srgbClr val="000000"/>
                </a:solidFill>
                <a:latin typeface="Quattaro sans"/>
                <a:ea typeface="Noto Sans CJK SC"/>
              </a:rPr>
              <a:t>of </a:t>
            </a:r>
            <a:r>
              <a:rPr b="0" lang="en-US" sz="3600" spc="-1" strike="noStrike">
                <a:solidFill>
                  <a:srgbClr val="000000"/>
                </a:solidFill>
                <a:latin typeface="Quattaro sans"/>
                <a:ea typeface="Noto Sans CJK SC"/>
              </a:rPr>
              <a:t>th</a:t>
            </a:r>
            <a:r>
              <a:rPr b="0" lang="en-US" sz="3600" spc="-1" strike="noStrike">
                <a:solidFill>
                  <a:srgbClr val="000000"/>
                </a:solidFill>
                <a:latin typeface="Quattaro sans"/>
                <a:ea typeface="Noto Sans CJK SC"/>
              </a:rPr>
              <a:t>e </a:t>
            </a:r>
            <a:r>
              <a:rPr b="0" lang="en-US" sz="3600" spc="-1" strike="noStrike">
                <a:solidFill>
                  <a:srgbClr val="000000"/>
                </a:solidFill>
                <a:latin typeface="Quattaro sans"/>
                <a:ea typeface="Noto Sans CJK SC"/>
              </a:rPr>
              <a:t>2p</a:t>
            </a:r>
            <a:r>
              <a:rPr b="0" lang="en-US" sz="3600" spc="-1" strike="noStrike">
                <a:solidFill>
                  <a:srgbClr val="000000"/>
                </a:solidFill>
                <a:latin typeface="Quattaro sans"/>
                <a:ea typeface="Noto Sans CJK SC"/>
              </a:rPr>
              <a:t>, </a:t>
            </a:r>
            <a:r>
              <a:rPr b="0" lang="en-US" sz="3600" spc="-1" strike="noStrike">
                <a:solidFill>
                  <a:srgbClr val="000000"/>
                </a:solidFill>
                <a:latin typeface="Quattaro sans"/>
                <a:ea typeface="Noto Sans CJK SC"/>
              </a:rPr>
              <a:t>1f </a:t>
            </a:r>
            <a:r>
              <a:rPr b="0" lang="en-US" sz="3600" spc="-1" strike="noStrike">
                <a:solidFill>
                  <a:srgbClr val="000000"/>
                </a:solidFill>
                <a:latin typeface="Quattaro sans"/>
                <a:ea typeface="Noto Sans CJK SC"/>
              </a:rPr>
              <a:t>an</a:t>
            </a:r>
            <a:r>
              <a:rPr b="0" lang="en-US" sz="3600" spc="-1" strike="noStrike">
                <a:solidFill>
                  <a:srgbClr val="000000"/>
                </a:solidFill>
                <a:latin typeface="Quattaro sans"/>
                <a:ea typeface="Noto Sans CJK SC"/>
              </a:rPr>
              <a:t>d </a:t>
            </a:r>
            <a:r>
              <a:rPr b="0" lang="en-US" sz="3600" spc="-1" strike="noStrike">
                <a:solidFill>
                  <a:srgbClr val="000000"/>
                </a:solidFill>
                <a:latin typeface="Quattaro sans"/>
                <a:ea typeface="Noto Sans CJK SC"/>
              </a:rPr>
              <a:t>1g </a:t>
            </a:r>
            <a:endParaRPr b="0" lang="en-US" sz="3600" spc="-1" strike="noStrike">
              <a:latin typeface="Arial"/>
              <a:ea typeface="Noto Sans CJK SC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rgbClr val="000000"/>
                </a:solidFill>
                <a:latin typeface="Quattaro sans"/>
                <a:ea typeface="Noto Sans CJK SC"/>
              </a:rPr>
              <a:t>ne</a:t>
            </a:r>
            <a:r>
              <a:rPr b="0" lang="en-US" sz="3600" spc="-1" strike="noStrike">
                <a:solidFill>
                  <a:srgbClr val="000000"/>
                </a:solidFill>
                <a:latin typeface="Quattaro sans"/>
                <a:ea typeface="Noto Sans CJK SC"/>
              </a:rPr>
              <a:t>utr</a:t>
            </a:r>
            <a:r>
              <a:rPr b="0" lang="en-US" sz="3600" spc="-1" strike="noStrike">
                <a:solidFill>
                  <a:srgbClr val="000000"/>
                </a:solidFill>
                <a:latin typeface="Quattaro sans"/>
                <a:ea typeface="Noto Sans CJK SC"/>
              </a:rPr>
              <a:t>on </a:t>
            </a:r>
            <a:r>
              <a:rPr b="0" lang="en-US" sz="3600" spc="-1" strike="noStrike">
                <a:solidFill>
                  <a:srgbClr val="000000"/>
                </a:solidFill>
                <a:latin typeface="Quattaro sans"/>
                <a:ea typeface="Noto Sans CJK SC"/>
              </a:rPr>
              <a:t>or</a:t>
            </a:r>
            <a:r>
              <a:rPr b="0" lang="en-US" sz="3600" spc="-1" strike="noStrike">
                <a:solidFill>
                  <a:srgbClr val="000000"/>
                </a:solidFill>
                <a:latin typeface="Quattaro sans"/>
                <a:ea typeface="Noto Sans CJK SC"/>
              </a:rPr>
              <a:t>bit</a:t>
            </a:r>
            <a:r>
              <a:rPr b="0" lang="en-US" sz="3600" spc="-1" strike="noStrike">
                <a:solidFill>
                  <a:srgbClr val="000000"/>
                </a:solidFill>
                <a:latin typeface="Quattaro sans"/>
                <a:ea typeface="Noto Sans CJK SC"/>
              </a:rPr>
              <a:t>als </a:t>
            </a:r>
            <a:r>
              <a:rPr b="0" lang="en-US" sz="3600" spc="-1" strike="noStrike">
                <a:solidFill>
                  <a:srgbClr val="000000"/>
                </a:solidFill>
                <a:latin typeface="Quattaro sans"/>
                <a:ea typeface="Noto Sans CJK SC"/>
              </a:rPr>
              <a:t>in </a:t>
            </a:r>
            <a:r>
              <a:rPr b="0" lang="en-US" sz="3600" spc="-1" strike="noStrike" baseline="33000">
                <a:solidFill>
                  <a:srgbClr val="000000"/>
                </a:solidFill>
                <a:latin typeface="Quattaro sans"/>
                <a:ea typeface="Noto Sans CJK SC"/>
              </a:rPr>
              <a:t>68</a:t>
            </a:r>
            <a:r>
              <a:rPr b="0" lang="en-US" sz="3600" spc="-1" strike="noStrike">
                <a:solidFill>
                  <a:srgbClr val="000000"/>
                </a:solidFill>
                <a:latin typeface="Quattaro sans"/>
                <a:ea typeface="Noto Sans CJK SC"/>
              </a:rPr>
              <a:t>Ni</a:t>
            </a:r>
            <a:endParaRPr b="0" lang="en-US" sz="3600" spc="-1" strike="noStrike">
              <a:latin typeface="Arial"/>
              <a:ea typeface="Noto Sans CJK SC"/>
            </a:endParaRPr>
          </a:p>
          <a:p>
            <a:pPr>
              <a:lnSpc>
                <a:spcPct val="100000"/>
              </a:lnSpc>
              <a:buNone/>
            </a:pPr>
            <a:endParaRPr b="0" lang="en-US" sz="4400" spc="-1" strike="noStrike">
              <a:latin typeface="Arial"/>
              <a:ea typeface="Noto Sans CJK SC"/>
            </a:endParaRPr>
          </a:p>
        </p:txBody>
      </p:sp>
      <p:pic>
        <p:nvPicPr>
          <p:cNvPr id="140" name="" descr=""/>
          <p:cNvPicPr/>
          <p:nvPr/>
        </p:nvPicPr>
        <p:blipFill>
          <a:blip r:embed="rId14"/>
          <a:stretch/>
        </p:blipFill>
        <p:spPr>
          <a:xfrm>
            <a:off x="16358760" y="7415280"/>
            <a:ext cx="4209840" cy="3914280"/>
          </a:xfrm>
          <a:prstGeom prst="rect">
            <a:avLst/>
          </a:prstGeom>
          <a:ln w="0">
            <a:noFill/>
          </a:ln>
        </p:spPr>
      </p:pic>
      <p:grpSp>
        <p:nvGrpSpPr>
          <p:cNvPr id="141" name=""/>
          <p:cNvGrpSpPr/>
          <p:nvPr/>
        </p:nvGrpSpPr>
        <p:grpSpPr>
          <a:xfrm>
            <a:off x="24359760" y="8747640"/>
            <a:ext cx="4594320" cy="6029640"/>
            <a:chOff x="24359760" y="8747640"/>
            <a:chExt cx="4594320" cy="6029640"/>
          </a:xfrm>
        </p:grpSpPr>
        <p:sp>
          <p:nvSpPr>
            <p:cNvPr id="142" name=""/>
            <p:cNvSpPr/>
            <p:nvPr/>
          </p:nvSpPr>
          <p:spPr>
            <a:xfrm>
              <a:off x="24857280" y="14693040"/>
              <a:ext cx="4096440" cy="360"/>
            </a:xfrm>
            <a:prstGeom prst="line">
              <a:avLst/>
            </a:prstGeom>
            <a:ln w="381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3" name=""/>
            <p:cNvSpPr/>
            <p:nvPr/>
          </p:nvSpPr>
          <p:spPr>
            <a:xfrm>
              <a:off x="24857640" y="9198000"/>
              <a:ext cx="4095720" cy="0"/>
            </a:xfrm>
            <a:prstGeom prst="line">
              <a:avLst/>
            </a:prstGeom>
            <a:ln w="5724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4" name=""/>
            <p:cNvSpPr/>
            <p:nvPr/>
          </p:nvSpPr>
          <p:spPr>
            <a:xfrm>
              <a:off x="24857280" y="14113080"/>
              <a:ext cx="4096440" cy="360"/>
            </a:xfrm>
            <a:prstGeom prst="line">
              <a:avLst/>
            </a:prstGeom>
            <a:ln w="5724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5" name=""/>
            <p:cNvSpPr/>
            <p:nvPr/>
          </p:nvSpPr>
          <p:spPr>
            <a:xfrm>
              <a:off x="24857280" y="12884400"/>
              <a:ext cx="4096440" cy="360"/>
            </a:xfrm>
            <a:prstGeom prst="line">
              <a:avLst/>
            </a:prstGeom>
            <a:ln w="381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6" name=""/>
            <p:cNvSpPr/>
            <p:nvPr/>
          </p:nvSpPr>
          <p:spPr>
            <a:xfrm>
              <a:off x="24857280" y="10734120"/>
              <a:ext cx="4096440" cy="0"/>
            </a:xfrm>
            <a:prstGeom prst="line">
              <a:avLst/>
            </a:prstGeom>
            <a:ln w="381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7" name=""/>
            <p:cNvSpPr/>
            <p:nvPr/>
          </p:nvSpPr>
          <p:spPr>
            <a:xfrm>
              <a:off x="24857280" y="10140120"/>
              <a:ext cx="4096440" cy="360"/>
            </a:xfrm>
            <a:prstGeom prst="line">
              <a:avLst/>
            </a:prstGeom>
            <a:ln w="381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8" name=""/>
            <p:cNvSpPr/>
            <p:nvPr/>
          </p:nvSpPr>
          <p:spPr>
            <a:xfrm>
              <a:off x="24857280" y="9505080"/>
              <a:ext cx="4096440" cy="360"/>
            </a:xfrm>
            <a:prstGeom prst="line">
              <a:avLst/>
            </a:prstGeom>
            <a:ln w="381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9" name=""/>
            <p:cNvSpPr txBox="1"/>
            <p:nvPr/>
          </p:nvSpPr>
          <p:spPr>
            <a:xfrm>
              <a:off x="28153440" y="14317920"/>
              <a:ext cx="799920" cy="4593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r">
                <a:buNone/>
              </a:pP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0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.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0</a:t>
              </a:r>
              <a:endParaRPr b="0" lang="en-US" sz="2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0" name=""/>
            <p:cNvSpPr txBox="1"/>
            <p:nvPr/>
          </p:nvSpPr>
          <p:spPr>
            <a:xfrm>
              <a:off x="28153800" y="13708440"/>
              <a:ext cx="799920" cy="4593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r">
                <a:buNone/>
              </a:pP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321</a:t>
              </a:r>
              <a:endParaRPr b="0" lang="en-US" sz="2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1" name=""/>
            <p:cNvSpPr txBox="1"/>
            <p:nvPr/>
          </p:nvSpPr>
          <p:spPr>
            <a:xfrm>
              <a:off x="28153800" y="12479400"/>
              <a:ext cx="799920" cy="4593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r">
                <a:buNone/>
              </a:pP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915</a:t>
              </a:r>
              <a:endParaRPr b="0" lang="en-US" sz="2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2" name=""/>
            <p:cNvSpPr txBox="1"/>
            <p:nvPr/>
          </p:nvSpPr>
          <p:spPr>
            <a:xfrm>
              <a:off x="27929520" y="9198000"/>
              <a:ext cx="1024200" cy="4593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r">
                <a:buNone/>
              </a:pP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2552</a:t>
              </a:r>
              <a:endParaRPr b="0" lang="en-US" sz="2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3" name=""/>
            <p:cNvSpPr txBox="1"/>
            <p:nvPr/>
          </p:nvSpPr>
          <p:spPr>
            <a:xfrm>
              <a:off x="27929520" y="9772200"/>
              <a:ext cx="1024200" cy="4593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r">
                <a:buNone/>
              </a:pP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2241</a:t>
              </a:r>
              <a:endParaRPr b="0" lang="en-US" sz="2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4" name=""/>
            <p:cNvSpPr txBox="1"/>
            <p:nvPr/>
          </p:nvSpPr>
          <p:spPr>
            <a:xfrm>
              <a:off x="27929880" y="10392480"/>
              <a:ext cx="1024200" cy="4593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r">
                <a:buNone/>
              </a:pP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1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9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5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9</a:t>
              </a:r>
              <a:endParaRPr b="0" lang="en-US" sz="2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5" name=""/>
            <p:cNvSpPr txBox="1"/>
            <p:nvPr/>
          </p:nvSpPr>
          <p:spPr>
            <a:xfrm>
              <a:off x="27929520" y="8856360"/>
              <a:ext cx="1024200" cy="4593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r">
                <a:buNone/>
              </a:pP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2700</a:t>
              </a:r>
              <a:endParaRPr b="0" lang="en-US" sz="2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6" name=""/>
            <p:cNvSpPr txBox="1"/>
            <p:nvPr/>
          </p:nvSpPr>
          <p:spPr>
            <a:xfrm>
              <a:off x="24603840" y="14301360"/>
              <a:ext cx="1127520" cy="4593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(9/2</a:t>
              </a:r>
              <a:r>
                <a:rPr b="0" lang="en-US" sz="2600" spc="-1" strike="noStrike" baseline="33000">
                  <a:solidFill>
                    <a:srgbClr val="000000"/>
                  </a:solidFill>
                  <a:latin typeface="Arial"/>
                </a:rPr>
                <a:t>+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)</a:t>
              </a:r>
              <a:endParaRPr b="0" lang="en-US" sz="2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7" name=""/>
            <p:cNvSpPr txBox="1"/>
            <p:nvPr/>
          </p:nvSpPr>
          <p:spPr>
            <a:xfrm>
              <a:off x="24568560" y="13654080"/>
              <a:ext cx="971640" cy="4593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(1/2</a:t>
              </a:r>
              <a:r>
                <a:rPr b="0" lang="en-US" sz="2600" spc="-1" strike="noStrike" baseline="33000">
                  <a:solidFill>
                    <a:srgbClr val="000000"/>
                  </a:solidFill>
                  <a:latin typeface="Arial"/>
                </a:rPr>
                <a:t>-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)</a:t>
              </a:r>
              <a:endParaRPr b="0" lang="en-US" sz="2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8" name=""/>
            <p:cNvSpPr txBox="1"/>
            <p:nvPr/>
          </p:nvSpPr>
          <p:spPr>
            <a:xfrm>
              <a:off x="24588360" y="12425040"/>
              <a:ext cx="951840" cy="4593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(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5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/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2</a:t>
              </a:r>
              <a:r>
                <a:rPr b="0" lang="en-US" sz="2600" spc="-1" strike="noStrike" baseline="33000">
                  <a:solidFill>
                    <a:srgbClr val="000000"/>
                  </a:solidFill>
                  <a:latin typeface="Arial"/>
                </a:rPr>
                <a:t>-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)</a:t>
              </a:r>
              <a:endParaRPr b="0" lang="en-US" sz="2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9" name=""/>
            <p:cNvSpPr txBox="1"/>
            <p:nvPr/>
          </p:nvSpPr>
          <p:spPr>
            <a:xfrm>
              <a:off x="24588360" y="10392480"/>
              <a:ext cx="951840" cy="4593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(9/2</a:t>
              </a:r>
              <a:r>
                <a:rPr b="0" lang="en-US" sz="2600" spc="-1" strike="noStrike" baseline="33000">
                  <a:solidFill>
                    <a:srgbClr val="000000"/>
                  </a:solidFill>
                  <a:latin typeface="Arial"/>
                </a:rPr>
                <a:t>-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)</a:t>
              </a:r>
              <a:endParaRPr b="0" lang="en-US" sz="2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0" name=""/>
            <p:cNvSpPr txBox="1"/>
            <p:nvPr/>
          </p:nvSpPr>
          <p:spPr>
            <a:xfrm>
              <a:off x="24359760" y="9657360"/>
              <a:ext cx="1351440" cy="4593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(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1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3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/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2</a:t>
              </a:r>
              <a:r>
                <a:rPr b="0" lang="en-US" sz="2600" spc="-1" strike="noStrike" baseline="33000">
                  <a:solidFill>
                    <a:srgbClr val="000000"/>
                  </a:solidFill>
                  <a:latin typeface="Arial"/>
                </a:rPr>
                <a:t>+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)</a:t>
              </a:r>
              <a:endParaRPr b="0" lang="en-US" sz="2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1" name=""/>
            <p:cNvSpPr txBox="1"/>
            <p:nvPr/>
          </p:nvSpPr>
          <p:spPr>
            <a:xfrm>
              <a:off x="24359760" y="9198000"/>
              <a:ext cx="1351440" cy="5313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(13/2</a:t>
              </a:r>
              <a:r>
                <a:rPr b="0" lang="en-US" sz="2600" spc="-1" strike="noStrike" baseline="33000">
                  <a:solidFill>
                    <a:srgbClr val="000000"/>
                  </a:solidFill>
                  <a:latin typeface="Arial"/>
                </a:rPr>
                <a:t>-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)</a:t>
              </a:r>
              <a:endParaRPr b="0" lang="en-US" sz="2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2" name=""/>
            <p:cNvSpPr txBox="1"/>
            <p:nvPr/>
          </p:nvSpPr>
          <p:spPr>
            <a:xfrm>
              <a:off x="24359760" y="8747640"/>
              <a:ext cx="1351440" cy="4593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(17/2</a:t>
              </a:r>
              <a:r>
                <a:rPr b="0" lang="en-US" sz="2600" spc="-1" strike="noStrike" baseline="33000">
                  <a:solidFill>
                    <a:srgbClr val="000000"/>
                  </a:solidFill>
                  <a:latin typeface="Arial"/>
                </a:rPr>
                <a:t>-</a:t>
              </a: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) </a:t>
              </a:r>
              <a:endParaRPr b="0" lang="en-US" sz="2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3" name=""/>
            <p:cNvSpPr/>
            <p:nvPr/>
          </p:nvSpPr>
          <p:spPr>
            <a:xfrm rot="16200000">
              <a:off x="27502920" y="13174560"/>
              <a:ext cx="1194480" cy="682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21600" y="5400"/>
                  </a:moveTo>
                  <a:lnTo>
                    <a:pt x="5400" y="5400"/>
                  </a:lnTo>
                  <a:lnTo>
                    <a:pt x="5400" y="0"/>
                  </a:lnTo>
                  <a:lnTo>
                    <a:pt x="0" y="10800"/>
                  </a:lnTo>
                  <a:lnTo>
                    <a:pt x="5400" y="21600"/>
                  </a:lnTo>
                  <a:lnTo>
                    <a:pt x="5400" y="16200"/>
                  </a:lnTo>
                  <a:lnTo>
                    <a:pt x="21600" y="16200"/>
                  </a:lnTo>
                  <a:close/>
                </a:path>
              </a:pathLst>
            </a:custGeom>
            <a:solidFill>
              <a:srgbClr val="d0d0d0"/>
            </a:solidFill>
            <a:ln w="0">
              <a:solidFill>
                <a:srgbClr val="d0d0d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buNone/>
              </a:pP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594</a:t>
              </a:r>
              <a:endParaRPr b="0" lang="en-US" sz="2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4" name=""/>
            <p:cNvSpPr/>
            <p:nvPr/>
          </p:nvSpPr>
          <p:spPr>
            <a:xfrm rot="16200000">
              <a:off x="27025200" y="11468160"/>
              <a:ext cx="2149920" cy="682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21600" y="5400"/>
                  </a:moveTo>
                  <a:lnTo>
                    <a:pt x="5400" y="5400"/>
                  </a:lnTo>
                  <a:lnTo>
                    <a:pt x="5400" y="0"/>
                  </a:lnTo>
                  <a:lnTo>
                    <a:pt x="0" y="10800"/>
                  </a:lnTo>
                  <a:lnTo>
                    <a:pt x="5400" y="21600"/>
                  </a:lnTo>
                  <a:lnTo>
                    <a:pt x="5400" y="16200"/>
                  </a:lnTo>
                  <a:lnTo>
                    <a:pt x="21600" y="16200"/>
                  </a:lnTo>
                  <a:close/>
                </a:path>
              </a:pathLst>
            </a:custGeom>
            <a:solidFill>
              <a:srgbClr val="d0d0d0"/>
            </a:solidFill>
            <a:ln w="0">
              <a:solidFill>
                <a:srgbClr val="d0d0d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buNone/>
              </a:pP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1044</a:t>
              </a:r>
              <a:endParaRPr b="0" lang="en-US" sz="2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5" name=""/>
            <p:cNvSpPr/>
            <p:nvPr/>
          </p:nvSpPr>
          <p:spPr>
            <a:xfrm rot="16200000">
              <a:off x="25267320" y="12372120"/>
              <a:ext cx="3959280" cy="6825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21600" y="6673"/>
                  </a:moveTo>
                  <a:lnTo>
                    <a:pt x="2344" y="6673"/>
                  </a:lnTo>
                  <a:lnTo>
                    <a:pt x="2344" y="0"/>
                  </a:lnTo>
                  <a:lnTo>
                    <a:pt x="0" y="10800"/>
                  </a:lnTo>
                  <a:lnTo>
                    <a:pt x="2344" y="21600"/>
                  </a:lnTo>
                  <a:lnTo>
                    <a:pt x="2344" y="14927"/>
                  </a:lnTo>
                  <a:lnTo>
                    <a:pt x="21600" y="14927"/>
                  </a:lnTo>
                  <a:close/>
                </a:path>
              </a:pathLst>
            </a:custGeom>
            <a:solidFill>
              <a:srgbClr val="d0d0d0"/>
            </a:solidFill>
            <a:ln w="0">
              <a:solidFill>
                <a:srgbClr val="d0d0d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buNone/>
              </a:pP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1959</a:t>
              </a:r>
              <a:endParaRPr b="0" lang="en-US" sz="2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6" name=""/>
            <p:cNvSpPr/>
            <p:nvPr/>
          </p:nvSpPr>
          <p:spPr>
            <a:xfrm rot="16200000">
              <a:off x="24430680" y="12184200"/>
              <a:ext cx="4437360" cy="5122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21600" y="4964"/>
                  </a:moveTo>
                  <a:lnTo>
                    <a:pt x="1476" y="4964"/>
                  </a:lnTo>
                  <a:lnTo>
                    <a:pt x="1476" y="0"/>
                  </a:lnTo>
                  <a:lnTo>
                    <a:pt x="0" y="10800"/>
                  </a:lnTo>
                  <a:lnTo>
                    <a:pt x="1476" y="21600"/>
                  </a:lnTo>
                  <a:lnTo>
                    <a:pt x="1476" y="16636"/>
                  </a:lnTo>
                  <a:lnTo>
                    <a:pt x="21600" y="16636"/>
                  </a:lnTo>
                  <a:close/>
                </a:path>
              </a:pathLst>
            </a:custGeom>
            <a:solidFill>
              <a:srgbClr val="d0d0d0"/>
            </a:solidFill>
            <a:ln w="0">
              <a:solidFill>
                <a:srgbClr val="d0d0d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buNone/>
              </a:pP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2241</a:t>
              </a:r>
              <a:endParaRPr b="0" lang="en-US" sz="2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7" name=""/>
            <p:cNvSpPr/>
            <p:nvPr/>
          </p:nvSpPr>
          <p:spPr>
            <a:xfrm rot="16200000">
              <a:off x="26349120" y="9583560"/>
              <a:ext cx="600840" cy="5122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21600" y="5400"/>
                  </a:moveTo>
                  <a:lnTo>
                    <a:pt x="5400" y="5400"/>
                  </a:lnTo>
                  <a:lnTo>
                    <a:pt x="5400" y="0"/>
                  </a:lnTo>
                  <a:lnTo>
                    <a:pt x="0" y="10800"/>
                  </a:lnTo>
                  <a:lnTo>
                    <a:pt x="5400" y="21600"/>
                  </a:lnTo>
                  <a:lnTo>
                    <a:pt x="5400" y="16200"/>
                  </a:lnTo>
                  <a:lnTo>
                    <a:pt x="21600" y="16200"/>
                  </a:lnTo>
                  <a:close/>
                </a:path>
              </a:pathLst>
            </a:custGeom>
            <a:solidFill>
              <a:srgbClr val="d0d0d0"/>
            </a:solidFill>
            <a:ln w="0">
              <a:solidFill>
                <a:srgbClr val="d0d0d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buNone/>
              </a:pPr>
              <a:r>
                <a:rPr b="0" lang="en-US" sz="1600" spc="-1" strike="noStrike">
                  <a:solidFill>
                    <a:srgbClr val="000000"/>
                  </a:solidFill>
                  <a:latin typeface="Arial"/>
                </a:rPr>
                <a:t>311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8" name=""/>
            <p:cNvSpPr/>
            <p:nvPr/>
          </p:nvSpPr>
          <p:spPr>
            <a:xfrm rot="16200000">
              <a:off x="26674200" y="9897840"/>
              <a:ext cx="1228680" cy="5115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21600" y="5400"/>
                  </a:moveTo>
                  <a:lnTo>
                    <a:pt x="5400" y="5400"/>
                  </a:lnTo>
                  <a:lnTo>
                    <a:pt x="5400" y="0"/>
                  </a:lnTo>
                  <a:lnTo>
                    <a:pt x="0" y="10800"/>
                  </a:lnTo>
                  <a:lnTo>
                    <a:pt x="5400" y="21600"/>
                  </a:lnTo>
                  <a:lnTo>
                    <a:pt x="5400" y="16200"/>
                  </a:lnTo>
                  <a:lnTo>
                    <a:pt x="21600" y="16200"/>
                  </a:lnTo>
                  <a:close/>
                </a:path>
              </a:pathLst>
            </a:custGeom>
            <a:solidFill>
              <a:srgbClr val="d0d0d0"/>
            </a:solidFill>
            <a:ln w="0">
              <a:solidFill>
                <a:srgbClr val="d0d0d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buNone/>
              </a:pPr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593</a:t>
              </a:r>
              <a:endParaRPr b="0" lang="en-US" sz="2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9" name=""/>
            <p:cNvSpPr/>
            <p:nvPr/>
          </p:nvSpPr>
          <p:spPr>
            <a:xfrm>
              <a:off x="25711200" y="9198000"/>
              <a:ext cx="682200" cy="307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5902" y="0"/>
                  </a:moveTo>
                  <a:lnTo>
                    <a:pt x="5902" y="11272"/>
                  </a:lnTo>
                  <a:lnTo>
                    <a:pt x="0" y="11272"/>
                  </a:lnTo>
                  <a:lnTo>
                    <a:pt x="10800" y="21600"/>
                  </a:lnTo>
                  <a:lnTo>
                    <a:pt x="21600" y="11272"/>
                  </a:lnTo>
                  <a:lnTo>
                    <a:pt x="15698" y="11272"/>
                  </a:lnTo>
                  <a:lnTo>
                    <a:pt x="15698" y="0"/>
                  </a:lnTo>
                  <a:close/>
                </a:path>
              </a:pathLst>
            </a:custGeom>
            <a:solidFill>
              <a:srgbClr val="d0d0d0"/>
            </a:solidFill>
            <a:ln w="0">
              <a:solidFill>
                <a:srgbClr val="d0d0d0"/>
              </a:solidFill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0" name=""/>
            <p:cNvSpPr txBox="1"/>
            <p:nvPr/>
          </p:nvSpPr>
          <p:spPr>
            <a:xfrm>
              <a:off x="25711200" y="9198000"/>
              <a:ext cx="1050120" cy="4593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r>
                <a:rPr b="0" lang="en-US" sz="2600" spc="-1" strike="noStrike">
                  <a:solidFill>
                    <a:srgbClr val="000000"/>
                  </a:solidFill>
                  <a:latin typeface="Arial"/>
                </a:rPr>
                <a:t>148</a:t>
              </a:r>
              <a:endParaRPr b="0" lang="en-US" sz="2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1" name=""/>
            <p:cNvSpPr txBox="1"/>
            <p:nvPr/>
          </p:nvSpPr>
          <p:spPr>
            <a:xfrm>
              <a:off x="25369200" y="13654080"/>
              <a:ext cx="1024200" cy="4593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r>
                <a:rPr b="0" i="1" lang="en-US" sz="2600" spc="-1" strike="noStrike">
                  <a:solidFill>
                    <a:srgbClr val="ff0000"/>
                  </a:solidFill>
                  <a:latin typeface="Arial"/>
                </a:rPr>
                <a:t>3.5 s</a:t>
              </a:r>
              <a:endParaRPr b="0" i="1" lang="en-US" sz="2600" spc="-1" strike="noStrike">
                <a:solidFill>
                  <a:srgbClr val="ff0000"/>
                </a:solidFill>
                <a:latin typeface="Arial"/>
              </a:endParaRPr>
            </a:p>
          </p:txBody>
        </p:sp>
        <p:sp>
          <p:nvSpPr>
            <p:cNvPr id="172" name=""/>
            <p:cNvSpPr txBox="1"/>
            <p:nvPr/>
          </p:nvSpPr>
          <p:spPr>
            <a:xfrm>
              <a:off x="25540200" y="8747640"/>
              <a:ext cx="2048040" cy="4593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r>
                <a:rPr b="0" i="1" lang="en-US" sz="2600" spc="-1" strike="noStrike">
                  <a:solidFill>
                    <a:srgbClr val="ff0000"/>
                  </a:solidFill>
                  <a:latin typeface="Arial"/>
                </a:rPr>
                <a:t>0.43 </a:t>
              </a:r>
              <a:r>
                <a:rPr b="0" i="1" lang="en-US" sz="2600" spc="-1" strike="noStrike">
                  <a:solidFill>
                    <a:srgbClr val="ff0000"/>
                  </a:solidFill>
                  <a:latin typeface="Arial"/>
                  <a:ea typeface="Arial"/>
                </a:rPr>
                <a:t>μ</a:t>
              </a:r>
              <a:r>
                <a:rPr b="0" i="1" lang="en-US" sz="2600" spc="-1" strike="noStrike">
                  <a:solidFill>
                    <a:srgbClr val="ff0000"/>
                  </a:solidFill>
                  <a:latin typeface="Arial"/>
                </a:rPr>
                <a:t>s</a:t>
              </a:r>
              <a:endParaRPr b="0" i="1" lang="en-US" sz="2600" spc="-1" strike="noStrike">
                <a:solidFill>
                  <a:srgbClr val="ff0000"/>
                </a:solidFill>
                <a:latin typeface="Arial"/>
              </a:endParaRPr>
            </a:p>
          </p:txBody>
        </p:sp>
        <mc:AlternateContent>
          <mc:Choice xmlns:a14="http://schemas.microsoft.com/office/drawing/2010/main" Requires="a14">
            <p:sp>
              <p:nvSpPr>
                <p:cNvPr id="173" name=""/>
                <p:cNvSpPr txBox="1"/>
                <p:nvPr/>
              </p:nvSpPr>
              <p:spPr>
                <a:xfrm>
                  <a:off x="24568560" y="14010120"/>
                  <a:ext cx="54000" cy="126360"/>
                </a:xfrm>
                <a:prstGeom prst="rect">
                  <a:avLst/>
                </a:prstGeom>
              </p:spPr>
              <p:txBody>
                <a:bodyPr/>
                <a:p>
                  <a14:m>
                    <m:oMath xmlns:m="http://schemas.openxmlformats.org/officeDocument/2006/math"/>
                  </a14:m>
                </a:p>
              </p:txBody>
            </p:sp>
          </mc:Choice>
          <mc:Fallback/>
        </mc:AlternateContent>
      </p:grpSp>
      <p:sp>
        <p:nvSpPr>
          <p:cNvPr id="174" name="Rectangle 10"/>
          <p:cNvSpPr/>
          <p:nvPr/>
        </p:nvSpPr>
        <p:spPr>
          <a:xfrm>
            <a:off x="813960" y="15451560"/>
            <a:ext cx="28803600" cy="96876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664f9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05920" rIns="205920" tIns="54720" bIns="5148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Quattrocento"/>
                <a:ea typeface="Arial"/>
              </a:rPr>
              <a:t>Experimental Setup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20702160" y="13844160"/>
            <a:ext cx="3200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  <a:buNone/>
            </a:pPr>
            <a:r>
              <a:rPr b="0" i="1" lang="en-US" sz="2600" spc="-1" strike="noStrike">
                <a:solidFill>
                  <a:srgbClr val="000000"/>
                </a:solidFill>
                <a:latin typeface="Arial"/>
                <a:ea typeface="Noto Sans CJK SC"/>
              </a:rPr>
              <a:t>DWBA calculations for 2.8 MeV state</a:t>
            </a:r>
            <a:endParaRPr b="0" i="1" lang="en-US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" descr=""/>
          <p:cNvPicPr/>
          <p:nvPr/>
        </p:nvPicPr>
        <p:blipFill>
          <a:blip r:embed="rId1"/>
          <a:stretch/>
        </p:blipFill>
        <p:spPr>
          <a:xfrm>
            <a:off x="23902560" y="12015360"/>
            <a:ext cx="5385960" cy="3657600"/>
          </a:xfrm>
          <a:prstGeom prst="rect">
            <a:avLst/>
          </a:prstGeom>
          <a:ln w="0">
            <a:noFill/>
          </a:ln>
        </p:spPr>
      </p:pic>
      <p:pic>
        <p:nvPicPr>
          <p:cNvPr id="177" name="" descr=""/>
          <p:cNvPicPr/>
          <p:nvPr/>
        </p:nvPicPr>
        <p:blipFill>
          <a:blip r:embed="rId2"/>
          <a:stretch/>
        </p:blipFill>
        <p:spPr>
          <a:xfrm>
            <a:off x="25159680" y="20473560"/>
            <a:ext cx="4229280" cy="3624120"/>
          </a:xfrm>
          <a:prstGeom prst="rect">
            <a:avLst/>
          </a:prstGeom>
          <a:ln w="0">
            <a:solidFill>
              <a:srgbClr val="3465a4"/>
            </a:solidFill>
          </a:ln>
        </p:spPr>
      </p:pic>
      <p:sp>
        <p:nvSpPr>
          <p:cNvPr id="178" name=""/>
          <p:cNvSpPr txBox="1"/>
          <p:nvPr/>
        </p:nvSpPr>
        <p:spPr>
          <a:xfrm>
            <a:off x="13615560" y="23619600"/>
            <a:ext cx="10972800" cy="96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4800" spc="-1" strike="noStrike">
                <a:solidFill>
                  <a:srgbClr val="000000"/>
                </a:solidFill>
                <a:latin typeface="Quanttrando"/>
                <a:hlinkClick r:id="rId3"/>
              </a:rPr>
              <a:t>MUGAST@LISE</a:t>
            </a:r>
            <a:r>
              <a:rPr b="0" lang="en-US" sz="4800" spc="-1" strike="noStrike">
                <a:solidFill>
                  <a:srgbClr val="000000"/>
                </a:solidFill>
                <a:latin typeface="Quanttrando"/>
              </a:rPr>
              <a:t> Setup </a:t>
            </a:r>
            <a:r>
              <a:rPr b="0" lang="en-US" sz="4800" spc="-1" strike="noStrike">
                <a:solidFill>
                  <a:srgbClr val="000000"/>
                </a:solidFill>
                <a:latin typeface="Quanttrando"/>
              </a:rPr>
              <a:t>LISE2023</a:t>
            </a:r>
            <a:endParaRPr b="0" lang="en-US" sz="4800" spc="-1" strike="noStrike">
              <a:solidFill>
                <a:srgbClr val="000000"/>
              </a:solidFill>
              <a:latin typeface="Quanttrando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15901560" y="28825200"/>
            <a:ext cx="3886200" cy="1935360"/>
          </a:xfrm>
          <a:prstGeom prst="rect">
            <a:avLst/>
          </a:prstGeom>
          <a:solidFill>
            <a:srgbClr val="ffffff">
              <a:alpha val="54000"/>
            </a:srgbClr>
          </a:solidFill>
          <a:ln w="0">
            <a:solidFill>
              <a:srgbClr val="000000"/>
            </a:solidFill>
            <a:prstDash val="sysDot"/>
          </a:ln>
        </p:spPr>
        <p:txBody>
          <a:bodyPr lIns="90000" rIns="90000" tIns="45000" bIns="45000" anchor="t">
            <a:noAutofit/>
          </a:bodyPr>
          <a:p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For (d,p) reaction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5 trapezoidal DSSDs 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(GRIT)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@ 110</a:t>
            </a:r>
            <a:r>
              <a:rPr b="0" lang="en-US" sz="2600" spc="-1" strike="noStrike" baseline="33000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-170</a:t>
            </a:r>
            <a:r>
              <a:rPr b="0" lang="en-US" sz="2600" spc="-1" strike="noStrike" baseline="33000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, 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60% acceptance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15901560" y="27258840"/>
            <a:ext cx="3886200" cy="156636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/>
            </a:solidFill>
            <a:prstDash val="sysDot"/>
          </a:ln>
        </p:spPr>
        <p:txBody>
          <a:bodyPr lIns="90000" rIns="90000" tIns="45000" bIns="45000" anchor="t">
            <a:noAutofit/>
          </a:bodyPr>
          <a:p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For (d,t) 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&amp;(p,d) 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reaction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4 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MUST2 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telesco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pe 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@ 5</a:t>
            </a:r>
            <a:r>
              <a:rPr b="0" lang="en-US" sz="2600" spc="-1" strike="noStrike" baseline="33000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 – 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40</a:t>
            </a:r>
            <a:r>
              <a:rPr b="0" lang="en-US" sz="2600" spc="-1" strike="noStrike" baseline="33000">
                <a:solidFill>
                  <a:srgbClr val="000000"/>
                </a:solidFill>
                <a:latin typeface="Arial"/>
              </a:rPr>
              <a:t>o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80% 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accepta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nce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2871360" y="26417160"/>
            <a:ext cx="5486400" cy="1935360"/>
          </a:xfrm>
          <a:prstGeom prst="rect">
            <a:avLst/>
          </a:prstGeom>
          <a:gradFill rotWithShape="0">
            <a:gsLst>
              <a:gs pos="0">
                <a:srgbClr val="ffffff">
                  <a:alpha val="0"/>
                </a:srgbClr>
              </a:gs>
              <a:gs pos="50000">
                <a:srgbClr val="ffffff"/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CATS1 &amp;2 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Secondary beam E=10-50 MeV 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For reconstructed beam position on target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ToF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19787760" y="27085320"/>
            <a:ext cx="9829800" cy="5504040"/>
          </a:xfrm>
          <a:prstGeom prst="rect">
            <a:avLst/>
          </a:prstGeom>
          <a:noFill/>
          <a:ln w="0">
            <a:solidFill>
              <a:srgbClr val="000000"/>
            </a:solidFill>
            <a:prstDash val="sysDot"/>
          </a:ln>
        </p:spPr>
        <p:txBody>
          <a:bodyPr lIns="90000" rIns="90000" tIns="45000" bIns="45000" anchor="t">
            <a:noAutofit/>
          </a:bodyPr>
          <a:p>
            <a:pPr marL="216000" indent="-216000" algn="just">
              <a:buClr>
                <a:srgbClr val="000000"/>
              </a:buClr>
              <a:buSzPct val="45000"/>
              <a:buFont typeface="Wingdings" charset="2"/>
              <a:buChar char="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Pair of Drift Chambers (DC) for XY position measurement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algn="just">
              <a:buClr>
                <a:srgbClr val="000000"/>
              </a:buClr>
              <a:buSzPct val="45000"/>
              <a:buFont typeface="Wingdings" charset="2"/>
              <a:buChar char="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10 tilted foils ionizing chambers coupled (IC) for 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Arial"/>
              </a:rPr>
              <a:t>Δ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Arial"/>
              </a:rPr>
              <a:t>E energy loss and the PID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algn="just">
              <a:buClr>
                <a:srgbClr val="000000"/>
              </a:buClr>
              <a:buSzPct val="45000"/>
              <a:buFont typeface="Wingdings" charset="2"/>
              <a:buChar char="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Arial"/>
              </a:rPr>
              <a:t>5 Plastic Scintillators for Energy and clean up the reaction residue.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algn="just">
              <a:buClr>
                <a:srgbClr val="000000"/>
              </a:buClr>
              <a:buSzPct val="45000"/>
              <a:buFont typeface="Wingdings" charset="2"/>
              <a:buChar char="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Arial"/>
              </a:rPr>
              <a:t>1 Exogam Clover (HpGe) for tagging the isomeric decays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3" name="" descr=""/>
          <p:cNvPicPr/>
          <p:nvPr/>
        </p:nvPicPr>
        <p:blipFill>
          <a:blip r:embed="rId4"/>
          <a:stretch/>
        </p:blipFill>
        <p:spPr>
          <a:xfrm>
            <a:off x="20473560" y="367200"/>
            <a:ext cx="9830160" cy="6390360"/>
          </a:xfrm>
          <a:prstGeom prst="rect">
            <a:avLst/>
          </a:prstGeom>
          <a:ln w="0">
            <a:noFill/>
          </a:ln>
        </p:spPr>
      </p:pic>
      <p:pic>
        <p:nvPicPr>
          <p:cNvPr id="184" name="" descr=""/>
          <p:cNvPicPr/>
          <p:nvPr/>
        </p:nvPicPr>
        <p:blipFill>
          <a:blip r:embed="rId5"/>
          <a:stretch/>
        </p:blipFill>
        <p:spPr>
          <a:xfrm>
            <a:off x="21132000" y="24131160"/>
            <a:ext cx="9144000" cy="5845320"/>
          </a:xfrm>
          <a:prstGeom prst="rect">
            <a:avLst/>
          </a:prstGeom>
          <a:ln w="0">
            <a:noFill/>
          </a:ln>
        </p:spPr>
      </p:pic>
      <p:pic>
        <p:nvPicPr>
          <p:cNvPr id="185" name="" descr=""/>
          <p:cNvPicPr/>
          <p:nvPr/>
        </p:nvPicPr>
        <p:blipFill>
          <a:blip r:embed="rId6"/>
          <a:stretch/>
        </p:blipFill>
        <p:spPr>
          <a:xfrm>
            <a:off x="21117600" y="7214760"/>
            <a:ext cx="8499960" cy="5029200"/>
          </a:xfrm>
          <a:prstGeom prst="rect">
            <a:avLst/>
          </a:prstGeom>
          <a:ln w="0">
            <a:noFill/>
          </a:ln>
        </p:spPr>
      </p:pic>
      <p:pic>
        <p:nvPicPr>
          <p:cNvPr id="186" name="" descr=""/>
          <p:cNvPicPr/>
          <p:nvPr/>
        </p:nvPicPr>
        <p:blipFill>
          <a:blip r:embed="rId7"/>
          <a:srcRect l="0" t="8202" r="0" b="0"/>
          <a:stretch/>
        </p:blipFill>
        <p:spPr>
          <a:xfrm>
            <a:off x="21387960" y="14301360"/>
            <a:ext cx="8229600" cy="5851440"/>
          </a:xfrm>
          <a:prstGeom prst="rect">
            <a:avLst/>
          </a:prstGeom>
          <a:ln w="0">
            <a:noFill/>
          </a:ln>
        </p:spPr>
      </p:pic>
      <p:grpSp>
        <p:nvGrpSpPr>
          <p:cNvPr id="187" name=""/>
          <p:cNvGrpSpPr/>
          <p:nvPr/>
        </p:nvGrpSpPr>
        <p:grpSpPr>
          <a:xfrm>
            <a:off x="4471560" y="23902920"/>
            <a:ext cx="21219840" cy="9600840"/>
            <a:chOff x="4471560" y="23902920"/>
            <a:chExt cx="21219840" cy="9600840"/>
          </a:xfrm>
        </p:grpSpPr>
        <p:pic>
          <p:nvPicPr>
            <p:cNvPr id="188" name="" descr=""/>
            <p:cNvPicPr/>
            <p:nvPr/>
          </p:nvPicPr>
          <p:blipFill>
            <a:blip r:embed="rId8"/>
            <a:srcRect l="0" t="11353" r="20777" b="18184"/>
            <a:stretch/>
          </p:blipFill>
          <p:spPr>
            <a:xfrm>
              <a:off x="6798960" y="23902920"/>
              <a:ext cx="18892440" cy="960084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89" name=""/>
          <p:cNvSpPr txBox="1"/>
          <p:nvPr/>
        </p:nvSpPr>
        <p:spPr>
          <a:xfrm>
            <a:off x="-8330040" y="9038880"/>
            <a:ext cx="62525880" cy="2976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3600" spc="-1" strike="noStrike">
                <a:latin typeface="Arial"/>
              </a:rPr>
              <a:t>Motivation :</a:t>
            </a:r>
            <a:endParaRPr b="0" lang="en-US" sz="3600" spc="-1" strike="noStrike">
              <a:latin typeface="Arial"/>
            </a:endParaRPr>
          </a:p>
          <a:p>
            <a:r>
              <a:rPr b="0" lang="en-US" sz="3600" spc="-1" strike="noStrike">
                <a:latin typeface="Arial"/>
              </a:rPr>
              <a:t>The motivation is to investigate the diffuseness of the neutron Fermi surface at the neutron number N=40 with 68Ni(p,d)67Ni reaction and study N=50 gap with 68Ni(d,p)69Ni reaction.</a:t>
            </a:r>
            <a:endParaRPr b="0" lang="en-US" sz="3600" spc="-1" strike="noStrike">
              <a:latin typeface="Arial"/>
            </a:endParaRPr>
          </a:p>
          <a:p>
            <a:r>
              <a:rPr b="0" lang="en-US" sz="3600" spc="-1" strike="noStrike">
                <a:latin typeface="Arial"/>
              </a:rPr>
              <a:t>1) The spacing between the g9/2 and d5/2 neutron orbitals at N=40, which can give insight into the evolution of the N=50 shell gap in the neutron-rich 78Ni nucleus. </a:t>
            </a:r>
            <a:endParaRPr b="0" lang="en-US" sz="3600" spc="-1" strike="noStrike">
              <a:latin typeface="Arial"/>
            </a:endParaRPr>
          </a:p>
          <a:p>
            <a:r>
              <a:rPr b="0" lang="en-US" sz="3600" spc="-1" strike="noStrike">
                <a:latin typeface="Arial"/>
              </a:rPr>
              <a:t>2) The spin-orbit splitting of the 2p, 1f and 1g neutron orbitals in 68Ni, which can be compared to other Nickel isotopes. This could help explain some anomalies seen in previous studies.</a:t>
            </a:r>
            <a:endParaRPr b="0" lang="en-US" sz="3600" spc="-1" strike="noStrike">
              <a:latin typeface="Arial"/>
            </a:endParaRPr>
          </a:p>
          <a:p>
            <a:r>
              <a:rPr b="0" lang="en-US" sz="3600" spc="-1" strike="noStrike">
                <a:latin typeface="Arial"/>
              </a:rPr>
              <a:t>3) The occupancy of the neutron orbitals in 68Ni, especially the fp shells but also the possible partial occupancy of the g9/2 orbital.</a:t>
            </a:r>
            <a:endParaRPr b="0" lang="en-US" sz="3600" spc="-1" strike="noStrike">
              <a:latin typeface="Arial"/>
            </a:endParaRPr>
          </a:p>
          <a:p>
            <a:endParaRPr b="0" lang="en-US" sz="1800" spc="-1" strike="noStrike">
              <a:latin typeface="Arial"/>
            </a:endParaRPr>
          </a:p>
          <a:p>
            <a:r>
              <a:rPr b="0" lang="en-US" sz="3600" spc="-1" strike="noStrike">
                <a:latin typeface="Arial"/>
              </a:rPr>
              <a:t>In the experiment we used the 68Ni(d,p)69Ni and 68Ni(d,t)67Ni reactions in inverse kinematics at 18 MeV/u and the 68Ni(p,d)67Ni reaction at 40 MeV/u. We detected ejectiles and recoils with MUGAST detectors and gamma rays with EXOGAM2. The setup also includes a new Zero Degree Detection system.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>
            <a:off x="5150880" y="20149560"/>
            <a:ext cx="2679840" cy="0"/>
          </a:xfrm>
          <a:prstGeom prst="line">
            <a:avLst/>
          </a:prstGeom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"/>
          <p:cNvSpPr/>
          <p:nvPr/>
        </p:nvSpPr>
        <p:spPr>
          <a:xfrm>
            <a:off x="5151240" y="14075640"/>
            <a:ext cx="2679480" cy="0"/>
          </a:xfrm>
          <a:prstGeom prst="line">
            <a:avLst/>
          </a:prstGeom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"/>
          <p:cNvSpPr/>
          <p:nvPr/>
        </p:nvSpPr>
        <p:spPr>
          <a:xfrm>
            <a:off x="5020200" y="17669880"/>
            <a:ext cx="2770560" cy="0"/>
          </a:xfrm>
          <a:prstGeom prst="line">
            <a:avLst/>
          </a:prstGeom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3" name=""/>
          <p:cNvSpPr/>
          <p:nvPr/>
        </p:nvSpPr>
        <p:spPr>
          <a:xfrm>
            <a:off x="4965120" y="16555320"/>
            <a:ext cx="2880720" cy="0"/>
          </a:xfrm>
          <a:prstGeom prst="line">
            <a:avLst/>
          </a:prstGeom>
          <a:ln w="7632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4" name=""/>
          <p:cNvSpPr txBox="1"/>
          <p:nvPr/>
        </p:nvSpPr>
        <p:spPr>
          <a:xfrm>
            <a:off x="7830720" y="19913760"/>
            <a:ext cx="107172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0.0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7830720" y="17470080"/>
            <a:ext cx="107172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697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7830720" y="16284600"/>
            <a:ext cx="1605960" cy="1114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1007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7830720" y="13783680"/>
            <a:ext cx="1377360" cy="1114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171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0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4078800" y="19857600"/>
            <a:ext cx="107208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>
              <a:buNone/>
            </a:pPr>
            <a:r>
              <a:rPr b="0" lang="en-US" sz="3600" spc="-1" strike="noStrike">
                <a:latin typeface="Arial"/>
              </a:rPr>
              <a:t>1/2</a:t>
            </a:r>
            <a:r>
              <a:rPr b="0" lang="en-US" sz="3600" spc="-1" strike="noStrike" baseline="33000">
                <a:latin typeface="Arial"/>
              </a:rPr>
              <a:t>-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3931920" y="17327160"/>
            <a:ext cx="104328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5/2</a:t>
            </a:r>
            <a:r>
              <a:rPr b="0" lang="en-US" sz="3600" spc="-1" strike="noStrike" baseline="33000">
                <a:solidFill>
                  <a:srgbClr val="000000"/>
                </a:solidFill>
                <a:latin typeface="Arial"/>
              </a:rPr>
              <a:t>-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3099960" y="16063200"/>
            <a:ext cx="1886400" cy="162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13.3 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Arial"/>
              </a:rPr>
              <a:t>μ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Arial"/>
              </a:rPr>
              <a:t>s 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9/2</a:t>
            </a:r>
            <a:r>
              <a:rPr b="0" lang="en-US" sz="3600" spc="-1" strike="noStrike" baseline="33000">
                <a:solidFill>
                  <a:srgbClr val="000000"/>
                </a:solidFill>
                <a:latin typeface="Arial"/>
              </a:rPr>
              <a:t>+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"/>
          <p:cNvSpPr/>
          <p:nvPr/>
        </p:nvSpPr>
        <p:spPr>
          <a:xfrm rot="55200">
            <a:off x="6276240" y="17668080"/>
            <a:ext cx="1534320" cy="2469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5400" y="0"/>
                </a:moveTo>
                <a:lnTo>
                  <a:pt x="5400" y="16200"/>
                </a:lnTo>
                <a:lnTo>
                  <a:pt x="0" y="16200"/>
                </a:lnTo>
                <a:lnTo>
                  <a:pt x="10800" y="21600"/>
                </a:lnTo>
                <a:lnTo>
                  <a:pt x="21600" y="16200"/>
                </a:lnTo>
                <a:lnTo>
                  <a:pt x="16200" y="16200"/>
                </a:lnTo>
                <a:lnTo>
                  <a:pt x="16200" y="0"/>
                </a:lnTo>
                <a:close/>
              </a:path>
            </a:pathLst>
          </a:custGeom>
          <a:solidFill>
            <a:srgbClr val="d0d0d0"/>
          </a:solidFill>
          <a:ln w="0">
            <a:solidFill>
              <a:srgbClr val="e8e8e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buNone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697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6236280" y="16553160"/>
            <a:ext cx="1581840" cy="1107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4489" y="0"/>
                </a:moveTo>
                <a:lnTo>
                  <a:pt x="4489" y="12758"/>
                </a:lnTo>
                <a:lnTo>
                  <a:pt x="0" y="12758"/>
                </a:lnTo>
                <a:lnTo>
                  <a:pt x="10800" y="21600"/>
                </a:lnTo>
                <a:lnTo>
                  <a:pt x="21600" y="12758"/>
                </a:lnTo>
                <a:lnTo>
                  <a:pt x="17111" y="12758"/>
                </a:lnTo>
                <a:lnTo>
                  <a:pt x="17111" y="0"/>
                </a:lnTo>
                <a:close/>
              </a:path>
            </a:pathLst>
          </a:custGeom>
          <a:solidFill>
            <a:srgbClr val="d0d0d0"/>
          </a:solidFill>
          <a:ln w="0">
            <a:solidFill>
              <a:srgbClr val="e8e8e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buNone/>
            </a:pPr>
            <a:r>
              <a:rPr b="0" lang="en-US" sz="2600" spc="-1" strike="noStrike">
                <a:latin typeface="Arial"/>
              </a:rPr>
              <a:t>313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3950280" y="13739760"/>
            <a:ext cx="1214640" cy="1114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3/2</a:t>
            </a:r>
            <a:r>
              <a:rPr b="0" lang="en-US" sz="3600" spc="-1" strike="noStrike" baseline="33000">
                <a:solidFill>
                  <a:srgbClr val="000000"/>
                </a:solidFill>
                <a:latin typeface="Arial"/>
              </a:rPr>
              <a:t>-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 rot="16200000">
            <a:off x="2700000" y="16461720"/>
            <a:ext cx="6030000" cy="129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1600" y="4855"/>
                </a:moveTo>
                <a:lnTo>
                  <a:pt x="3997" y="4855"/>
                </a:lnTo>
                <a:lnTo>
                  <a:pt x="3997" y="0"/>
                </a:lnTo>
                <a:lnTo>
                  <a:pt x="0" y="10800"/>
                </a:lnTo>
                <a:lnTo>
                  <a:pt x="3997" y="21600"/>
                </a:lnTo>
                <a:lnTo>
                  <a:pt x="3997" y="16745"/>
                </a:lnTo>
                <a:lnTo>
                  <a:pt x="21600" y="16745"/>
                </a:lnTo>
                <a:close/>
              </a:path>
            </a:pathLst>
          </a:custGeom>
          <a:solidFill>
            <a:srgbClr val="d0d0d0"/>
          </a:solidFill>
          <a:ln w="0">
            <a:solidFill>
              <a:srgbClr val="e8e8e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buNone/>
            </a:pPr>
            <a:r>
              <a:rPr b="0" lang="en-US" sz="2600" spc="-1" strike="noStrike">
                <a:latin typeface="Arial"/>
              </a:rPr>
              <a:t>1710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-3690720" y="4242960"/>
            <a:ext cx="29193480" cy="308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I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n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n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e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u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tr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o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n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r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e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m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o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v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al </a:t>
            </a:r>
            <a:r>
              <a:rPr b="0" lang="en-US" sz="3600" spc="-1" strike="noStrike" baseline="33000">
                <a:solidFill>
                  <a:srgbClr val="000000"/>
                </a:solidFill>
                <a:latin typeface="Quattrocento Sans"/>
                <a:ea typeface="ＭＳ Ｐゴシック"/>
              </a:rPr>
              <a:t>68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N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i(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d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,t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)</a:t>
            </a:r>
            <a:r>
              <a:rPr b="0" lang="en-US" sz="3600" spc="-1" strike="noStrike" baseline="33000">
                <a:solidFill>
                  <a:srgbClr val="000000"/>
                </a:solidFill>
                <a:latin typeface="Quattrocento Sans"/>
                <a:ea typeface="ＭＳ Ｐゴシック"/>
              </a:rPr>
              <a:t>6</a:t>
            </a:r>
            <a:r>
              <a:rPr b="0" lang="en-US" sz="3600" spc="-1" strike="noStrike" baseline="33000">
                <a:solidFill>
                  <a:srgbClr val="000000"/>
                </a:solidFill>
                <a:latin typeface="Quattrocento Sans"/>
                <a:ea typeface="ＭＳ Ｐゴシック"/>
              </a:rPr>
              <a:t>7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N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i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a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n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d </a:t>
            </a:r>
            <a:r>
              <a:rPr b="0" lang="en-US" sz="3600" spc="-1" strike="noStrike" baseline="33000">
                <a:solidFill>
                  <a:srgbClr val="000000"/>
                </a:solidFill>
                <a:latin typeface="Quattrocento Sans"/>
                <a:ea typeface="ＭＳ Ｐゴシック"/>
              </a:rPr>
              <a:t>68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N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i(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p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,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d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)</a:t>
            </a:r>
            <a:r>
              <a:rPr b="0" lang="en-US" sz="3600" spc="-1" strike="noStrike" baseline="33000">
                <a:solidFill>
                  <a:srgbClr val="000000"/>
                </a:solidFill>
                <a:latin typeface="Quattrocento Sans"/>
                <a:ea typeface="ＭＳ Ｐゴシック"/>
              </a:rPr>
              <a:t>6</a:t>
            </a:r>
            <a:r>
              <a:rPr b="0" lang="en-US" sz="3600" spc="-1" strike="noStrike" baseline="33000">
                <a:solidFill>
                  <a:srgbClr val="000000"/>
                </a:solidFill>
                <a:latin typeface="Quattrocento Sans"/>
                <a:ea typeface="ＭＳ Ｐゴシック"/>
              </a:rPr>
              <a:t>7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N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i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r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e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a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c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ti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o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n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s,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w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e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ai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m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e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d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t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o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m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e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a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s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u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r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e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t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h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e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o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c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c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u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p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a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n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c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y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o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f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t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h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e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n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e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u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tr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o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n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o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r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b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it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al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s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i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n </a:t>
            </a:r>
            <a:r>
              <a:rPr b="0" lang="en-US" sz="3600" spc="-1" strike="noStrike" baseline="33000">
                <a:solidFill>
                  <a:srgbClr val="000000"/>
                </a:solidFill>
                <a:latin typeface="Quattrocento Sans"/>
                <a:ea typeface="ＭＳ Ｐゴシック"/>
              </a:rPr>
              <a:t>68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N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i, </a:t>
            </a:r>
            <a:endParaRPr b="0" lang="en-US" sz="3600" spc="-1" strike="noStrike">
              <a:latin typeface="Arial"/>
            </a:endParaRPr>
          </a:p>
          <a:p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e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s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p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e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ci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al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ly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t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h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e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f-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p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s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h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e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ll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s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b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u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t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al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s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o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t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h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e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p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o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s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si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b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l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e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p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a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rt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ia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l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o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c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c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u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p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a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n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c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y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o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f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t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h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e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1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g</a:t>
            </a:r>
            <a:r>
              <a:rPr b="0" lang="en-US" sz="3600" spc="-1" strike="noStrike" baseline="-8000">
                <a:solidFill>
                  <a:srgbClr val="000000"/>
                </a:solidFill>
                <a:latin typeface="Quattrocento Sans"/>
                <a:ea typeface="ＭＳ Ｐゴシック"/>
              </a:rPr>
              <a:t>9/</a:t>
            </a:r>
            <a:r>
              <a:rPr b="0" lang="en-US" sz="3600" spc="-1" strike="noStrike" baseline="-8000">
                <a:solidFill>
                  <a:srgbClr val="000000"/>
                </a:solidFill>
                <a:latin typeface="Quattrocento Sans"/>
                <a:ea typeface="ＭＳ Ｐゴシック"/>
              </a:rPr>
              <a:t>2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o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r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b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it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al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u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si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n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g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t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h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e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p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r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o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m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p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t-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d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e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la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y </a:t>
            </a:r>
            <a:r>
              <a:rPr b="0" lang="en-US" sz="3600" spc="-1" strike="noStrike">
                <a:solidFill>
                  <a:srgbClr val="000000"/>
                </a:solidFill>
                <a:latin typeface="DejaVu Sans"/>
                <a:ea typeface="DejaVu Sans"/>
              </a:rPr>
              <a:t>γ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DejaVu Sans"/>
              </a:rPr>
              <a:t>-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DejaVu Sans"/>
              </a:rPr>
              <a:t>r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DejaVu Sans"/>
              </a:rPr>
              <a:t>a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DejaVu Sans"/>
              </a:rPr>
              <a:t>y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DejaVu Sans"/>
              </a:rPr>
              <a:t>s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DejaVu Sans"/>
              </a:rPr>
              <a:t>p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DejaVu Sans"/>
              </a:rPr>
              <a:t>e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DejaVu Sans"/>
              </a:rPr>
              <a:t>c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DejaVu Sans"/>
              </a:rPr>
              <a:t>tr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DejaVu Sans"/>
              </a:rPr>
              <a:t>o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DejaVu Sans"/>
              </a:rPr>
              <a:t>s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DejaVu Sans"/>
              </a:rPr>
              <a:t>c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DejaVu Sans"/>
              </a:rPr>
              <a:t>o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DejaVu Sans"/>
              </a:rPr>
              <a:t>p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DejaVu Sans"/>
              </a:rPr>
              <a:t>y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. </a:t>
            </a:r>
            <a:endParaRPr b="0" lang="en-US" sz="3600" spc="-1" strike="noStrike">
              <a:latin typeface="Arial"/>
            </a:endParaRPr>
          </a:p>
          <a:p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T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h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e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c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r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o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s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s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s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e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c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ti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o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n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s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d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ir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e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c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tl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y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p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o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p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u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la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t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e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d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h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ol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e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s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t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a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t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e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i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n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6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7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N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i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m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e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a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s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u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r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e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d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u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si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n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g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t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h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e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k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n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o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w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n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fi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r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s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t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f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o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u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r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s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t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a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t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e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s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fr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o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m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R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e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f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[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3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].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-4849920" y="-7188840"/>
            <a:ext cx="22808880" cy="4116600"/>
          </a:xfrm>
          <a:prstGeom prst="rect">
            <a:avLst/>
          </a:prstGeom>
          <a:solidFill>
            <a:srgbClr val="729fc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 algn="just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"/>
            </a:pP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In </a:t>
            </a:r>
            <a:r>
              <a:rPr b="0" lang="en-US" sz="3600" spc="-1" strike="noStrike" baseline="33000">
                <a:solidFill>
                  <a:srgbClr val="000000"/>
                </a:solidFill>
                <a:latin typeface="Quattrocento Sans"/>
                <a:ea typeface="ＭＳ Ｐゴシック"/>
              </a:rPr>
              <a:t>68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Ni(d,p)</a:t>
            </a:r>
            <a:r>
              <a:rPr b="0" lang="en-US" sz="3600" spc="-1" strike="noStrike" baseline="33000">
                <a:solidFill>
                  <a:srgbClr val="000000"/>
                </a:solidFill>
                <a:latin typeface="Quattrocento Sans"/>
                <a:ea typeface="ＭＳ Ｐゴシック"/>
              </a:rPr>
              <a:t>69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Ni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reaction with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determining the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2d</a:t>
            </a:r>
            <a:r>
              <a:rPr b="0" lang="en-US" sz="3600" spc="-1" strike="noStrike" baseline="-8000">
                <a:solidFill>
                  <a:srgbClr val="000000"/>
                </a:solidFill>
                <a:latin typeface="Quattrocento Sans"/>
                <a:ea typeface="ＭＳ Ｐゴシック"/>
              </a:rPr>
              <a:t>5/2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 strength, t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he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spacing between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the g</a:t>
            </a:r>
            <a:r>
              <a:rPr b="0" lang="en-US" sz="3600" spc="-1" strike="noStrike" baseline="-8000">
                <a:solidFill>
                  <a:srgbClr val="000000"/>
                </a:solidFill>
                <a:latin typeface="Quattrocento Sans"/>
                <a:ea typeface="ＭＳ Ｐゴシック"/>
              </a:rPr>
              <a:t>9/2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and d</a:t>
            </a:r>
            <a:r>
              <a:rPr b="0" lang="en-US" sz="3600" spc="-1" strike="noStrike" baseline="-8000">
                <a:solidFill>
                  <a:srgbClr val="000000"/>
                </a:solidFill>
                <a:latin typeface="Quattrocento Sans"/>
                <a:ea typeface="ＭＳ Ｐゴシック"/>
              </a:rPr>
              <a:t>5/2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 </a:t>
            </a:r>
            <a:endParaRPr b="0" lang="en-US" sz="36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216000" indent="-216000" algn="just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"/>
            </a:pP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neutron orbitals at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N=40 is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investigated. </a:t>
            </a:r>
            <a:endParaRPr b="0" lang="en-US" sz="36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216000" indent="-216000" algn="just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"/>
            </a:pP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The reaction was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studied before and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2d</a:t>
            </a:r>
            <a:r>
              <a:rPr b="0" lang="en-US" sz="3600" spc="-1" strike="noStrike" baseline="-8000">
                <a:solidFill>
                  <a:srgbClr val="000000"/>
                </a:solidFill>
                <a:latin typeface="Quattrocento Sans"/>
                <a:ea typeface="ＭＳ Ｐゴシック"/>
              </a:rPr>
              <a:t>5/2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 is measured at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2.5 MeV [2]. </a:t>
            </a:r>
            <a:endParaRPr b="0" lang="en-US" sz="36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216000" indent="-216000" algn="just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"/>
            </a:pP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The state is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suggested to be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doublet at 2.1 and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2.8 MeV. </a:t>
            </a:r>
            <a:endParaRPr b="0" lang="en-US" sz="36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216000" indent="-216000" algn="just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"/>
            </a:pP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The aim is to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determine the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excitation energies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and confirm the </a:t>
            </a:r>
            <a:r>
              <a:rPr b="0" lang="en-US" sz="3600" spc="-1" strike="noStrike">
                <a:solidFill>
                  <a:srgbClr val="000000"/>
                </a:solidFill>
                <a:latin typeface="utkal"/>
                <a:ea typeface="utkal"/>
              </a:rPr>
              <a:t>Δ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utkal"/>
              </a:rPr>
              <a:t>L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utkal"/>
              </a:rPr>
              <a:t>of 2.8 MeV state, </a:t>
            </a:r>
            <a:r>
              <a:rPr b="0" lang="en-US" sz="3600" spc="-1" strike="noStrike">
                <a:solidFill>
                  <a:srgbClr val="000000"/>
                </a:solidFill>
                <a:latin typeface="Quattrocento Sans"/>
                <a:ea typeface="utkal"/>
              </a:rPr>
              <a:t>Figure 2.</a:t>
            </a:r>
            <a:endParaRPr b="0" lang="en-US" sz="3600" spc="-1" strike="noStrike">
              <a:solidFill>
                <a:srgbClr val="000000"/>
              </a:solidFill>
              <a:latin typeface="Arial"/>
              <a:ea typeface="Noto Sans CJK SC"/>
            </a:endParaRPr>
          </a:p>
        </p:txBody>
      </p:sp>
      <p:grpSp>
        <p:nvGrpSpPr>
          <p:cNvPr id="207" name=""/>
          <p:cNvGrpSpPr/>
          <p:nvPr/>
        </p:nvGrpSpPr>
        <p:grpSpPr>
          <a:xfrm>
            <a:off x="11627640" y="13612680"/>
            <a:ext cx="5874120" cy="8003880"/>
            <a:chOff x="11627640" y="13612680"/>
            <a:chExt cx="5874120" cy="8003880"/>
          </a:xfrm>
        </p:grpSpPr>
        <p:sp>
          <p:nvSpPr>
            <p:cNvPr id="208" name=""/>
            <p:cNvSpPr/>
            <p:nvPr/>
          </p:nvSpPr>
          <p:spPr>
            <a:xfrm>
              <a:off x="12014280" y="21576240"/>
              <a:ext cx="5487120" cy="720"/>
            </a:xfrm>
            <a:prstGeom prst="line">
              <a:avLst/>
            </a:prstGeom>
            <a:ln w="381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9" name=""/>
            <p:cNvSpPr/>
            <p:nvPr/>
          </p:nvSpPr>
          <p:spPr>
            <a:xfrm>
              <a:off x="12014640" y="14215680"/>
              <a:ext cx="5486400" cy="0"/>
            </a:xfrm>
            <a:prstGeom prst="line">
              <a:avLst/>
            </a:prstGeom>
            <a:ln w="5724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0" name=""/>
            <p:cNvSpPr/>
            <p:nvPr/>
          </p:nvSpPr>
          <p:spPr>
            <a:xfrm>
              <a:off x="12014280" y="20799360"/>
              <a:ext cx="5487120" cy="720"/>
            </a:xfrm>
            <a:prstGeom prst="line">
              <a:avLst/>
            </a:prstGeom>
            <a:ln w="5724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1" name=""/>
            <p:cNvSpPr/>
            <p:nvPr/>
          </p:nvSpPr>
          <p:spPr>
            <a:xfrm>
              <a:off x="12014280" y="19153440"/>
              <a:ext cx="5487120" cy="720"/>
            </a:xfrm>
            <a:prstGeom prst="line">
              <a:avLst/>
            </a:prstGeom>
            <a:ln w="381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2" name=""/>
            <p:cNvSpPr/>
            <p:nvPr/>
          </p:nvSpPr>
          <p:spPr>
            <a:xfrm>
              <a:off x="12014280" y="16273080"/>
              <a:ext cx="5487120" cy="720"/>
            </a:xfrm>
            <a:prstGeom prst="line">
              <a:avLst/>
            </a:prstGeom>
            <a:ln w="381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3" name=""/>
            <p:cNvSpPr/>
            <p:nvPr/>
          </p:nvSpPr>
          <p:spPr>
            <a:xfrm>
              <a:off x="12014280" y="15477480"/>
              <a:ext cx="5487120" cy="720"/>
            </a:xfrm>
            <a:prstGeom prst="line">
              <a:avLst/>
            </a:prstGeom>
            <a:ln w="381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4" name=""/>
            <p:cNvSpPr/>
            <p:nvPr/>
          </p:nvSpPr>
          <p:spPr>
            <a:xfrm>
              <a:off x="12014280" y="14627160"/>
              <a:ext cx="5487120" cy="720"/>
            </a:xfrm>
            <a:prstGeom prst="line">
              <a:avLst/>
            </a:prstGeom>
            <a:ln w="381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5" name=""/>
            <p:cNvSpPr txBox="1"/>
            <p:nvPr/>
          </p:nvSpPr>
          <p:spPr>
            <a:xfrm>
              <a:off x="16429320" y="21073680"/>
              <a:ext cx="1071720" cy="54288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r">
                <a:buNone/>
              </a:pPr>
              <a:r>
                <a:rPr b="0" lang="en-US" sz="3200" spc="-1" strike="noStrike">
                  <a:solidFill>
                    <a:srgbClr val="000000"/>
                  </a:solidFill>
                  <a:latin typeface="Arial"/>
                </a:rPr>
                <a:t>0.0</a:t>
              </a:r>
              <a:endParaRPr b="0" lang="en-US" sz="3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6" name=""/>
            <p:cNvSpPr txBox="1"/>
            <p:nvPr/>
          </p:nvSpPr>
          <p:spPr>
            <a:xfrm>
              <a:off x="16429680" y="20257200"/>
              <a:ext cx="1071720" cy="54288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r">
                <a:buNone/>
              </a:pPr>
              <a:r>
                <a:rPr b="0" lang="en-US" sz="3200" spc="-1" strike="noStrike">
                  <a:solidFill>
                    <a:srgbClr val="000000"/>
                  </a:solidFill>
                  <a:latin typeface="Arial"/>
                </a:rPr>
                <a:t>321</a:t>
              </a:r>
              <a:endParaRPr b="0" lang="en-US" sz="3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7" name=""/>
            <p:cNvSpPr txBox="1"/>
            <p:nvPr/>
          </p:nvSpPr>
          <p:spPr>
            <a:xfrm>
              <a:off x="16429680" y="18611280"/>
              <a:ext cx="1071720" cy="54288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r">
                <a:buNone/>
              </a:pPr>
              <a:r>
                <a:rPr b="0" lang="en-US" sz="3200" spc="-1" strike="noStrike">
                  <a:solidFill>
                    <a:srgbClr val="000000"/>
                  </a:solidFill>
                  <a:latin typeface="Arial"/>
                </a:rPr>
                <a:t>915</a:t>
              </a:r>
              <a:endParaRPr b="0" lang="en-US" sz="3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8" name=""/>
            <p:cNvSpPr txBox="1"/>
            <p:nvPr/>
          </p:nvSpPr>
          <p:spPr>
            <a:xfrm>
              <a:off x="16129440" y="14215680"/>
              <a:ext cx="1371960" cy="54288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r">
                <a:buNone/>
              </a:pPr>
              <a:r>
                <a:rPr b="0" lang="en-US" sz="3200" spc="-1" strike="noStrike">
                  <a:solidFill>
                    <a:srgbClr val="000000"/>
                  </a:solidFill>
                  <a:latin typeface="Arial"/>
                </a:rPr>
                <a:t>25</a:t>
              </a:r>
              <a:r>
                <a:rPr b="0" lang="en-US" sz="3200" spc="-1" strike="noStrike">
                  <a:solidFill>
                    <a:srgbClr val="000000"/>
                  </a:solidFill>
                  <a:latin typeface="Arial"/>
                </a:rPr>
                <a:t>52</a:t>
              </a:r>
              <a:endParaRPr b="0" lang="en-US" sz="3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9" name=""/>
            <p:cNvSpPr txBox="1"/>
            <p:nvPr/>
          </p:nvSpPr>
          <p:spPr>
            <a:xfrm>
              <a:off x="16129440" y="14985000"/>
              <a:ext cx="1371960" cy="60228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r">
                <a:buNone/>
              </a:pPr>
              <a:r>
                <a:rPr b="0" lang="en-US" sz="3200" spc="-1" strike="noStrike">
                  <a:solidFill>
                    <a:srgbClr val="000000"/>
                  </a:solidFill>
                  <a:latin typeface="Arial"/>
                </a:rPr>
                <a:t>2241</a:t>
              </a:r>
              <a:endParaRPr b="0" lang="en-US" sz="3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0" name=""/>
            <p:cNvSpPr txBox="1"/>
            <p:nvPr/>
          </p:nvSpPr>
          <p:spPr>
            <a:xfrm>
              <a:off x="16129800" y="15815880"/>
              <a:ext cx="1371960" cy="60228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r">
                <a:buNone/>
              </a:pPr>
              <a:r>
                <a:rPr b="0" lang="en-US" sz="3200" spc="-1" strike="noStrike">
                  <a:solidFill>
                    <a:srgbClr val="000000"/>
                  </a:solidFill>
                  <a:latin typeface="Arial"/>
                </a:rPr>
                <a:t>195</a:t>
              </a:r>
              <a:r>
                <a:rPr b="0" lang="en-US" sz="3200" spc="-1" strike="noStrike">
                  <a:solidFill>
                    <a:srgbClr val="000000"/>
                  </a:solidFill>
                  <a:latin typeface="Arial"/>
                </a:rPr>
                <a:t>9</a:t>
              </a:r>
              <a:endParaRPr b="0" lang="en-US" sz="3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1" name=""/>
            <p:cNvSpPr txBox="1"/>
            <p:nvPr/>
          </p:nvSpPr>
          <p:spPr>
            <a:xfrm>
              <a:off x="16129440" y="13758480"/>
              <a:ext cx="1371960" cy="60228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r">
                <a:buNone/>
              </a:pPr>
              <a:r>
                <a:rPr b="0" lang="en-US" sz="3200" spc="-1" strike="noStrike">
                  <a:solidFill>
                    <a:srgbClr val="000000"/>
                  </a:solidFill>
                  <a:latin typeface="Arial"/>
                </a:rPr>
                <a:t>27</a:t>
              </a:r>
              <a:r>
                <a:rPr b="0" lang="en-US" sz="3200" spc="-1" strike="noStrike">
                  <a:solidFill>
                    <a:srgbClr val="000000"/>
                  </a:solidFill>
                  <a:latin typeface="Arial"/>
                </a:rPr>
                <a:t>00</a:t>
              </a:r>
              <a:endParaRPr b="0" lang="en-US" sz="3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2" name=""/>
            <p:cNvSpPr txBox="1"/>
            <p:nvPr/>
          </p:nvSpPr>
          <p:spPr>
            <a:xfrm>
              <a:off x="11786040" y="21073680"/>
              <a:ext cx="1072080" cy="54288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r>
                <a:rPr b="0" lang="en-US" sz="3200" spc="-1" strike="noStrike">
                  <a:latin typeface="Arial"/>
                </a:rPr>
                <a:t>9/2</a:t>
              </a:r>
              <a:r>
                <a:rPr b="0" lang="en-US" sz="3200" spc="-1" strike="noStrike" baseline="33000">
                  <a:latin typeface="Arial"/>
                </a:rPr>
                <a:t>+</a:t>
              </a:r>
              <a:endParaRPr b="0" lang="en-US" sz="3200" spc="-1" strike="noStrike">
                <a:latin typeface="Arial"/>
              </a:endParaRPr>
            </a:p>
          </p:txBody>
        </p:sp>
        <p:sp>
          <p:nvSpPr>
            <p:cNvPr id="223" name=""/>
            <p:cNvSpPr txBox="1"/>
            <p:nvPr/>
          </p:nvSpPr>
          <p:spPr>
            <a:xfrm>
              <a:off x="11856960" y="20387880"/>
              <a:ext cx="1072080" cy="54288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r>
                <a:rPr b="0" lang="en-US" sz="3200" spc="-1" strike="noStrike">
                  <a:latin typeface="Arial"/>
                </a:rPr>
                <a:t>1/2</a:t>
              </a:r>
              <a:r>
                <a:rPr b="0" lang="en-US" sz="3200" spc="-1" strike="noStrike" baseline="33000">
                  <a:latin typeface="Arial"/>
                </a:rPr>
                <a:t>-</a:t>
              </a:r>
              <a:endParaRPr b="0" lang="en-US" sz="3200" spc="-1" strike="noStrike">
                <a:latin typeface="Arial"/>
              </a:endParaRPr>
            </a:p>
          </p:txBody>
        </p:sp>
        <p:sp>
          <p:nvSpPr>
            <p:cNvPr id="224" name=""/>
            <p:cNvSpPr txBox="1"/>
            <p:nvPr/>
          </p:nvSpPr>
          <p:spPr>
            <a:xfrm>
              <a:off x="11856960" y="18559080"/>
              <a:ext cx="1072080" cy="54288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r>
                <a:rPr b="0" lang="en-US" sz="3200" spc="-1" strike="noStrike">
                  <a:latin typeface="Arial"/>
                </a:rPr>
                <a:t>5/2</a:t>
              </a:r>
              <a:r>
                <a:rPr b="0" lang="en-US" sz="3200" spc="-1" strike="noStrike" baseline="33000">
                  <a:latin typeface="Arial"/>
                </a:rPr>
                <a:t>-</a:t>
              </a:r>
              <a:endParaRPr b="0" lang="en-US" sz="3200" spc="-1" strike="noStrike">
                <a:latin typeface="Arial"/>
              </a:endParaRPr>
            </a:p>
          </p:txBody>
        </p:sp>
        <p:sp>
          <p:nvSpPr>
            <p:cNvPr id="225" name=""/>
            <p:cNvSpPr txBox="1"/>
            <p:nvPr/>
          </p:nvSpPr>
          <p:spPr>
            <a:xfrm>
              <a:off x="11856960" y="15815880"/>
              <a:ext cx="1072080" cy="54288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r>
                <a:rPr b="0" lang="en-US" sz="3200" spc="-1" strike="noStrike">
                  <a:latin typeface="Arial"/>
                </a:rPr>
                <a:t>9/2</a:t>
              </a:r>
              <a:r>
                <a:rPr b="0" lang="en-US" sz="3200" spc="-1" strike="noStrike" baseline="33000">
                  <a:latin typeface="Arial"/>
                </a:rPr>
                <a:t>-</a:t>
              </a:r>
              <a:endParaRPr b="0" lang="en-US" sz="3200" spc="-1" strike="noStrike">
                <a:latin typeface="Arial"/>
              </a:endParaRPr>
            </a:p>
          </p:txBody>
        </p:sp>
        <p:sp>
          <p:nvSpPr>
            <p:cNvPr id="226" name=""/>
            <p:cNvSpPr txBox="1"/>
            <p:nvPr/>
          </p:nvSpPr>
          <p:spPr>
            <a:xfrm>
              <a:off x="11786040" y="15044400"/>
              <a:ext cx="1371960" cy="54288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r>
                <a:rPr b="0" lang="en-US" sz="3200" spc="-1" strike="noStrike">
                  <a:latin typeface="Arial"/>
                </a:rPr>
                <a:t>13/2</a:t>
              </a:r>
              <a:r>
                <a:rPr b="0" lang="en-US" sz="3200" spc="-1" strike="noStrike" baseline="33000">
                  <a:latin typeface="Arial"/>
                </a:rPr>
                <a:t>+</a:t>
              </a:r>
              <a:endParaRPr b="0" lang="en-US" sz="3200" spc="-1" strike="noStrike">
                <a:latin typeface="Arial"/>
              </a:endParaRPr>
            </a:p>
          </p:txBody>
        </p:sp>
        <p:sp>
          <p:nvSpPr>
            <p:cNvPr id="227" name=""/>
            <p:cNvSpPr txBox="1"/>
            <p:nvPr/>
          </p:nvSpPr>
          <p:spPr>
            <a:xfrm>
              <a:off x="11786040" y="14215680"/>
              <a:ext cx="1371960" cy="603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r>
                <a:rPr b="0" lang="en-US" sz="3200" spc="-1" strike="noStrike">
                  <a:latin typeface="Arial"/>
                </a:rPr>
                <a:t>13/2</a:t>
              </a:r>
              <a:r>
                <a:rPr b="0" lang="en-US" sz="3200" spc="-1" strike="noStrike" baseline="33000">
                  <a:latin typeface="Arial"/>
                </a:rPr>
                <a:t>-</a:t>
              </a:r>
              <a:endParaRPr b="0" lang="en-US" sz="3200" spc="-1" strike="noStrike">
                <a:latin typeface="Arial"/>
              </a:endParaRPr>
            </a:p>
          </p:txBody>
        </p:sp>
        <p:sp>
          <p:nvSpPr>
            <p:cNvPr id="228" name=""/>
            <p:cNvSpPr txBox="1"/>
            <p:nvPr/>
          </p:nvSpPr>
          <p:spPr>
            <a:xfrm>
              <a:off x="11786040" y="13612680"/>
              <a:ext cx="1371960" cy="603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r>
                <a:rPr b="0" lang="en-US" sz="3200" spc="-1" strike="noStrike">
                  <a:latin typeface="Arial"/>
                </a:rPr>
                <a:t>17/2</a:t>
              </a:r>
              <a:r>
                <a:rPr b="0" lang="en-US" sz="3200" spc="-1" strike="noStrike" baseline="33000">
                  <a:latin typeface="Arial"/>
                </a:rPr>
                <a:t>-</a:t>
              </a:r>
              <a:endParaRPr b="0" lang="en-US" sz="3200" spc="-1" strike="noStrike">
                <a:latin typeface="Arial"/>
              </a:endParaRPr>
            </a:p>
          </p:txBody>
        </p:sp>
        <p:sp>
          <p:nvSpPr>
            <p:cNvPr id="229" name=""/>
            <p:cNvSpPr/>
            <p:nvPr/>
          </p:nvSpPr>
          <p:spPr>
            <a:xfrm rot="16200000">
              <a:off x="15557760" y="19542600"/>
              <a:ext cx="1600200" cy="9144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21600" y="5400"/>
                  </a:moveTo>
                  <a:lnTo>
                    <a:pt x="5400" y="5400"/>
                  </a:lnTo>
                  <a:lnTo>
                    <a:pt x="5400" y="0"/>
                  </a:lnTo>
                  <a:lnTo>
                    <a:pt x="0" y="10800"/>
                  </a:lnTo>
                  <a:lnTo>
                    <a:pt x="5400" y="21600"/>
                  </a:lnTo>
                  <a:lnTo>
                    <a:pt x="5400" y="16200"/>
                  </a:lnTo>
                  <a:lnTo>
                    <a:pt x="21600" y="16200"/>
                  </a:lnTo>
                  <a:close/>
                </a:path>
              </a:pathLst>
            </a:custGeom>
            <a:solidFill>
              <a:srgbClr val="d0d0d0"/>
            </a:solidFill>
            <a:ln w="0">
              <a:solidFill>
                <a:srgbClr val="d0d0d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buNone/>
              </a:pPr>
              <a:r>
                <a:rPr b="0" lang="en-US" sz="3200" spc="-1" strike="noStrike">
                  <a:latin typeface="Arial"/>
                </a:rPr>
                <a:t>594</a:t>
              </a:r>
              <a:endParaRPr b="0" lang="en-US" sz="3200" spc="-1" strike="noStrike">
                <a:latin typeface="Arial"/>
              </a:endParaRPr>
            </a:p>
          </p:txBody>
        </p:sp>
        <p:sp>
          <p:nvSpPr>
            <p:cNvPr id="230" name=""/>
            <p:cNvSpPr/>
            <p:nvPr/>
          </p:nvSpPr>
          <p:spPr>
            <a:xfrm rot="16200000">
              <a:off x="14918040" y="17256960"/>
              <a:ext cx="2879640" cy="9144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21600" y="5400"/>
                  </a:moveTo>
                  <a:lnTo>
                    <a:pt x="5400" y="5400"/>
                  </a:lnTo>
                  <a:lnTo>
                    <a:pt x="5400" y="0"/>
                  </a:lnTo>
                  <a:lnTo>
                    <a:pt x="0" y="10800"/>
                  </a:lnTo>
                  <a:lnTo>
                    <a:pt x="5400" y="21600"/>
                  </a:lnTo>
                  <a:lnTo>
                    <a:pt x="5400" y="16200"/>
                  </a:lnTo>
                  <a:lnTo>
                    <a:pt x="21600" y="16200"/>
                  </a:lnTo>
                  <a:close/>
                </a:path>
              </a:pathLst>
            </a:custGeom>
            <a:solidFill>
              <a:srgbClr val="d0d0d0"/>
            </a:solidFill>
            <a:ln w="0">
              <a:solidFill>
                <a:srgbClr val="d0d0d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buNone/>
              </a:pPr>
              <a:r>
                <a:rPr b="0" lang="en-US" sz="3200" spc="-1" strike="noStrike">
                  <a:latin typeface="Arial"/>
                </a:rPr>
                <a:t>1044</a:t>
              </a:r>
              <a:endParaRPr b="0" lang="en-US" sz="3200" spc="-1" strike="noStrike">
                <a:latin typeface="Arial"/>
              </a:endParaRPr>
            </a:p>
          </p:txBody>
        </p:sp>
        <p:sp>
          <p:nvSpPr>
            <p:cNvPr id="231" name=""/>
            <p:cNvSpPr/>
            <p:nvPr/>
          </p:nvSpPr>
          <p:spPr>
            <a:xfrm rot="16200000">
              <a:off x="12563280" y="18467280"/>
              <a:ext cx="5303160" cy="9144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21600" y="6673"/>
                  </a:moveTo>
                  <a:lnTo>
                    <a:pt x="2344" y="6673"/>
                  </a:lnTo>
                  <a:lnTo>
                    <a:pt x="2344" y="0"/>
                  </a:lnTo>
                  <a:lnTo>
                    <a:pt x="0" y="10800"/>
                  </a:lnTo>
                  <a:lnTo>
                    <a:pt x="2344" y="21600"/>
                  </a:lnTo>
                  <a:lnTo>
                    <a:pt x="2344" y="14927"/>
                  </a:lnTo>
                  <a:lnTo>
                    <a:pt x="21600" y="14927"/>
                  </a:lnTo>
                  <a:close/>
                </a:path>
              </a:pathLst>
            </a:custGeom>
            <a:solidFill>
              <a:srgbClr val="d0d0d0"/>
            </a:solidFill>
            <a:ln w="0">
              <a:solidFill>
                <a:srgbClr val="d0d0d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buNone/>
              </a:pPr>
              <a:r>
                <a:rPr b="0" lang="en-US" sz="3200" spc="-1" strike="noStrike">
                  <a:latin typeface="Arial"/>
                </a:rPr>
                <a:t>1959</a:t>
              </a:r>
              <a:endParaRPr b="0" lang="en-US" sz="3200" spc="-1" strike="noStrike">
                <a:latin typeface="Arial"/>
              </a:endParaRPr>
            </a:p>
          </p:txBody>
        </p:sp>
        <p:sp>
          <p:nvSpPr>
            <p:cNvPr id="232" name=""/>
            <p:cNvSpPr/>
            <p:nvPr/>
          </p:nvSpPr>
          <p:spPr>
            <a:xfrm rot="16200000">
              <a:off x="11442960" y="18216000"/>
              <a:ext cx="5943600" cy="6858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21600" y="4964"/>
                  </a:moveTo>
                  <a:lnTo>
                    <a:pt x="1476" y="4964"/>
                  </a:lnTo>
                  <a:lnTo>
                    <a:pt x="1476" y="0"/>
                  </a:lnTo>
                  <a:lnTo>
                    <a:pt x="0" y="10800"/>
                  </a:lnTo>
                  <a:lnTo>
                    <a:pt x="1476" y="21600"/>
                  </a:lnTo>
                  <a:lnTo>
                    <a:pt x="1476" y="16636"/>
                  </a:lnTo>
                  <a:lnTo>
                    <a:pt x="21600" y="16636"/>
                  </a:lnTo>
                  <a:close/>
                </a:path>
              </a:pathLst>
            </a:custGeom>
            <a:solidFill>
              <a:srgbClr val="d0d0d0"/>
            </a:solidFill>
            <a:ln w="0">
              <a:solidFill>
                <a:srgbClr val="d0d0d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buNone/>
              </a:pPr>
              <a:r>
                <a:rPr b="0" lang="en-US" sz="3200" spc="-1" strike="noStrike">
                  <a:latin typeface="Arial"/>
                </a:rPr>
                <a:t>2241</a:t>
              </a:r>
              <a:endParaRPr b="0" lang="en-US" sz="3200" spc="-1" strike="noStrike">
                <a:latin typeface="Arial"/>
              </a:endParaRPr>
            </a:p>
          </p:txBody>
        </p:sp>
        <p:sp>
          <p:nvSpPr>
            <p:cNvPr id="233" name=""/>
            <p:cNvSpPr/>
            <p:nvPr/>
          </p:nvSpPr>
          <p:spPr>
            <a:xfrm rot="16200000">
              <a:off x="14012640" y="14732280"/>
              <a:ext cx="804600" cy="6858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21600" y="5400"/>
                  </a:moveTo>
                  <a:lnTo>
                    <a:pt x="5400" y="5400"/>
                  </a:lnTo>
                  <a:lnTo>
                    <a:pt x="5400" y="0"/>
                  </a:lnTo>
                  <a:lnTo>
                    <a:pt x="0" y="10800"/>
                  </a:lnTo>
                  <a:lnTo>
                    <a:pt x="5400" y="21600"/>
                  </a:lnTo>
                  <a:lnTo>
                    <a:pt x="5400" y="16200"/>
                  </a:lnTo>
                  <a:lnTo>
                    <a:pt x="21600" y="16200"/>
                  </a:lnTo>
                  <a:close/>
                </a:path>
              </a:pathLst>
            </a:custGeom>
            <a:solidFill>
              <a:srgbClr val="d0d0d0"/>
            </a:solidFill>
            <a:ln w="0">
              <a:solidFill>
                <a:srgbClr val="d0d0d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buNone/>
              </a:pPr>
              <a:r>
                <a:rPr b="0" lang="en-US" sz="2400" spc="-1" strike="noStrike">
                  <a:latin typeface="Arial"/>
                </a:rPr>
                <a:t>311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34" name=""/>
            <p:cNvSpPr/>
            <p:nvPr/>
          </p:nvSpPr>
          <p:spPr>
            <a:xfrm rot="16200000">
              <a:off x="14447880" y="15152760"/>
              <a:ext cx="1645920" cy="6858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21600" y="5400"/>
                  </a:moveTo>
                  <a:lnTo>
                    <a:pt x="5400" y="5400"/>
                  </a:lnTo>
                  <a:lnTo>
                    <a:pt x="5400" y="0"/>
                  </a:lnTo>
                  <a:lnTo>
                    <a:pt x="0" y="10800"/>
                  </a:lnTo>
                  <a:lnTo>
                    <a:pt x="5400" y="21600"/>
                  </a:lnTo>
                  <a:lnTo>
                    <a:pt x="5400" y="16200"/>
                  </a:lnTo>
                  <a:lnTo>
                    <a:pt x="21600" y="16200"/>
                  </a:lnTo>
                  <a:close/>
                </a:path>
              </a:pathLst>
            </a:custGeom>
            <a:solidFill>
              <a:srgbClr val="d0d0d0"/>
            </a:solidFill>
            <a:ln w="0">
              <a:solidFill>
                <a:srgbClr val="d0d0d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buNone/>
              </a:pPr>
              <a:r>
                <a:rPr b="0" lang="en-US" sz="3200" spc="-1" strike="noStrike">
                  <a:latin typeface="Arial"/>
                </a:rPr>
                <a:t>593</a:t>
              </a:r>
              <a:endParaRPr b="0" lang="en-US" sz="3200" spc="-1" strike="noStrike">
                <a:latin typeface="Arial"/>
              </a:endParaRPr>
            </a:p>
          </p:txBody>
        </p:sp>
        <p:sp>
          <p:nvSpPr>
            <p:cNvPr id="235" name=""/>
            <p:cNvSpPr/>
            <p:nvPr/>
          </p:nvSpPr>
          <p:spPr>
            <a:xfrm>
              <a:off x="13158000" y="14215680"/>
              <a:ext cx="914040" cy="4114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5902" y="0"/>
                  </a:moveTo>
                  <a:lnTo>
                    <a:pt x="5902" y="11272"/>
                  </a:lnTo>
                  <a:lnTo>
                    <a:pt x="0" y="11272"/>
                  </a:lnTo>
                  <a:lnTo>
                    <a:pt x="10800" y="21600"/>
                  </a:lnTo>
                  <a:lnTo>
                    <a:pt x="21600" y="11272"/>
                  </a:lnTo>
                  <a:lnTo>
                    <a:pt x="15698" y="11272"/>
                  </a:lnTo>
                  <a:lnTo>
                    <a:pt x="15698" y="0"/>
                  </a:lnTo>
                  <a:close/>
                </a:path>
              </a:pathLst>
            </a:custGeom>
            <a:solidFill>
              <a:srgbClr val="d0d0d0"/>
            </a:solidFill>
            <a:ln w="0">
              <a:solidFill>
                <a:srgbClr val="d0d0d0"/>
              </a:solidFill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6" name=""/>
            <p:cNvSpPr txBox="1"/>
            <p:nvPr/>
          </p:nvSpPr>
          <p:spPr>
            <a:xfrm>
              <a:off x="13158000" y="14215680"/>
              <a:ext cx="914040" cy="54288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r>
                <a:rPr b="0" lang="en-US" sz="3200" spc="-1" strike="noStrike">
                  <a:latin typeface="Arial"/>
                </a:rPr>
                <a:t>148</a:t>
              </a:r>
              <a:endParaRPr b="0" lang="en-US" sz="3200" spc="-1" strike="noStrike">
                <a:latin typeface="Arial"/>
              </a:endParaRPr>
            </a:p>
          </p:txBody>
        </p:sp>
        <p:sp>
          <p:nvSpPr>
            <p:cNvPr id="237" name=""/>
            <p:cNvSpPr txBox="1"/>
            <p:nvPr/>
          </p:nvSpPr>
          <p:spPr>
            <a:xfrm>
              <a:off x="12700440" y="20387880"/>
              <a:ext cx="1072080" cy="54288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r>
                <a:rPr b="0" i="1" lang="en-US" sz="3200" spc="-1" strike="noStrike">
                  <a:solidFill>
                    <a:srgbClr val="ff0000"/>
                  </a:solidFill>
                  <a:latin typeface="Arial"/>
                </a:rPr>
                <a:t>3.5 s</a:t>
              </a:r>
              <a:endParaRPr b="0" i="1" lang="en-US" sz="3200" spc="-1" strike="noStrike">
                <a:solidFill>
                  <a:srgbClr val="ff0000"/>
                </a:solidFill>
                <a:latin typeface="Arial"/>
              </a:endParaRPr>
            </a:p>
          </p:txBody>
        </p:sp>
        <p:sp>
          <p:nvSpPr>
            <p:cNvPr id="238" name=""/>
            <p:cNvSpPr txBox="1"/>
            <p:nvPr/>
          </p:nvSpPr>
          <p:spPr>
            <a:xfrm>
              <a:off x="12929040" y="13612680"/>
              <a:ext cx="2743200" cy="603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r>
                <a:rPr b="0" i="1" lang="en-US" sz="3200" spc="-1" strike="noStrike">
                  <a:solidFill>
                    <a:srgbClr val="ff0000"/>
                  </a:solidFill>
                  <a:latin typeface="Arial"/>
                </a:rPr>
                <a:t>0.43 </a:t>
              </a:r>
              <a:r>
                <a:rPr b="0" i="1" lang="en-US" sz="3200" spc="-1" strike="noStrike">
                  <a:solidFill>
                    <a:srgbClr val="ff0000"/>
                  </a:solidFill>
                  <a:latin typeface="Arial"/>
                  <a:ea typeface="Arial"/>
                </a:rPr>
                <a:t>μ</a:t>
              </a:r>
              <a:r>
                <a:rPr b="0" i="1" lang="en-US" sz="3200" spc="-1" strike="noStrike">
                  <a:solidFill>
                    <a:srgbClr val="ff0000"/>
                  </a:solidFill>
                  <a:latin typeface="Arial"/>
                </a:rPr>
                <a:t>s</a:t>
              </a:r>
              <a:endParaRPr b="0" i="1" lang="en-US" sz="3200" spc="-1" strike="noStrike">
                <a:solidFill>
                  <a:srgbClr val="ff0000"/>
                </a:solidFill>
                <a:latin typeface="Arial"/>
              </a:endParaRPr>
            </a:p>
          </p:txBody>
        </p:sp>
        <mc:AlternateContent>
          <mc:Choice xmlns:a14="http://schemas.microsoft.com/office/drawing/2010/main" Requires="a14">
            <p:sp>
              <p:nvSpPr>
                <p:cNvPr id="239" name=""/>
                <p:cNvSpPr txBox="1"/>
                <p:nvPr/>
              </p:nvSpPr>
              <p:spPr>
                <a:xfrm>
                  <a:off x="11627640" y="20661480"/>
                  <a:ext cx="72000" cy="169200"/>
                </a:xfrm>
                <a:prstGeom prst="rect">
                  <a:avLst/>
                </a:prstGeom>
              </p:spPr>
              <p:txBody>
                <a:bodyPr/>
                <a:p>
                  <a14:m>
                    <m:oMath xmlns:m="http://schemas.openxmlformats.org/officeDocument/2006/math"/>
                  </a14:m>
                </a:p>
              </p:txBody>
            </p:sp>
          </mc:Choice>
          <mc:Fallback/>
        </mc:AlternateContent>
      </p:grpSp>
      <p:sp>
        <p:nvSpPr>
          <p:cNvPr id="240" name=""/>
          <p:cNvSpPr txBox="1"/>
          <p:nvPr/>
        </p:nvSpPr>
        <p:spPr>
          <a:xfrm>
            <a:off x="356760" y="-3300480"/>
            <a:ext cx="33346080" cy="469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3600" spc="-1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1) 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The 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spaci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ng 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betw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een 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the 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g9/2 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and 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d5/2 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neutr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on 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orbita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ls at 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N=40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, 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which 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can 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give 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insig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ht 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into 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the 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evolu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tion 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of the 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N=50 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shell 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gap 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in the 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neutr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on-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rich 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78Ni 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nucle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us. 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3600" spc="-1" strike="noStrike">
                <a:solidFill>
                  <a:srgbClr val="000000"/>
                </a:solidFill>
                <a:highlight>
                  <a:srgbClr val="fe7f00"/>
                </a:highlight>
                <a:latin typeface="Arial"/>
              </a:rPr>
              <a:t>2) 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e7f00"/>
                </a:highlight>
                <a:latin typeface="Arial"/>
              </a:rPr>
              <a:t>The 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e7f00"/>
                </a:highlight>
                <a:latin typeface="Arial"/>
              </a:rPr>
              <a:t>spin-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e7f00"/>
                </a:highlight>
                <a:latin typeface="Arial"/>
              </a:rPr>
              <a:t>orbit 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e7f00"/>
                </a:highlight>
                <a:latin typeface="Arial"/>
              </a:rPr>
              <a:t>splitti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e7f00"/>
                </a:highlight>
                <a:latin typeface="Arial"/>
              </a:rPr>
              <a:t>ng of 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e7f00"/>
                </a:highlight>
                <a:latin typeface="Arial"/>
              </a:rPr>
              <a:t>the 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e7f00"/>
                </a:highlight>
                <a:latin typeface="Arial"/>
              </a:rPr>
              <a:t>2p, 1f 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e7f00"/>
                </a:highlight>
                <a:latin typeface="Arial"/>
              </a:rPr>
              <a:t>and 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e7f00"/>
                </a:highlight>
                <a:latin typeface="Arial"/>
              </a:rPr>
              <a:t>1g 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e7f00"/>
                </a:highlight>
                <a:latin typeface="Arial"/>
              </a:rPr>
              <a:t>neutr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e7f00"/>
                </a:highlight>
                <a:latin typeface="Arial"/>
              </a:rPr>
              <a:t>on 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e7f00"/>
                </a:highlight>
                <a:latin typeface="Arial"/>
              </a:rPr>
              <a:t>orbita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e7f00"/>
                </a:highlight>
                <a:latin typeface="Arial"/>
              </a:rPr>
              <a:t>ls in 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e7f00"/>
                </a:highlight>
                <a:latin typeface="Arial"/>
              </a:rPr>
              <a:t>68Ni, 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e7f00"/>
                </a:highlight>
                <a:latin typeface="Arial"/>
              </a:rPr>
              <a:t>which 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e7f00"/>
                </a:highlight>
                <a:latin typeface="Arial"/>
              </a:rPr>
              <a:t>can 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e7f00"/>
                </a:highlight>
                <a:latin typeface="Arial"/>
              </a:rPr>
              <a:t>be 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e7f00"/>
                </a:highlight>
                <a:latin typeface="Arial"/>
              </a:rPr>
              <a:t>comp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e7f00"/>
                </a:highlight>
                <a:latin typeface="Arial"/>
              </a:rPr>
              <a:t>ared 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e7f00"/>
                </a:highlight>
                <a:latin typeface="Arial"/>
              </a:rPr>
              <a:t>to 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e7f00"/>
                </a:highlight>
                <a:latin typeface="Arial"/>
              </a:rPr>
              <a:t>other 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e7f00"/>
                </a:highlight>
                <a:latin typeface="Arial"/>
              </a:rPr>
              <a:t>Nicke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e7f00"/>
                </a:highlight>
                <a:latin typeface="Arial"/>
              </a:rPr>
              <a:t>l 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e7f00"/>
                </a:highlight>
                <a:latin typeface="Arial"/>
              </a:rPr>
              <a:t>isoto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e7f00"/>
                </a:highlight>
                <a:latin typeface="Arial"/>
              </a:rPr>
              <a:t>pes.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3600" spc="-1" strike="noStrike">
                <a:solidFill>
                  <a:srgbClr val="000000"/>
                </a:solidFill>
                <a:highlight>
                  <a:srgbClr val="fe7f00"/>
                </a:highlight>
                <a:latin typeface="Arial"/>
              </a:rPr>
              <a:t>3) 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e7f00"/>
                </a:highlight>
                <a:latin typeface="Arial"/>
              </a:rPr>
              <a:t>The 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e7f00"/>
                </a:highlight>
                <a:latin typeface="Arial"/>
              </a:rPr>
              <a:t>occu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e7f00"/>
                </a:highlight>
                <a:latin typeface="Arial"/>
              </a:rPr>
              <a:t>panc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e7f00"/>
                </a:highlight>
                <a:latin typeface="Arial"/>
              </a:rPr>
              <a:t>y of 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e7f00"/>
                </a:highlight>
                <a:latin typeface="Arial"/>
              </a:rPr>
              <a:t>the 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e7f00"/>
                </a:highlight>
                <a:latin typeface="Arial"/>
              </a:rPr>
              <a:t>neutr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e7f00"/>
                </a:highlight>
                <a:latin typeface="Arial"/>
              </a:rPr>
              <a:t>on 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e7f00"/>
                </a:highlight>
                <a:latin typeface="Arial"/>
              </a:rPr>
              <a:t>orbita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e7f00"/>
                </a:highlight>
                <a:latin typeface="Arial"/>
              </a:rPr>
              <a:t>ls in 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e7f00"/>
                </a:highlight>
                <a:latin typeface="Arial"/>
              </a:rPr>
              <a:t>68Ni, 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e7f00"/>
                </a:highlight>
                <a:latin typeface="Arial"/>
              </a:rPr>
              <a:t>espe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e7f00"/>
                </a:highlight>
                <a:latin typeface="Arial"/>
              </a:rPr>
              <a:t>cially 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e7f00"/>
                </a:highlight>
                <a:latin typeface="Arial"/>
              </a:rPr>
              <a:t>the fp 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e7f00"/>
                </a:highlight>
                <a:latin typeface="Arial"/>
              </a:rPr>
              <a:t>shells 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e7f00"/>
                </a:highlight>
                <a:latin typeface="Arial"/>
              </a:rPr>
              <a:t>but 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e7f00"/>
                </a:highlight>
                <a:latin typeface="Arial"/>
              </a:rPr>
              <a:t>also 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e7f00"/>
                </a:highlight>
                <a:latin typeface="Arial"/>
              </a:rPr>
              <a:t>the 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e7f00"/>
                </a:highlight>
                <a:latin typeface="Arial"/>
              </a:rPr>
              <a:t>possi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e7f00"/>
                </a:highlight>
                <a:latin typeface="Arial"/>
              </a:rPr>
              <a:t>ble 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e7f00"/>
                </a:highlight>
                <a:latin typeface="Arial"/>
              </a:rPr>
              <a:t>partia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e7f00"/>
                </a:highlight>
                <a:latin typeface="Arial"/>
              </a:rPr>
              <a:t>l 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e7f00"/>
                </a:highlight>
                <a:latin typeface="Arial"/>
              </a:rPr>
              <a:t>occu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e7f00"/>
                </a:highlight>
                <a:latin typeface="Arial"/>
              </a:rPr>
              <a:t>panc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e7f00"/>
                </a:highlight>
                <a:latin typeface="Arial"/>
              </a:rPr>
              <a:t>y of 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e7f00"/>
                </a:highlight>
                <a:latin typeface="Arial"/>
              </a:rPr>
              <a:t>the 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e7f00"/>
                </a:highlight>
                <a:latin typeface="Arial"/>
              </a:rPr>
              <a:t>g9/2 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e7f00"/>
                </a:highlight>
                <a:latin typeface="Arial"/>
              </a:rPr>
              <a:t>orbita</a:t>
            </a:r>
            <a:r>
              <a:rPr b="0" lang="en-US" sz="3600" spc="-1" strike="noStrike">
                <a:solidFill>
                  <a:srgbClr val="000000"/>
                </a:solidFill>
                <a:highlight>
                  <a:srgbClr val="fe7f00"/>
                </a:highlight>
                <a:latin typeface="Arial"/>
              </a:rPr>
              <a:t>l.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1" name="" descr=""/>
          <p:cNvPicPr/>
          <p:nvPr/>
        </p:nvPicPr>
        <p:blipFill>
          <a:blip r:embed="rId9"/>
          <a:stretch/>
        </p:blipFill>
        <p:spPr>
          <a:xfrm>
            <a:off x="9160560" y="842760"/>
            <a:ext cx="9712800" cy="7743600"/>
          </a:xfrm>
          <a:prstGeom prst="rect">
            <a:avLst/>
          </a:prstGeom>
          <a:ln w="0">
            <a:noFill/>
          </a:ln>
        </p:spPr>
      </p:pic>
      <p:pic>
        <p:nvPicPr>
          <p:cNvPr id="242" name="" descr=""/>
          <p:cNvPicPr/>
          <p:nvPr/>
        </p:nvPicPr>
        <p:blipFill>
          <a:blip r:embed="rId10"/>
          <a:stretch/>
        </p:blipFill>
        <p:spPr>
          <a:xfrm>
            <a:off x="4338000" y="34418160"/>
            <a:ext cx="3562560" cy="5596560"/>
          </a:xfrm>
          <a:prstGeom prst="rect">
            <a:avLst/>
          </a:prstGeom>
          <a:ln w="0">
            <a:noFill/>
          </a:ln>
        </p:spPr>
      </p:pic>
      <p:pic>
        <p:nvPicPr>
          <p:cNvPr id="243" name="" descr=""/>
          <p:cNvPicPr/>
          <p:nvPr/>
        </p:nvPicPr>
        <p:blipFill>
          <a:blip r:embed="rId11"/>
          <a:stretch/>
        </p:blipFill>
        <p:spPr>
          <a:xfrm>
            <a:off x="12606120" y="36218880"/>
            <a:ext cx="4209840" cy="3914280"/>
          </a:xfrm>
          <a:prstGeom prst="rect">
            <a:avLst/>
          </a:prstGeom>
          <a:ln w="0">
            <a:noFill/>
          </a:ln>
        </p:spPr>
      </p:pic>
      <p:sp>
        <p:nvSpPr>
          <p:cNvPr id="244" name=""/>
          <p:cNvSpPr txBox="1"/>
          <p:nvPr/>
        </p:nvSpPr>
        <p:spPr>
          <a:xfrm>
            <a:off x="13158360" y="40624200"/>
            <a:ext cx="3886200" cy="1566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just">
              <a:buNone/>
            </a:pPr>
            <a:r>
              <a:rPr b="0" i="1" lang="en-US" sz="2600" spc="-1" strike="noStrike">
                <a:solidFill>
                  <a:srgbClr val="000000"/>
                </a:solidFill>
                <a:latin typeface="Arial"/>
              </a:rPr>
              <a:t>Figure 4 : Kinematics of 67Ni g.s. (solid) and 1.&amp; MeV e.s. shown for two different reaction [1]</a:t>
            </a:r>
            <a:endParaRPr b="0" i="1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4242960" y="40361760"/>
            <a:ext cx="3200400" cy="1815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  <a:buNone/>
            </a:pPr>
            <a:r>
              <a:rPr b="0" i="1" lang="en-US" sz="2600" spc="-1" strike="noStrike">
                <a:solidFill>
                  <a:srgbClr val="000000"/>
                </a:solidFill>
                <a:latin typeface="Arial"/>
                <a:ea typeface="Noto Sans CJK SC"/>
              </a:rPr>
              <a:t>Figure 3 : DWBA calculations for 2.8 MeV state with </a:t>
            </a:r>
            <a:r>
              <a:rPr b="0" i="1" lang="en-US" sz="2600" spc="-1" strike="noStrike">
                <a:solidFill>
                  <a:srgbClr val="000000"/>
                </a:solidFill>
                <a:latin typeface="utkal"/>
                <a:ea typeface="utkal"/>
              </a:rPr>
              <a:t>Δ</a:t>
            </a:r>
            <a:r>
              <a:rPr b="0" i="1" lang="en-US" sz="2600" spc="-1" strike="noStrike">
                <a:solidFill>
                  <a:srgbClr val="000000"/>
                </a:solidFill>
                <a:latin typeface="Quattrocento Sans"/>
                <a:ea typeface="utkal"/>
              </a:rPr>
              <a:t>L =2 and 4 [1].</a:t>
            </a:r>
            <a:endParaRPr b="0" i="1" lang="en-US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3382</TotalTime>
  <Application>LibreOffice/7.3.7.2$Linux_X86_64 LibreOffice_project/30$Build-2</Application>
  <AppVersion>15.0000</AppVersion>
  <Paragraphs>14</Paragraphs>
  <Company>Graphicsland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category>research posters template</cp:category>
  <dc:creator>Graphicsland/MakeSigns.com</dc:creator>
  <dc:description>This is a free template from MakeSigns.com to help you create the perfect scientific poster.</dc:description>
  <cp:keywords>scientific research template custom poster presentation symposium printing PowerPoint create design example sample download</cp:keywords>
  <dc:language>en-US</dc:language>
  <cp:lastModifiedBy/>
  <cp:lastPrinted>2000-08-03T00:31:24Z</cp:lastPrinted>
  <dcterms:modified xsi:type="dcterms:W3CDTF">2023-09-21T15:13:44Z</dcterms:modified>
  <cp:revision>154</cp:revision>
  <dc:subject>Free Poster Presentation Example</dc:subject>
  <dc:title>PowerPoint template for a scientific poster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Custom</vt:lpwstr>
  </property>
  <property fmtid="{D5CDD505-2E9C-101B-9397-08002B2CF9AE}" pid="4" name="Slides">
    <vt:i4>1</vt:i4>
  </property>
</Properties>
</file>